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Montserrat" charset="1" panose="00000500000000000000"/>
      <p:regular r:id="rId35"/>
    </p:embeddedFont>
    <p:embeddedFont>
      <p:font typeface="Poppins Bold" charset="1" panose="00000800000000000000"/>
      <p:regular r:id="rId36"/>
    </p:embeddedFont>
    <p:embeddedFont>
      <p:font typeface="Poppins" charset="1" panose="00000500000000000000"/>
      <p:regular r:id="rId37"/>
    </p:embeddedFont>
    <p:embeddedFont>
      <p:font typeface="Montserrat Bold" charset="1" panose="00000800000000000000"/>
      <p:regular r:id="rId38"/>
    </p:embeddedFont>
    <p:embeddedFont>
      <p:font typeface="Poppins Italics" charset="1" panose="000005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30.png" Type="http://schemas.openxmlformats.org/officeDocument/2006/relationships/image"/><Relationship Id="rId4"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jpe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097502" y="5590237"/>
            <a:ext cx="14099416" cy="1409941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20234" y="-1717598"/>
            <a:ext cx="3735531" cy="373553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747857" y="-643475"/>
            <a:ext cx="1286950" cy="128695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1929195" y="8389571"/>
            <a:ext cx="3735531" cy="373553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4" id="14"/>
          <p:cNvSpPr/>
          <p:nvPr/>
        </p:nvSpPr>
        <p:spPr>
          <a:xfrm flipH="false" flipV="false" rot="0">
            <a:off x="1391331" y="1274007"/>
            <a:ext cx="2620665" cy="1638956"/>
          </a:xfrm>
          <a:custGeom>
            <a:avLst/>
            <a:gdLst/>
            <a:ahLst/>
            <a:cxnLst/>
            <a:rect r="r" b="b" t="t" l="l"/>
            <a:pathLst>
              <a:path h="1638956" w="2620665">
                <a:moveTo>
                  <a:pt x="0" y="0"/>
                </a:moveTo>
                <a:lnTo>
                  <a:pt x="2620665" y="0"/>
                </a:lnTo>
                <a:lnTo>
                  <a:pt x="2620665" y="1638955"/>
                </a:lnTo>
                <a:lnTo>
                  <a:pt x="0" y="1638955"/>
                </a:lnTo>
                <a:lnTo>
                  <a:pt x="0" y="0"/>
                </a:lnTo>
                <a:close/>
              </a:path>
            </a:pathLst>
          </a:custGeom>
          <a:blipFill>
            <a:blip r:embed="rId2"/>
            <a:stretch>
              <a:fillRect l="0" t="0" r="0" b="0"/>
            </a:stretch>
          </a:blipFill>
        </p:spPr>
      </p:sp>
      <p:sp>
        <p:nvSpPr>
          <p:cNvPr name="TextBox 15" id="15"/>
          <p:cNvSpPr txBox="true"/>
          <p:nvPr/>
        </p:nvSpPr>
        <p:spPr>
          <a:xfrm rot="0">
            <a:off x="1391331" y="3298747"/>
            <a:ext cx="8015383" cy="3201849"/>
          </a:xfrm>
          <a:prstGeom prst="rect">
            <a:avLst/>
          </a:prstGeom>
        </p:spPr>
        <p:txBody>
          <a:bodyPr anchor="t" rtlCol="false" tIns="0" lIns="0" bIns="0" rIns="0">
            <a:spAutoFit/>
          </a:bodyPr>
          <a:lstStyle/>
          <a:p>
            <a:pPr algn="l">
              <a:lnSpc>
                <a:spcPts val="12819"/>
              </a:lnSpc>
              <a:spcBef>
                <a:spcPct val="0"/>
              </a:spcBef>
            </a:pPr>
            <a:r>
              <a:rPr lang="en-US" sz="9156">
                <a:solidFill>
                  <a:srgbClr val="051D40"/>
                </a:solidFill>
                <a:latin typeface="Montserrat"/>
                <a:ea typeface="Montserrat"/>
                <a:cs typeface="Montserrat"/>
                <a:sym typeface="Montserrat"/>
              </a:rPr>
              <a:t>Adventure Works</a:t>
            </a:r>
          </a:p>
        </p:txBody>
      </p:sp>
      <p:sp>
        <p:nvSpPr>
          <p:cNvPr name="TextBox 16" id="16"/>
          <p:cNvSpPr txBox="true"/>
          <p:nvPr/>
        </p:nvSpPr>
        <p:spPr>
          <a:xfrm rot="0">
            <a:off x="1391331" y="6631448"/>
            <a:ext cx="7366063" cy="1473106"/>
          </a:xfrm>
          <a:prstGeom prst="rect">
            <a:avLst/>
          </a:prstGeom>
        </p:spPr>
        <p:txBody>
          <a:bodyPr anchor="t" rtlCol="false" tIns="0" lIns="0" bIns="0" rIns="0">
            <a:spAutoFit/>
          </a:bodyPr>
          <a:lstStyle/>
          <a:p>
            <a:pPr algn="l">
              <a:lnSpc>
                <a:spcPts val="3855"/>
              </a:lnSpc>
              <a:spcBef>
                <a:spcPct val="0"/>
              </a:spcBef>
            </a:pPr>
            <a:r>
              <a:rPr lang="en-US" b="true" sz="2753" spc="-55">
                <a:solidFill>
                  <a:srgbClr val="00569E"/>
                </a:solidFill>
                <a:latin typeface="Poppins Bold"/>
                <a:ea typeface="Poppins Bold"/>
                <a:cs typeface="Poppins Bold"/>
                <a:sym typeface="Poppins Bold"/>
              </a:rPr>
              <a:t>By:</a:t>
            </a:r>
            <a:r>
              <a:rPr lang="en-US" sz="2753" spc="-55">
                <a:solidFill>
                  <a:srgbClr val="051D40"/>
                </a:solidFill>
                <a:latin typeface="Poppins"/>
                <a:ea typeface="Poppins"/>
                <a:cs typeface="Poppins"/>
                <a:sym typeface="Poppins"/>
              </a:rPr>
              <a:t> Rama Ehab</a:t>
            </a:r>
          </a:p>
          <a:p>
            <a:pPr algn="l">
              <a:lnSpc>
                <a:spcPts val="3855"/>
              </a:lnSpc>
              <a:spcBef>
                <a:spcPct val="0"/>
              </a:spcBef>
            </a:pPr>
            <a:r>
              <a:rPr lang="en-US" b="true" sz="2753" spc="-55">
                <a:solidFill>
                  <a:srgbClr val="00569E"/>
                </a:solidFill>
                <a:latin typeface="Poppins Bold"/>
                <a:ea typeface="Poppins Bold"/>
                <a:cs typeface="Poppins Bold"/>
                <a:sym typeface="Poppins Bold"/>
              </a:rPr>
              <a:t>Supervised By:</a:t>
            </a:r>
            <a:r>
              <a:rPr lang="en-US" sz="2753" spc="-55">
                <a:solidFill>
                  <a:srgbClr val="051D40"/>
                </a:solidFill>
                <a:latin typeface="Poppins"/>
                <a:ea typeface="Poppins"/>
                <a:cs typeface="Poppins"/>
                <a:sym typeface="Poppins"/>
              </a:rPr>
              <a:t> Eng. Ahmed Abdelhakim, Eng. Abubakr Makhyoun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4517814" y="-315404"/>
            <a:ext cx="3964281" cy="10917809"/>
            <a:chOff x="0" y="0"/>
            <a:chExt cx="1044090" cy="2875472"/>
          </a:xfrm>
        </p:grpSpPr>
        <p:sp>
          <p:nvSpPr>
            <p:cNvPr name="Freeform 3" id="3"/>
            <p:cNvSpPr/>
            <p:nvPr/>
          </p:nvSpPr>
          <p:spPr>
            <a:xfrm flipH="false" flipV="false" rot="0">
              <a:off x="0" y="0"/>
              <a:ext cx="1044090" cy="2875472"/>
            </a:xfrm>
            <a:custGeom>
              <a:avLst/>
              <a:gdLst/>
              <a:ahLst/>
              <a:cxnLst/>
              <a:rect r="r" b="b" t="t" l="l"/>
              <a:pathLst>
                <a:path h="2875472" w="1044090">
                  <a:moveTo>
                    <a:pt x="0" y="0"/>
                  </a:moveTo>
                  <a:lnTo>
                    <a:pt x="1044090" y="0"/>
                  </a:lnTo>
                  <a:lnTo>
                    <a:pt x="1044090" y="2875472"/>
                  </a:lnTo>
                  <a:lnTo>
                    <a:pt x="0" y="2875472"/>
                  </a:lnTo>
                  <a:close/>
                </a:path>
              </a:pathLst>
            </a:custGeom>
            <a:solidFill>
              <a:srgbClr val="145DA0"/>
            </a:solidFill>
            <a:ln cap="sq">
              <a:noFill/>
              <a:prstDash val="solid"/>
              <a:miter/>
            </a:ln>
          </p:spPr>
        </p:sp>
        <p:sp>
          <p:nvSpPr>
            <p:cNvPr name="TextBox 4" id="4"/>
            <p:cNvSpPr txBox="true"/>
            <p:nvPr/>
          </p:nvSpPr>
          <p:spPr>
            <a:xfrm>
              <a:off x="0" y="-38100"/>
              <a:ext cx="1044090" cy="291357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941233" y="1019741"/>
            <a:ext cx="6760246" cy="1252338"/>
          </a:xfrm>
          <a:prstGeom prst="rect">
            <a:avLst/>
          </a:prstGeom>
        </p:spPr>
        <p:txBody>
          <a:bodyPr anchor="t" rtlCol="false" tIns="0" lIns="0" bIns="0" rIns="0">
            <a:spAutoFit/>
          </a:bodyPr>
          <a:lstStyle/>
          <a:p>
            <a:pPr algn="l">
              <a:lnSpc>
                <a:spcPts val="10248"/>
              </a:lnSpc>
              <a:spcBef>
                <a:spcPct val="0"/>
              </a:spcBef>
            </a:pPr>
            <a:r>
              <a:rPr lang="en-US" b="true" sz="7320">
                <a:solidFill>
                  <a:srgbClr val="051D40"/>
                </a:solidFill>
                <a:latin typeface="Montserrat Bold"/>
                <a:ea typeface="Montserrat Bold"/>
                <a:cs typeface="Montserrat Bold"/>
                <a:sym typeface="Montserrat Bold"/>
              </a:rPr>
              <a:t>Overview</a:t>
            </a:r>
          </a:p>
        </p:txBody>
      </p:sp>
      <p:grpSp>
        <p:nvGrpSpPr>
          <p:cNvPr name="Group 6" id="6"/>
          <p:cNvGrpSpPr/>
          <p:nvPr/>
        </p:nvGrpSpPr>
        <p:grpSpPr>
          <a:xfrm rot="0">
            <a:off x="-1867766" y="-1614217"/>
            <a:ext cx="3735531" cy="373553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false" flipV="false" rot="5400000">
            <a:off x="2912435" y="3472452"/>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3663160" y="4269946"/>
            <a:ext cx="6265133" cy="574582"/>
          </a:xfrm>
          <a:prstGeom prst="rect">
            <a:avLst/>
          </a:prstGeom>
        </p:spPr>
        <p:txBody>
          <a:bodyPr anchor="t" rtlCol="false" tIns="0" lIns="0" bIns="0" rIns="0">
            <a:spAutoFit/>
          </a:bodyPr>
          <a:lstStyle/>
          <a:p>
            <a:pPr algn="l">
              <a:lnSpc>
                <a:spcPts val="4555"/>
              </a:lnSpc>
              <a:spcBef>
                <a:spcPct val="0"/>
              </a:spcBef>
            </a:pPr>
            <a:r>
              <a:rPr lang="en-US" sz="3253" spc="-65">
                <a:solidFill>
                  <a:srgbClr val="051D40"/>
                </a:solidFill>
                <a:latin typeface="Poppins"/>
                <a:ea typeface="Poppins"/>
                <a:cs typeface="Poppins"/>
                <a:sym typeface="Poppins"/>
              </a:rPr>
              <a:t>Project Requirements</a:t>
            </a:r>
          </a:p>
        </p:txBody>
      </p:sp>
      <p:sp>
        <p:nvSpPr>
          <p:cNvPr name="TextBox 11" id="11"/>
          <p:cNvSpPr txBox="true"/>
          <p:nvPr/>
        </p:nvSpPr>
        <p:spPr>
          <a:xfrm rot="0">
            <a:off x="3663160" y="5079762"/>
            <a:ext cx="7721359" cy="574675"/>
          </a:xfrm>
          <a:prstGeom prst="rect">
            <a:avLst/>
          </a:prstGeom>
        </p:spPr>
        <p:txBody>
          <a:bodyPr anchor="t" rtlCol="false" tIns="0" lIns="0" bIns="0" rIns="0">
            <a:spAutoFit/>
          </a:bodyPr>
          <a:lstStyle/>
          <a:p>
            <a:pPr algn="l">
              <a:lnSpc>
                <a:spcPts val="4549"/>
              </a:lnSpc>
              <a:spcBef>
                <a:spcPct val="0"/>
              </a:spcBef>
            </a:pPr>
            <a:r>
              <a:rPr lang="en-US" sz="3249" spc="-64">
                <a:solidFill>
                  <a:srgbClr val="051D40"/>
                </a:solidFill>
                <a:latin typeface="Poppins"/>
                <a:ea typeface="Poppins"/>
                <a:cs typeface="Poppins"/>
                <a:sym typeface="Poppins"/>
              </a:rPr>
              <a:t>Data Preparation &amp; Warehouse Design</a:t>
            </a:r>
          </a:p>
        </p:txBody>
      </p:sp>
      <p:sp>
        <p:nvSpPr>
          <p:cNvPr name="Freeform 12" id="12"/>
          <p:cNvSpPr/>
          <p:nvPr/>
        </p:nvSpPr>
        <p:spPr>
          <a:xfrm flipH="false" flipV="false" rot="5400000">
            <a:off x="2912435" y="6062764"/>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663160" y="5959235"/>
            <a:ext cx="5887512" cy="574675"/>
          </a:xfrm>
          <a:prstGeom prst="rect">
            <a:avLst/>
          </a:prstGeom>
        </p:spPr>
        <p:txBody>
          <a:bodyPr anchor="t" rtlCol="false" tIns="0" lIns="0" bIns="0" rIns="0">
            <a:spAutoFit/>
          </a:bodyPr>
          <a:lstStyle/>
          <a:p>
            <a:pPr algn="l">
              <a:lnSpc>
                <a:spcPts val="4549"/>
              </a:lnSpc>
              <a:spcBef>
                <a:spcPct val="0"/>
              </a:spcBef>
            </a:pPr>
            <a:r>
              <a:rPr lang="en-US" sz="3249" spc="-64">
                <a:solidFill>
                  <a:srgbClr val="051D40"/>
                </a:solidFill>
                <a:latin typeface="Poppins"/>
                <a:ea typeface="Poppins"/>
                <a:cs typeface="Poppins"/>
                <a:sym typeface="Poppins"/>
              </a:rPr>
              <a:t>ETL &amp; Data Integration (SSIS)</a:t>
            </a:r>
          </a:p>
        </p:txBody>
      </p:sp>
      <p:sp>
        <p:nvSpPr>
          <p:cNvPr name="Freeform 14" id="14"/>
          <p:cNvSpPr/>
          <p:nvPr/>
        </p:nvSpPr>
        <p:spPr>
          <a:xfrm flipH="false" flipV="false" rot="5400000">
            <a:off x="2912435" y="6953233"/>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3663160" y="6838710"/>
            <a:ext cx="4397771" cy="574675"/>
          </a:xfrm>
          <a:prstGeom prst="rect">
            <a:avLst/>
          </a:prstGeom>
        </p:spPr>
        <p:txBody>
          <a:bodyPr anchor="t" rtlCol="false" tIns="0" lIns="0" bIns="0" rIns="0">
            <a:spAutoFit/>
          </a:bodyPr>
          <a:lstStyle/>
          <a:p>
            <a:pPr algn="l">
              <a:lnSpc>
                <a:spcPts val="4549"/>
              </a:lnSpc>
              <a:spcBef>
                <a:spcPct val="0"/>
              </a:spcBef>
            </a:pPr>
            <a:r>
              <a:rPr lang="en-US" sz="3249" spc="-64">
                <a:solidFill>
                  <a:srgbClr val="051D40"/>
                </a:solidFill>
                <a:latin typeface="Poppins"/>
                <a:ea typeface="Poppins"/>
                <a:cs typeface="Poppins"/>
                <a:sym typeface="Poppins"/>
              </a:rPr>
              <a:t>Power BI Reporting</a:t>
            </a:r>
          </a:p>
        </p:txBody>
      </p:sp>
      <p:sp>
        <p:nvSpPr>
          <p:cNvPr name="Freeform 16" id="16"/>
          <p:cNvSpPr/>
          <p:nvPr/>
        </p:nvSpPr>
        <p:spPr>
          <a:xfrm flipH="false" flipV="false" rot="5400000">
            <a:off x="2912435" y="4384469"/>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3663160" y="3368969"/>
            <a:ext cx="6265133" cy="574582"/>
          </a:xfrm>
          <a:prstGeom prst="rect">
            <a:avLst/>
          </a:prstGeom>
        </p:spPr>
        <p:txBody>
          <a:bodyPr anchor="t" rtlCol="false" tIns="0" lIns="0" bIns="0" rIns="0">
            <a:spAutoFit/>
          </a:bodyPr>
          <a:lstStyle/>
          <a:p>
            <a:pPr algn="l">
              <a:lnSpc>
                <a:spcPts val="4555"/>
              </a:lnSpc>
              <a:spcBef>
                <a:spcPct val="0"/>
              </a:spcBef>
            </a:pPr>
            <a:r>
              <a:rPr lang="en-US" sz="3253" spc="-65">
                <a:solidFill>
                  <a:srgbClr val="051D40"/>
                </a:solidFill>
                <a:latin typeface="Poppins"/>
                <a:ea typeface="Poppins"/>
                <a:cs typeface="Poppins"/>
                <a:sym typeface="Poppins"/>
              </a:rPr>
              <a:t>Introduction</a:t>
            </a:r>
          </a:p>
        </p:txBody>
      </p:sp>
      <p:sp>
        <p:nvSpPr>
          <p:cNvPr name="Freeform 18" id="18"/>
          <p:cNvSpPr/>
          <p:nvPr/>
        </p:nvSpPr>
        <p:spPr>
          <a:xfrm flipH="false" flipV="false" rot="5400000">
            <a:off x="2912435" y="5172298"/>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5400000">
            <a:off x="2912435" y="7778028"/>
            <a:ext cx="510937" cy="453341"/>
          </a:xfrm>
          <a:custGeom>
            <a:avLst/>
            <a:gdLst/>
            <a:ahLst/>
            <a:cxnLst/>
            <a:rect r="r" b="b" t="t" l="l"/>
            <a:pathLst>
              <a:path h="453341" w="510937">
                <a:moveTo>
                  <a:pt x="0" y="0"/>
                </a:moveTo>
                <a:lnTo>
                  <a:pt x="510937" y="0"/>
                </a:lnTo>
                <a:lnTo>
                  <a:pt x="510937" y="453340"/>
                </a:lnTo>
                <a:lnTo>
                  <a:pt x="0" y="4533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663160" y="7674498"/>
            <a:ext cx="5887512" cy="574675"/>
          </a:xfrm>
          <a:prstGeom prst="rect">
            <a:avLst/>
          </a:prstGeom>
        </p:spPr>
        <p:txBody>
          <a:bodyPr anchor="t" rtlCol="false" tIns="0" lIns="0" bIns="0" rIns="0">
            <a:spAutoFit/>
          </a:bodyPr>
          <a:lstStyle/>
          <a:p>
            <a:pPr algn="l">
              <a:lnSpc>
                <a:spcPts val="4549"/>
              </a:lnSpc>
              <a:spcBef>
                <a:spcPct val="0"/>
              </a:spcBef>
            </a:pPr>
            <a:r>
              <a:rPr lang="en-US" sz="3249" spc="-64">
                <a:solidFill>
                  <a:srgbClr val="051D40"/>
                </a:solidFill>
                <a:latin typeface="Poppins"/>
                <a:ea typeface="Poppins"/>
                <a:cs typeface="Poppins"/>
                <a:sym typeface="Poppins"/>
              </a:rPr>
              <a:t>Insights &amp; Recommendations</a:t>
            </a:r>
          </a:p>
        </p:txBody>
      </p:sp>
      <p:sp>
        <p:nvSpPr>
          <p:cNvPr name="Freeform 21" id="21"/>
          <p:cNvSpPr/>
          <p:nvPr/>
        </p:nvSpPr>
        <p:spPr>
          <a:xfrm flipH="false" flipV="false" rot="5400000">
            <a:off x="2912435" y="8668496"/>
            <a:ext cx="510937" cy="453341"/>
          </a:xfrm>
          <a:custGeom>
            <a:avLst/>
            <a:gdLst/>
            <a:ahLst/>
            <a:cxnLst/>
            <a:rect r="r" b="b" t="t" l="l"/>
            <a:pathLst>
              <a:path h="453341" w="510937">
                <a:moveTo>
                  <a:pt x="0" y="0"/>
                </a:moveTo>
                <a:lnTo>
                  <a:pt x="510937" y="0"/>
                </a:lnTo>
                <a:lnTo>
                  <a:pt x="510937" y="453341"/>
                </a:lnTo>
                <a:lnTo>
                  <a:pt x="0" y="4533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2" id="22"/>
          <p:cNvSpPr txBox="true"/>
          <p:nvPr/>
        </p:nvSpPr>
        <p:spPr>
          <a:xfrm rot="0">
            <a:off x="3663160" y="8553973"/>
            <a:ext cx="4397771" cy="574675"/>
          </a:xfrm>
          <a:prstGeom prst="rect">
            <a:avLst/>
          </a:prstGeom>
        </p:spPr>
        <p:txBody>
          <a:bodyPr anchor="t" rtlCol="false" tIns="0" lIns="0" bIns="0" rIns="0">
            <a:spAutoFit/>
          </a:bodyPr>
          <a:lstStyle/>
          <a:p>
            <a:pPr algn="l">
              <a:lnSpc>
                <a:spcPts val="4549"/>
              </a:lnSpc>
              <a:spcBef>
                <a:spcPct val="0"/>
              </a:spcBef>
            </a:pPr>
            <a:r>
              <a:rPr lang="en-US" sz="3249" spc="-64">
                <a:solidFill>
                  <a:srgbClr val="051D40"/>
                </a:solidFill>
                <a:latin typeface="Poppins"/>
                <a:ea typeface="Poppins"/>
                <a:cs typeface="Poppins"/>
                <a:sym typeface="Poppins"/>
              </a:rPr>
              <a:t>Conclusion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88217" y="9258300"/>
            <a:ext cx="18476217" cy="1028700"/>
            <a:chOff x="0" y="0"/>
            <a:chExt cx="4866164" cy="270933"/>
          </a:xfrm>
        </p:grpSpPr>
        <p:sp>
          <p:nvSpPr>
            <p:cNvPr name="Freeform 3" id="3"/>
            <p:cNvSpPr/>
            <p:nvPr/>
          </p:nvSpPr>
          <p:spPr>
            <a:xfrm flipH="false" flipV="false" rot="0">
              <a:off x="0" y="0"/>
              <a:ext cx="4866164" cy="270933"/>
            </a:xfrm>
            <a:custGeom>
              <a:avLst/>
              <a:gdLst/>
              <a:ahLst/>
              <a:cxnLst/>
              <a:rect r="r" b="b" t="t" l="l"/>
              <a:pathLst>
                <a:path h="270933" w="4866164">
                  <a:moveTo>
                    <a:pt x="0" y="0"/>
                  </a:moveTo>
                  <a:lnTo>
                    <a:pt x="4866164" y="0"/>
                  </a:lnTo>
                  <a:lnTo>
                    <a:pt x="4866164" y="270933"/>
                  </a:lnTo>
                  <a:lnTo>
                    <a:pt x="0" y="270933"/>
                  </a:lnTo>
                  <a:close/>
                </a:path>
              </a:pathLst>
            </a:custGeom>
            <a:solidFill>
              <a:srgbClr val="5B98BA"/>
            </a:solidFill>
            <a:ln cap="sq">
              <a:noFill/>
              <a:prstDash val="solid"/>
              <a:miter/>
            </a:ln>
          </p:spPr>
        </p:sp>
        <p:sp>
          <p:nvSpPr>
            <p:cNvPr name="TextBox 4" id="4"/>
            <p:cNvSpPr txBox="true"/>
            <p:nvPr/>
          </p:nvSpPr>
          <p:spPr>
            <a:xfrm>
              <a:off x="0" y="-38100"/>
              <a:ext cx="4866164" cy="30903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a:grpSpLocks noChangeAspect="true"/>
          </p:cNvGrpSpPr>
          <p:nvPr/>
        </p:nvGrpSpPr>
        <p:grpSpPr>
          <a:xfrm rot="5400000">
            <a:off x="1409903" y="-13451419"/>
            <a:ext cx="15827837" cy="18924806"/>
            <a:chOff x="0" y="0"/>
            <a:chExt cx="8603361" cy="10286746"/>
          </a:xfrm>
        </p:grpSpPr>
        <p:sp>
          <p:nvSpPr>
            <p:cNvPr name="Freeform 6" id="6"/>
            <p:cNvSpPr/>
            <p:nvPr/>
          </p:nvSpPr>
          <p:spPr>
            <a:xfrm flipH="false" flipV="false" rot="0">
              <a:off x="-2794" y="-128"/>
              <a:ext cx="8606155" cy="10286874"/>
            </a:xfrm>
            <a:custGeom>
              <a:avLst/>
              <a:gdLst/>
              <a:ahLst/>
              <a:cxnLst/>
              <a:rect r="r" b="b" t="t" l="l"/>
              <a:pathLst>
                <a:path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solidFill>
              <a:srgbClr val="00569E"/>
            </a:solidFill>
            <a:ln w="12700">
              <a:solidFill>
                <a:srgbClr val="000000"/>
              </a:solidFill>
            </a:ln>
          </p:spPr>
        </p:sp>
      </p:grpSp>
      <p:grpSp>
        <p:nvGrpSpPr>
          <p:cNvPr name="Group 7" id="7"/>
          <p:cNvGrpSpPr/>
          <p:nvPr/>
        </p:nvGrpSpPr>
        <p:grpSpPr>
          <a:xfrm rot="0">
            <a:off x="3367558" y="2590556"/>
            <a:ext cx="12152123" cy="6064668"/>
            <a:chOff x="0" y="0"/>
            <a:chExt cx="3200559" cy="1597279"/>
          </a:xfrm>
        </p:grpSpPr>
        <p:sp>
          <p:nvSpPr>
            <p:cNvPr name="Freeform 8" id="8"/>
            <p:cNvSpPr/>
            <p:nvPr/>
          </p:nvSpPr>
          <p:spPr>
            <a:xfrm flipH="false" flipV="false" rot="0">
              <a:off x="0" y="0"/>
              <a:ext cx="3200559" cy="1597279"/>
            </a:xfrm>
            <a:custGeom>
              <a:avLst/>
              <a:gdLst/>
              <a:ahLst/>
              <a:cxnLst/>
              <a:rect r="r" b="b" t="t" l="l"/>
              <a:pathLst>
                <a:path h="1597279" w="3200559">
                  <a:moveTo>
                    <a:pt x="0" y="0"/>
                  </a:moveTo>
                  <a:lnTo>
                    <a:pt x="3200559" y="0"/>
                  </a:lnTo>
                  <a:lnTo>
                    <a:pt x="3200559" y="1597279"/>
                  </a:lnTo>
                  <a:lnTo>
                    <a:pt x="0" y="1597279"/>
                  </a:lnTo>
                  <a:close/>
                </a:path>
              </a:pathLst>
            </a:custGeom>
            <a:solidFill>
              <a:srgbClr val="145DA0"/>
            </a:solidFill>
            <a:ln cap="sq">
              <a:noFill/>
              <a:prstDash val="solid"/>
              <a:miter/>
            </a:ln>
          </p:spPr>
        </p:sp>
        <p:sp>
          <p:nvSpPr>
            <p:cNvPr name="TextBox 9" id="9"/>
            <p:cNvSpPr txBox="true"/>
            <p:nvPr/>
          </p:nvSpPr>
          <p:spPr>
            <a:xfrm>
              <a:off x="0" y="-38100"/>
              <a:ext cx="3200559" cy="1635379"/>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4256398" y="2941593"/>
            <a:ext cx="10134847" cy="627489"/>
          </a:xfrm>
          <a:prstGeom prst="rect">
            <a:avLst/>
          </a:prstGeom>
        </p:spPr>
        <p:txBody>
          <a:bodyPr anchor="t" rtlCol="false" tIns="0" lIns="0" bIns="0" rIns="0">
            <a:spAutoFit/>
          </a:bodyPr>
          <a:lstStyle/>
          <a:p>
            <a:pPr algn="ctr" marL="0" indent="0" lvl="0">
              <a:lnSpc>
                <a:spcPts val="5167"/>
              </a:lnSpc>
              <a:spcBef>
                <a:spcPct val="0"/>
              </a:spcBef>
            </a:pPr>
            <a:r>
              <a:rPr lang="en-US" b="true" sz="3690">
                <a:solidFill>
                  <a:srgbClr val="FDFDFD"/>
                </a:solidFill>
                <a:latin typeface="Montserrat Bold"/>
                <a:ea typeface="Montserrat Bold"/>
                <a:cs typeface="Montserrat Bold"/>
                <a:sym typeface="Montserrat Bold"/>
              </a:rPr>
              <a:t>Introduction</a:t>
            </a:r>
          </a:p>
        </p:txBody>
      </p:sp>
      <p:sp>
        <p:nvSpPr>
          <p:cNvPr name="TextBox 11" id="11"/>
          <p:cNvSpPr txBox="true"/>
          <p:nvPr/>
        </p:nvSpPr>
        <p:spPr>
          <a:xfrm rot="0">
            <a:off x="3743604" y="4179599"/>
            <a:ext cx="11360517" cy="3588059"/>
          </a:xfrm>
          <a:prstGeom prst="rect">
            <a:avLst/>
          </a:prstGeom>
        </p:spPr>
        <p:txBody>
          <a:bodyPr anchor="t" rtlCol="false" tIns="0" lIns="0" bIns="0" rIns="0">
            <a:spAutoFit/>
          </a:bodyPr>
          <a:lstStyle/>
          <a:p>
            <a:pPr algn="ctr">
              <a:lnSpc>
                <a:spcPts val="3559"/>
              </a:lnSpc>
              <a:spcBef>
                <a:spcPct val="0"/>
              </a:spcBef>
            </a:pPr>
            <a:r>
              <a:rPr lang="en-US" sz="2542" spc="-50">
                <a:solidFill>
                  <a:srgbClr val="FDFDFD"/>
                </a:solidFill>
                <a:latin typeface="Poppins"/>
                <a:ea typeface="Poppins"/>
                <a:cs typeface="Poppins"/>
                <a:sym typeface="Poppins"/>
              </a:rPr>
              <a:t>This p</a:t>
            </a:r>
            <a:r>
              <a:rPr lang="en-US" sz="2542" spc="-50">
                <a:solidFill>
                  <a:srgbClr val="FDFDFD"/>
                </a:solidFill>
                <a:latin typeface="Poppins"/>
                <a:ea typeface="Poppins"/>
                <a:cs typeface="Poppins"/>
                <a:sym typeface="Poppins"/>
              </a:rPr>
              <a:t>roject delivers an end-to-end Business Intelligence solution for AdventureWorks sales data. It transforms operational (OLTP) data into a dimensional Data Warehouse using SSIS, supports historical tracking (SCD), and enables incremental loading for efficiency.</a:t>
            </a:r>
          </a:p>
          <a:p>
            <a:pPr algn="ctr">
              <a:lnSpc>
                <a:spcPts val="3559"/>
              </a:lnSpc>
              <a:spcBef>
                <a:spcPct val="0"/>
              </a:spcBef>
            </a:pPr>
          </a:p>
          <a:p>
            <a:pPr algn="ctr">
              <a:lnSpc>
                <a:spcPts val="3559"/>
              </a:lnSpc>
              <a:spcBef>
                <a:spcPct val="0"/>
              </a:spcBef>
            </a:pPr>
            <a:r>
              <a:rPr lang="en-US" sz="2542" spc="-50">
                <a:solidFill>
                  <a:srgbClr val="FDFDFD"/>
                </a:solidFill>
                <a:latin typeface="Poppins"/>
                <a:ea typeface="Poppins"/>
                <a:cs typeface="Poppins"/>
                <a:sym typeface="Poppins"/>
              </a:rPr>
              <a:t>The Data Warehouse powers interactive Power BI dashboards, giving the sales team clear insights into trends, performance, and key business metrics for faster, data-driven decisions.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6656283" y="-2445901"/>
            <a:ext cx="15178802" cy="15178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007842" y="-1797460"/>
            <a:ext cx="13881919" cy="1388191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028700" y="3399437"/>
            <a:ext cx="6033363" cy="1624181"/>
          </a:xfrm>
          <a:prstGeom prst="rect">
            <a:avLst/>
          </a:prstGeom>
        </p:spPr>
        <p:txBody>
          <a:bodyPr anchor="t" rtlCol="false" tIns="0" lIns="0" bIns="0" rIns="0">
            <a:spAutoFit/>
          </a:bodyPr>
          <a:lstStyle/>
          <a:p>
            <a:pPr algn="l" marL="0" indent="0" lvl="0">
              <a:lnSpc>
                <a:spcPts val="6553"/>
              </a:lnSpc>
              <a:spcBef>
                <a:spcPct val="0"/>
              </a:spcBef>
            </a:pPr>
            <a:r>
              <a:rPr lang="en-US" b="true" sz="4680">
                <a:solidFill>
                  <a:srgbClr val="FDFDFD"/>
                </a:solidFill>
                <a:latin typeface="Montserrat Bold"/>
                <a:ea typeface="Montserrat Bold"/>
                <a:cs typeface="Montserrat Bold"/>
                <a:sym typeface="Montserrat Bold"/>
              </a:rPr>
              <a:t>Project Requirements</a:t>
            </a:r>
          </a:p>
        </p:txBody>
      </p:sp>
      <p:sp>
        <p:nvSpPr>
          <p:cNvPr name="TextBox 9" id="9"/>
          <p:cNvSpPr txBox="true"/>
          <p:nvPr/>
        </p:nvSpPr>
        <p:spPr>
          <a:xfrm rot="0">
            <a:off x="1306955" y="5366227"/>
            <a:ext cx="6033688" cy="1199221"/>
          </a:xfrm>
          <a:prstGeom prst="rect">
            <a:avLst/>
          </a:prstGeom>
        </p:spPr>
        <p:txBody>
          <a:bodyPr anchor="t" rtlCol="false" tIns="0" lIns="0" bIns="0" rIns="0">
            <a:spAutoFit/>
          </a:bodyPr>
          <a:lstStyle/>
          <a:p>
            <a:pPr algn="l">
              <a:lnSpc>
                <a:spcPts val="3201"/>
              </a:lnSpc>
            </a:pPr>
            <a:r>
              <a:rPr lang="en-US" sz="2286" i="true" spc="-45">
                <a:solidFill>
                  <a:srgbClr val="FDFDFD"/>
                </a:solidFill>
                <a:latin typeface="Poppins Italics"/>
                <a:ea typeface="Poppins Italics"/>
                <a:cs typeface="Poppins Italics"/>
                <a:sym typeface="Poppins Italics"/>
              </a:rPr>
              <a:t>Th</a:t>
            </a:r>
            <a:r>
              <a:rPr lang="en-US" sz="2286" i="true" spc="-45" strike="noStrike" u="none">
                <a:solidFill>
                  <a:srgbClr val="FDFDFD"/>
                </a:solidFill>
                <a:latin typeface="Poppins Italics"/>
                <a:ea typeface="Poppins Italics"/>
                <a:cs typeface="Poppins Italics"/>
                <a:sym typeface="Poppins Italics"/>
              </a:rPr>
              <a:t>e project requirements cover all stages — from data integration to visualization — to ensure reliable analytics and reporting.</a:t>
            </a:r>
          </a:p>
        </p:txBody>
      </p:sp>
      <p:sp>
        <p:nvSpPr>
          <p:cNvPr name="Freeform 10" id="10"/>
          <p:cNvSpPr/>
          <p:nvPr/>
        </p:nvSpPr>
        <p:spPr>
          <a:xfrm flipH="false" flipV="false" rot="0">
            <a:off x="8618101" y="1767991"/>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1" id="11"/>
          <p:cNvSpPr txBox="true"/>
          <p:nvPr/>
        </p:nvSpPr>
        <p:spPr>
          <a:xfrm rot="0">
            <a:off x="10162447" y="1816147"/>
            <a:ext cx="5768345" cy="1416498"/>
          </a:xfrm>
          <a:prstGeom prst="rect">
            <a:avLst/>
          </a:prstGeom>
        </p:spPr>
        <p:txBody>
          <a:bodyPr anchor="t" rtlCol="false" tIns="0" lIns="0" bIns="0" rIns="0">
            <a:spAutoFit/>
          </a:bodyPr>
          <a:lstStyle/>
          <a:p>
            <a:pPr algn="l">
              <a:lnSpc>
                <a:spcPts val="2775"/>
              </a:lnSpc>
            </a:pPr>
            <a:r>
              <a:rPr lang="en-US" b="true" sz="1982" spc="-39">
                <a:solidFill>
                  <a:srgbClr val="145DA0"/>
                </a:solidFill>
                <a:latin typeface="Poppins Bold"/>
                <a:ea typeface="Poppins Bold"/>
                <a:cs typeface="Poppins Bold"/>
                <a:sym typeface="Poppins Bold"/>
              </a:rPr>
              <a:t>Unifi</a:t>
            </a:r>
            <a:r>
              <a:rPr lang="en-US" b="true" sz="1982" spc="-39" strike="noStrike" u="none">
                <a:solidFill>
                  <a:srgbClr val="145DA0"/>
                </a:solidFill>
                <a:latin typeface="Poppins Bold"/>
                <a:ea typeface="Poppins Bold"/>
                <a:cs typeface="Poppins Bold"/>
                <a:sym typeface="Poppins Bold"/>
              </a:rPr>
              <a:t>ed Data Repository </a:t>
            </a:r>
            <a:r>
              <a:rPr lang="en-US" sz="1982" spc="-39" strike="noStrike" u="none">
                <a:solidFill>
                  <a:srgbClr val="145DA0"/>
                </a:solidFill>
                <a:latin typeface="Poppins"/>
                <a:ea typeface="Poppins"/>
                <a:cs typeface="Poppins"/>
                <a:sym typeface="Poppins"/>
              </a:rPr>
              <a:t>– Consolidate sales data from operational systems into a centralized Data Warehouse for reliable analysis.</a:t>
            </a:r>
          </a:p>
        </p:txBody>
      </p:sp>
      <p:sp>
        <p:nvSpPr>
          <p:cNvPr name="TextBox 12" id="12"/>
          <p:cNvSpPr txBox="true"/>
          <p:nvPr/>
        </p:nvSpPr>
        <p:spPr>
          <a:xfrm rot="0">
            <a:off x="8763159" y="20412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01</a:t>
            </a:r>
          </a:p>
        </p:txBody>
      </p:sp>
      <p:sp>
        <p:nvSpPr>
          <p:cNvPr name="Freeform 13" id="13"/>
          <p:cNvSpPr/>
          <p:nvPr/>
        </p:nvSpPr>
        <p:spPr>
          <a:xfrm flipH="false" flipV="false" rot="0">
            <a:off x="9144000" y="3541391"/>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4" id="14"/>
          <p:cNvSpPr txBox="true"/>
          <p:nvPr/>
        </p:nvSpPr>
        <p:spPr>
          <a:xfrm rot="0">
            <a:off x="10688346" y="3589547"/>
            <a:ext cx="5768345" cy="1416498"/>
          </a:xfrm>
          <a:prstGeom prst="rect">
            <a:avLst/>
          </a:prstGeom>
        </p:spPr>
        <p:txBody>
          <a:bodyPr anchor="t" rtlCol="false" tIns="0" lIns="0" bIns="0" rIns="0">
            <a:spAutoFit/>
          </a:bodyPr>
          <a:lstStyle/>
          <a:p>
            <a:pPr algn="l">
              <a:lnSpc>
                <a:spcPts val="2775"/>
              </a:lnSpc>
            </a:pPr>
            <a:r>
              <a:rPr lang="en-US" b="true" sz="1982" spc="-39">
                <a:solidFill>
                  <a:srgbClr val="145DA0"/>
                </a:solidFill>
                <a:latin typeface="Poppins Bold"/>
                <a:ea typeface="Poppins Bold"/>
                <a:cs typeface="Poppins Bold"/>
                <a:sym typeface="Poppins Bold"/>
              </a:rPr>
              <a:t>H</a:t>
            </a:r>
            <a:r>
              <a:rPr lang="en-US" b="true" sz="1982" spc="-39" strike="noStrike" u="none">
                <a:solidFill>
                  <a:srgbClr val="145DA0"/>
                </a:solidFill>
                <a:latin typeface="Poppins Bold"/>
                <a:ea typeface="Poppins Bold"/>
                <a:cs typeface="Poppins Bold"/>
                <a:sym typeface="Poppins Bold"/>
              </a:rPr>
              <a:t>istorical Data Management</a:t>
            </a:r>
            <a:r>
              <a:rPr lang="en-US" sz="1982" spc="-39" strike="noStrike" u="none">
                <a:solidFill>
                  <a:srgbClr val="145DA0"/>
                </a:solidFill>
                <a:latin typeface="Poppins"/>
                <a:ea typeface="Poppins"/>
                <a:cs typeface="Poppins"/>
                <a:sym typeface="Poppins"/>
              </a:rPr>
              <a:t> – Preserve changes in key business attributes through Slowly Changing Dimensions for accurate trend analysis.</a:t>
            </a:r>
          </a:p>
        </p:txBody>
      </p:sp>
      <p:sp>
        <p:nvSpPr>
          <p:cNvPr name="TextBox 15" id="15"/>
          <p:cNvSpPr txBox="true"/>
          <p:nvPr/>
        </p:nvSpPr>
        <p:spPr>
          <a:xfrm rot="0">
            <a:off x="9289058" y="3814603"/>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02</a:t>
            </a:r>
          </a:p>
        </p:txBody>
      </p:sp>
      <p:sp>
        <p:nvSpPr>
          <p:cNvPr name="Freeform 16" id="16"/>
          <p:cNvSpPr/>
          <p:nvPr/>
        </p:nvSpPr>
        <p:spPr>
          <a:xfrm flipH="false" flipV="false" rot="0">
            <a:off x="9144000" y="5318072"/>
            <a:ext cx="1424256" cy="1424256"/>
          </a:xfrm>
          <a:custGeom>
            <a:avLst/>
            <a:gdLst/>
            <a:ahLst/>
            <a:cxnLst/>
            <a:rect r="r" b="b" t="t" l="l"/>
            <a:pathLst>
              <a:path h="1424256" w="1424256">
                <a:moveTo>
                  <a:pt x="0" y="0"/>
                </a:moveTo>
                <a:lnTo>
                  <a:pt x="1424256" y="0"/>
                </a:lnTo>
                <a:lnTo>
                  <a:pt x="1424256"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17" id="17"/>
          <p:cNvSpPr txBox="true"/>
          <p:nvPr/>
        </p:nvSpPr>
        <p:spPr>
          <a:xfrm rot="0">
            <a:off x="10688346" y="5366227"/>
            <a:ext cx="5768345" cy="1064073"/>
          </a:xfrm>
          <a:prstGeom prst="rect">
            <a:avLst/>
          </a:prstGeom>
        </p:spPr>
        <p:txBody>
          <a:bodyPr anchor="t" rtlCol="false" tIns="0" lIns="0" bIns="0" rIns="0">
            <a:spAutoFit/>
          </a:bodyPr>
          <a:lstStyle/>
          <a:p>
            <a:pPr algn="l">
              <a:lnSpc>
                <a:spcPts val="2775"/>
              </a:lnSpc>
            </a:pPr>
            <a:r>
              <a:rPr lang="en-US" b="true" sz="1982" spc="-39">
                <a:solidFill>
                  <a:srgbClr val="145DA0"/>
                </a:solidFill>
                <a:latin typeface="Poppins Bold"/>
                <a:ea typeface="Poppins Bold"/>
                <a:cs typeface="Poppins Bold"/>
                <a:sym typeface="Poppins Bold"/>
              </a:rPr>
              <a:t>Opti</a:t>
            </a:r>
            <a:r>
              <a:rPr lang="en-US" b="true" sz="1982" spc="-39" strike="noStrike" u="none">
                <a:solidFill>
                  <a:srgbClr val="145DA0"/>
                </a:solidFill>
                <a:latin typeface="Poppins Bold"/>
                <a:ea typeface="Poppins Bold"/>
                <a:cs typeface="Poppins Bold"/>
                <a:sym typeface="Poppins Bold"/>
              </a:rPr>
              <a:t>mized Data Loading</a:t>
            </a:r>
            <a:r>
              <a:rPr lang="en-US" sz="1982" spc="-39" strike="noStrike" u="none">
                <a:solidFill>
                  <a:srgbClr val="145DA0"/>
                </a:solidFill>
                <a:latin typeface="Poppins"/>
                <a:ea typeface="Poppins"/>
                <a:cs typeface="Poppins"/>
                <a:sym typeface="Poppins"/>
              </a:rPr>
              <a:t> – Implement incremental ETL processes to ensure timely updates while minimizing processing overhead.</a:t>
            </a:r>
          </a:p>
        </p:txBody>
      </p:sp>
      <p:sp>
        <p:nvSpPr>
          <p:cNvPr name="TextBox 18" id="18"/>
          <p:cNvSpPr txBox="true"/>
          <p:nvPr/>
        </p:nvSpPr>
        <p:spPr>
          <a:xfrm rot="0">
            <a:off x="9289058" y="5591284"/>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03</a:t>
            </a:r>
          </a:p>
        </p:txBody>
      </p:sp>
      <p:sp>
        <p:nvSpPr>
          <p:cNvPr name="Freeform 19" id="19"/>
          <p:cNvSpPr/>
          <p:nvPr/>
        </p:nvSpPr>
        <p:spPr>
          <a:xfrm flipH="false" flipV="false" rot="0">
            <a:off x="8618101" y="7094753"/>
            <a:ext cx="1424256" cy="1424256"/>
          </a:xfrm>
          <a:custGeom>
            <a:avLst/>
            <a:gdLst/>
            <a:ahLst/>
            <a:cxnLst/>
            <a:rect r="r" b="b" t="t" l="l"/>
            <a:pathLst>
              <a:path h="1424256" w="1424256">
                <a:moveTo>
                  <a:pt x="0" y="0"/>
                </a:moveTo>
                <a:lnTo>
                  <a:pt x="1424255" y="0"/>
                </a:lnTo>
                <a:lnTo>
                  <a:pt x="1424255" y="1424256"/>
                </a:lnTo>
                <a:lnTo>
                  <a:pt x="0" y="14242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20" id="20"/>
          <p:cNvSpPr txBox="true"/>
          <p:nvPr/>
        </p:nvSpPr>
        <p:spPr>
          <a:xfrm rot="0">
            <a:off x="10162447" y="7142908"/>
            <a:ext cx="5768345" cy="1416498"/>
          </a:xfrm>
          <a:prstGeom prst="rect">
            <a:avLst/>
          </a:prstGeom>
        </p:spPr>
        <p:txBody>
          <a:bodyPr anchor="t" rtlCol="false" tIns="0" lIns="0" bIns="0" rIns="0">
            <a:spAutoFit/>
          </a:bodyPr>
          <a:lstStyle/>
          <a:p>
            <a:pPr algn="l">
              <a:lnSpc>
                <a:spcPts val="2775"/>
              </a:lnSpc>
            </a:pPr>
            <a:r>
              <a:rPr lang="en-US" sz="1982" spc="-39">
                <a:solidFill>
                  <a:srgbClr val="145DA0"/>
                </a:solidFill>
                <a:latin typeface="Poppins"/>
                <a:ea typeface="Poppins"/>
                <a:cs typeface="Poppins"/>
                <a:sym typeface="Poppins"/>
              </a:rPr>
              <a:t>I</a:t>
            </a:r>
            <a:r>
              <a:rPr lang="en-US" b="true" sz="1982" spc="-39">
                <a:solidFill>
                  <a:srgbClr val="145DA0"/>
                </a:solidFill>
                <a:latin typeface="Poppins Bold"/>
                <a:ea typeface="Poppins Bold"/>
                <a:cs typeface="Poppins Bold"/>
                <a:sym typeface="Poppins Bold"/>
              </a:rPr>
              <a:t>ns</a:t>
            </a:r>
            <a:r>
              <a:rPr lang="en-US" b="true" sz="1982" spc="-39" strike="noStrike" u="none">
                <a:solidFill>
                  <a:srgbClr val="145DA0"/>
                </a:solidFill>
                <a:latin typeface="Poppins Bold"/>
                <a:ea typeface="Poppins Bold"/>
                <a:cs typeface="Poppins Bold"/>
                <a:sym typeface="Poppins Bold"/>
              </a:rPr>
              <a:t>ightful Reporting</a:t>
            </a:r>
            <a:r>
              <a:rPr lang="en-US" sz="1982" spc="-39" strike="noStrike" u="none">
                <a:solidFill>
                  <a:srgbClr val="145DA0"/>
                </a:solidFill>
                <a:latin typeface="Poppins"/>
                <a:ea typeface="Poppins"/>
                <a:cs typeface="Poppins"/>
                <a:sym typeface="Poppins"/>
              </a:rPr>
              <a:t> – Develop interactive Power BI dashboards that present clear KPIs, trends, and performance insights for decision-makers.</a:t>
            </a:r>
          </a:p>
        </p:txBody>
      </p:sp>
      <p:sp>
        <p:nvSpPr>
          <p:cNvPr name="TextBox 21" id="21"/>
          <p:cNvSpPr txBox="true"/>
          <p:nvPr/>
        </p:nvSpPr>
        <p:spPr>
          <a:xfrm rot="0">
            <a:off x="8763159" y="7367965"/>
            <a:ext cx="1134140" cy="801632"/>
          </a:xfrm>
          <a:prstGeom prst="rect">
            <a:avLst/>
          </a:prstGeom>
        </p:spPr>
        <p:txBody>
          <a:bodyPr anchor="t" rtlCol="false" tIns="0" lIns="0" bIns="0" rIns="0">
            <a:spAutoFit/>
          </a:bodyPr>
          <a:lstStyle/>
          <a:p>
            <a:pPr algn="ctr" marL="0" indent="0" lvl="0">
              <a:lnSpc>
                <a:spcPts val="6697"/>
              </a:lnSpc>
              <a:spcBef>
                <a:spcPct val="0"/>
              </a:spcBef>
            </a:pPr>
            <a:r>
              <a:rPr lang="en-US" sz="4784">
                <a:solidFill>
                  <a:srgbClr val="FDFDFD"/>
                </a:solidFill>
                <a:latin typeface="Montserrat"/>
                <a:ea typeface="Montserrat"/>
                <a:cs typeface="Montserrat"/>
                <a:sym typeface="Montserrat"/>
              </a:rPr>
              <a:t>04</a:t>
            </a:r>
          </a:p>
        </p:txBody>
      </p:sp>
      <p:grpSp>
        <p:nvGrpSpPr>
          <p:cNvPr name="Group 22" id="22"/>
          <p:cNvGrpSpPr/>
          <p:nvPr/>
        </p:nvGrpSpPr>
        <p:grpSpPr>
          <a:xfrm rot="0">
            <a:off x="7905455" y="2656032"/>
            <a:ext cx="373607" cy="37360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4" id="24"/>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5" id="25"/>
          <p:cNvGrpSpPr/>
          <p:nvPr/>
        </p:nvGrpSpPr>
        <p:grpSpPr>
          <a:xfrm rot="0">
            <a:off x="8315313" y="4180490"/>
            <a:ext cx="373607" cy="373607"/>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27" id="27"/>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28" id="28"/>
          <p:cNvGrpSpPr/>
          <p:nvPr/>
        </p:nvGrpSpPr>
        <p:grpSpPr>
          <a:xfrm rot="0">
            <a:off x="7944228" y="7402839"/>
            <a:ext cx="373607" cy="37360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30" id="30"/>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grpSp>
        <p:nvGrpSpPr>
          <p:cNvPr name="Group 31" id="31"/>
          <p:cNvGrpSpPr/>
          <p:nvPr/>
        </p:nvGrpSpPr>
        <p:grpSpPr>
          <a:xfrm rot="0">
            <a:off x="8309460" y="5760481"/>
            <a:ext cx="373607" cy="37360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a:ln w="38100" cap="sq">
              <a:solidFill>
                <a:srgbClr val="00569E"/>
              </a:solidFill>
              <a:prstDash val="solid"/>
              <a:miter/>
            </a:ln>
          </p:spPr>
        </p:sp>
        <p:sp>
          <p:nvSpPr>
            <p:cNvPr name="TextBox 33" id="33"/>
            <p:cNvSpPr txBox="true"/>
            <p:nvPr/>
          </p:nvSpPr>
          <p:spPr>
            <a:xfrm>
              <a:off x="76200" y="28575"/>
              <a:ext cx="660400" cy="708025"/>
            </a:xfrm>
            <a:prstGeom prst="rect">
              <a:avLst/>
            </a:prstGeom>
          </p:spPr>
          <p:txBody>
            <a:bodyPr anchor="ctr" rtlCol="false" tIns="0" lIns="0" bIns="0" rIns="0"/>
            <a:lstStyle/>
            <a:p>
              <a:pPr algn="ctr">
                <a:lnSpc>
                  <a:spcPts val="3640"/>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39603" y="1122782"/>
            <a:ext cx="7019697" cy="10556306"/>
            <a:chOff x="0" y="0"/>
            <a:chExt cx="660400" cy="993118"/>
          </a:xfrm>
        </p:grpSpPr>
        <p:sp>
          <p:nvSpPr>
            <p:cNvPr name="Freeform 6" id="6"/>
            <p:cNvSpPr/>
            <p:nvPr/>
          </p:nvSpPr>
          <p:spPr>
            <a:xfrm flipH="false" flipV="false" rot="0">
              <a:off x="0" y="0"/>
              <a:ext cx="660400" cy="993118"/>
            </a:xfrm>
            <a:custGeom>
              <a:avLst/>
              <a:gdLst/>
              <a:ahLst/>
              <a:cxnLst/>
              <a:rect r="r" b="b" t="t" l="l"/>
              <a:pathLst>
                <a:path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name="TextBox 7" id="7"/>
            <p:cNvSpPr txBox="true"/>
            <p:nvPr/>
          </p:nvSpPr>
          <p:spPr>
            <a:xfrm>
              <a:off x="0" y="88900"/>
              <a:ext cx="660400" cy="90421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408072" y="4903408"/>
            <a:ext cx="6682759" cy="4070716"/>
          </a:xfrm>
          <a:custGeom>
            <a:avLst/>
            <a:gdLst/>
            <a:ahLst/>
            <a:cxnLst/>
            <a:rect r="r" b="b" t="t" l="l"/>
            <a:pathLst>
              <a:path h="4070716" w="6682759">
                <a:moveTo>
                  <a:pt x="0" y="0"/>
                </a:moveTo>
                <a:lnTo>
                  <a:pt x="6682759" y="0"/>
                </a:lnTo>
                <a:lnTo>
                  <a:pt x="6682759" y="4070716"/>
                </a:lnTo>
                <a:lnTo>
                  <a:pt x="0" y="4070716"/>
                </a:lnTo>
                <a:lnTo>
                  <a:pt x="0" y="0"/>
                </a:lnTo>
                <a:close/>
              </a:path>
            </a:pathLst>
          </a:custGeom>
          <a:blipFill>
            <a:blip r:embed="rId2"/>
            <a:stretch>
              <a:fillRect l="0" t="0" r="0" b="0"/>
            </a:stretch>
          </a:blipFill>
        </p:spPr>
      </p:sp>
      <p:sp>
        <p:nvSpPr>
          <p:cNvPr name="TextBox 9" id="9"/>
          <p:cNvSpPr txBox="true"/>
          <p:nvPr/>
        </p:nvSpPr>
        <p:spPr>
          <a:xfrm rot="0">
            <a:off x="1028700" y="3527652"/>
            <a:ext cx="8901155" cy="6113791"/>
          </a:xfrm>
          <a:prstGeom prst="rect">
            <a:avLst/>
          </a:prstGeom>
        </p:spPr>
        <p:txBody>
          <a:bodyPr anchor="t" rtlCol="false" tIns="0" lIns="0" bIns="0" rIns="0">
            <a:spAutoFit/>
          </a:bodyPr>
          <a:lstStyle/>
          <a:p>
            <a:pPr algn="just">
              <a:lnSpc>
                <a:spcPts val="2759"/>
              </a:lnSpc>
            </a:pPr>
            <a:r>
              <a:rPr lang="en-US" b="true" sz="1970" spc="-39">
                <a:solidFill>
                  <a:srgbClr val="051D40"/>
                </a:solidFill>
                <a:latin typeface="Poppins Bold"/>
                <a:ea typeface="Poppins Bold"/>
                <a:cs typeface="Poppins Bold"/>
                <a:sym typeface="Poppins Bold"/>
              </a:rPr>
              <a:t>Rest</a:t>
            </a:r>
            <a:r>
              <a:rPr lang="en-US" b="true" sz="1970" spc="-39" strike="noStrike" u="none">
                <a:solidFill>
                  <a:srgbClr val="051D40"/>
                </a:solidFill>
                <a:latin typeface="Poppins Bold"/>
                <a:ea typeface="Poppins Bold"/>
                <a:cs typeface="Poppins Bold"/>
                <a:sym typeface="Poppins Bold"/>
              </a:rPr>
              <a:t>ored Source Database</a:t>
            </a:r>
          </a:p>
          <a:p>
            <a:pPr algn="just" marL="405528" indent="-202764" lvl="1">
              <a:lnSpc>
                <a:spcPts val="2629"/>
              </a:lnSpc>
              <a:buFont typeface="Arial"/>
              <a:buChar char="•"/>
            </a:pPr>
            <a:r>
              <a:rPr lang="en-US" sz="1878" spc="-37" strike="noStrike" u="none">
                <a:solidFill>
                  <a:srgbClr val="051D40"/>
                </a:solidFill>
                <a:latin typeface="Poppins"/>
                <a:ea typeface="Poppins"/>
                <a:cs typeface="Poppins"/>
                <a:sym typeface="Poppins"/>
              </a:rPr>
              <a:t>Loaded the AdventureWorks OLTP database from a .bak file into SQL Server.</a:t>
            </a:r>
          </a:p>
          <a:p>
            <a:pPr algn="just">
              <a:lnSpc>
                <a:spcPts val="2629"/>
              </a:lnSpc>
            </a:pPr>
          </a:p>
          <a:p>
            <a:pPr algn="l">
              <a:lnSpc>
                <a:spcPts val="2759"/>
              </a:lnSpc>
              <a:spcBef>
                <a:spcPct val="0"/>
              </a:spcBef>
            </a:pPr>
            <a:r>
              <a:rPr lang="en-US" b="true" sz="1970" spc="-39" strike="noStrike" u="none">
                <a:solidFill>
                  <a:srgbClr val="051D40"/>
                </a:solidFill>
                <a:latin typeface="Poppins Bold"/>
                <a:ea typeface="Poppins Bold"/>
                <a:cs typeface="Poppins Bold"/>
                <a:sym typeface="Poppins Bold"/>
              </a:rPr>
              <a:t>Analyzed Source Data</a:t>
            </a:r>
          </a:p>
          <a:p>
            <a:pPr algn="l" marL="405528" indent="-202764" lvl="1">
              <a:lnSpc>
                <a:spcPts val="2629"/>
              </a:lnSpc>
              <a:spcBef>
                <a:spcPct val="0"/>
              </a:spcBef>
              <a:buFont typeface="Arial"/>
              <a:buChar char="•"/>
            </a:pPr>
            <a:r>
              <a:rPr lang="en-US" sz="1878" spc="-37" strike="noStrike" u="none">
                <a:solidFill>
                  <a:srgbClr val="051D40"/>
                </a:solidFill>
                <a:latin typeface="Poppins"/>
                <a:ea typeface="Poppins"/>
                <a:cs typeface="Poppins"/>
                <a:sym typeface="Poppins"/>
              </a:rPr>
              <a:t>Reviewed OLTP tables and relationships: Sales, Customers, Products, Dates.</a:t>
            </a:r>
          </a:p>
          <a:p>
            <a:pPr algn="l">
              <a:lnSpc>
                <a:spcPts val="2759"/>
              </a:lnSpc>
              <a:spcBef>
                <a:spcPct val="0"/>
              </a:spcBef>
            </a:pPr>
          </a:p>
          <a:p>
            <a:pPr algn="l">
              <a:lnSpc>
                <a:spcPts val="2759"/>
              </a:lnSpc>
              <a:spcBef>
                <a:spcPct val="0"/>
              </a:spcBef>
            </a:pPr>
            <a:r>
              <a:rPr lang="en-US" b="true" sz="1970" spc="-39" strike="noStrike" u="none">
                <a:solidFill>
                  <a:srgbClr val="051D40"/>
                </a:solidFill>
                <a:latin typeface="Poppins Bold"/>
                <a:ea typeface="Poppins Bold"/>
                <a:cs typeface="Poppins Bold"/>
                <a:sym typeface="Poppins Bold"/>
              </a:rPr>
              <a:t>Built Staging Tables</a:t>
            </a:r>
          </a:p>
          <a:p>
            <a:pPr algn="l"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Created temporary tables to hold raw data from the OLTP system before transformation.</a:t>
            </a:r>
          </a:p>
          <a:p>
            <a:pPr algn="l"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Applied data cleaning and transformation rules to ensure accuracy and consistency.</a:t>
            </a:r>
          </a:p>
          <a:p>
            <a:pPr algn="l"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Enabled incremental load logic to optimize performance and reduce processing time.</a:t>
            </a:r>
          </a:p>
          <a:p>
            <a:pPr algn="l">
              <a:lnSpc>
                <a:spcPts val="2759"/>
              </a:lnSpc>
              <a:spcBef>
                <a:spcPct val="0"/>
              </a:spcBef>
            </a:pPr>
          </a:p>
          <a:p>
            <a:pPr algn="l" marL="0" indent="0" lvl="0">
              <a:lnSpc>
                <a:spcPts val="2629"/>
              </a:lnSpc>
              <a:spcBef>
                <a:spcPct val="0"/>
              </a:spcBef>
            </a:pPr>
          </a:p>
          <a:p>
            <a:pPr algn="l" marL="0" indent="0" lvl="0">
              <a:lnSpc>
                <a:spcPts val="2629"/>
              </a:lnSpc>
              <a:spcBef>
                <a:spcPct val="0"/>
              </a:spcBef>
            </a:pPr>
          </a:p>
        </p:txBody>
      </p:sp>
      <p:sp>
        <p:nvSpPr>
          <p:cNvPr name="TextBox 10" id="10"/>
          <p:cNvSpPr txBox="true"/>
          <p:nvPr/>
        </p:nvSpPr>
        <p:spPr>
          <a:xfrm rot="0">
            <a:off x="2569160" y="1577621"/>
            <a:ext cx="9265536" cy="3161339"/>
          </a:xfrm>
          <a:prstGeom prst="rect">
            <a:avLst/>
          </a:prstGeom>
        </p:spPr>
        <p:txBody>
          <a:bodyPr anchor="t" rtlCol="false" tIns="0" lIns="0" bIns="0" rIns="0">
            <a:spAutoFit/>
          </a:bodyPr>
          <a:lstStyle/>
          <a:p>
            <a:pPr algn="l">
              <a:lnSpc>
                <a:spcPts val="6300"/>
              </a:lnSpc>
              <a:spcBef>
                <a:spcPct val="0"/>
              </a:spcBef>
            </a:pPr>
            <a:r>
              <a:rPr lang="en-US" sz="4500">
                <a:solidFill>
                  <a:srgbClr val="051D40"/>
                </a:solidFill>
                <a:latin typeface="Montserrat"/>
                <a:ea typeface="Montserrat"/>
                <a:cs typeface="Montserrat"/>
                <a:sym typeface="Montserrat"/>
              </a:rPr>
              <a:t>Data Extraction &amp; Staging Design</a:t>
            </a:r>
          </a:p>
          <a:p>
            <a:pPr algn="l">
              <a:lnSpc>
                <a:spcPts val="6300"/>
              </a:lnSpc>
              <a:spcBef>
                <a:spcPct val="0"/>
              </a:spcBef>
            </a:pPr>
          </a:p>
          <a:p>
            <a:pPr algn="l">
              <a:lnSpc>
                <a:spcPts val="6300"/>
              </a:lnSpc>
              <a:spcBef>
                <a:spcPct val="0"/>
              </a:spcBef>
            </a:pPr>
          </a:p>
        </p:txBody>
      </p:sp>
      <p:sp>
        <p:nvSpPr>
          <p:cNvPr name="TextBox 11" id="11"/>
          <p:cNvSpPr txBox="true"/>
          <p:nvPr/>
        </p:nvSpPr>
        <p:spPr>
          <a:xfrm rot="0">
            <a:off x="11580981" y="3024425"/>
            <a:ext cx="4336941" cy="771523"/>
          </a:xfrm>
          <a:prstGeom prst="rect">
            <a:avLst/>
          </a:prstGeom>
        </p:spPr>
        <p:txBody>
          <a:bodyPr anchor="t" rtlCol="false" tIns="0" lIns="0" bIns="0" rIns="0">
            <a:spAutoFit/>
          </a:bodyPr>
          <a:lstStyle/>
          <a:p>
            <a:pPr algn="l">
              <a:lnSpc>
                <a:spcPts val="6300"/>
              </a:lnSpc>
              <a:spcBef>
                <a:spcPct val="0"/>
              </a:spcBef>
            </a:pPr>
            <a:r>
              <a:rPr lang="en-US" sz="4500">
                <a:solidFill>
                  <a:srgbClr val="FDFDFD"/>
                </a:solidFill>
                <a:latin typeface="Montserrat"/>
                <a:ea typeface="Montserrat"/>
                <a:cs typeface="Montserrat"/>
                <a:sym typeface="Montserrat"/>
              </a:rPr>
              <a:t>Staging Tabels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39603" y="1122782"/>
            <a:ext cx="7019697" cy="10556306"/>
            <a:chOff x="0" y="0"/>
            <a:chExt cx="660400" cy="993118"/>
          </a:xfrm>
        </p:grpSpPr>
        <p:sp>
          <p:nvSpPr>
            <p:cNvPr name="Freeform 6" id="6"/>
            <p:cNvSpPr/>
            <p:nvPr/>
          </p:nvSpPr>
          <p:spPr>
            <a:xfrm flipH="false" flipV="false" rot="0">
              <a:off x="0" y="0"/>
              <a:ext cx="660400" cy="993118"/>
            </a:xfrm>
            <a:custGeom>
              <a:avLst/>
              <a:gdLst/>
              <a:ahLst/>
              <a:cxnLst/>
              <a:rect r="r" b="b" t="t" l="l"/>
              <a:pathLst>
                <a:path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name="TextBox 7" id="7"/>
            <p:cNvSpPr txBox="true"/>
            <p:nvPr/>
          </p:nvSpPr>
          <p:spPr>
            <a:xfrm>
              <a:off x="0" y="88900"/>
              <a:ext cx="660400" cy="90421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540285" y="4179920"/>
            <a:ext cx="6418334" cy="5729821"/>
          </a:xfrm>
          <a:custGeom>
            <a:avLst/>
            <a:gdLst/>
            <a:ahLst/>
            <a:cxnLst/>
            <a:rect r="r" b="b" t="t" l="l"/>
            <a:pathLst>
              <a:path h="5729821" w="6418334">
                <a:moveTo>
                  <a:pt x="0" y="0"/>
                </a:moveTo>
                <a:lnTo>
                  <a:pt x="6418333" y="0"/>
                </a:lnTo>
                <a:lnTo>
                  <a:pt x="6418333" y="5729821"/>
                </a:lnTo>
                <a:lnTo>
                  <a:pt x="0" y="5729821"/>
                </a:lnTo>
                <a:lnTo>
                  <a:pt x="0" y="0"/>
                </a:lnTo>
                <a:close/>
              </a:path>
            </a:pathLst>
          </a:custGeom>
          <a:blipFill>
            <a:blip r:embed="rId2"/>
            <a:stretch>
              <a:fillRect l="0" t="0" r="0" b="0"/>
            </a:stretch>
          </a:blipFill>
        </p:spPr>
      </p:sp>
      <p:sp>
        <p:nvSpPr>
          <p:cNvPr name="TextBox 9" id="9"/>
          <p:cNvSpPr txBox="true"/>
          <p:nvPr/>
        </p:nvSpPr>
        <p:spPr>
          <a:xfrm rot="0">
            <a:off x="1028700" y="3053000"/>
            <a:ext cx="8901155" cy="6856741"/>
          </a:xfrm>
          <a:prstGeom prst="rect">
            <a:avLst/>
          </a:prstGeom>
        </p:spPr>
        <p:txBody>
          <a:bodyPr anchor="t" rtlCol="false" tIns="0" lIns="0" bIns="0" rIns="0">
            <a:spAutoFit/>
          </a:bodyPr>
          <a:lstStyle/>
          <a:p>
            <a:pPr algn="just">
              <a:lnSpc>
                <a:spcPts val="2759"/>
              </a:lnSpc>
            </a:pPr>
            <a:r>
              <a:rPr lang="en-US" b="true" sz="1970" spc="-39">
                <a:solidFill>
                  <a:srgbClr val="051D40"/>
                </a:solidFill>
                <a:latin typeface="Poppins Bold"/>
                <a:ea typeface="Poppins Bold"/>
                <a:cs typeface="Poppins Bold"/>
                <a:sym typeface="Poppins Bold"/>
              </a:rPr>
              <a:t>Built Dimension Tables</a:t>
            </a:r>
          </a:p>
          <a:p>
            <a:pPr algn="just" marL="425495" indent="-212748" lvl="1">
              <a:lnSpc>
                <a:spcPts val="2759"/>
              </a:lnSpc>
              <a:buFont typeface="Arial"/>
              <a:buChar char="•"/>
            </a:pPr>
            <a:r>
              <a:rPr lang="en-US" b="true" sz="1970" spc="-39">
                <a:solidFill>
                  <a:srgbClr val="051D40"/>
                </a:solidFill>
                <a:latin typeface="Poppins Bold"/>
                <a:ea typeface="Poppins Bold"/>
                <a:cs typeface="Poppins Bold"/>
                <a:sym typeface="Poppins Bold"/>
              </a:rPr>
              <a:t>DimCust</a:t>
            </a:r>
            <a:r>
              <a:rPr lang="en-US" b="true" sz="1970" spc="-39" strike="noStrike" u="none">
                <a:solidFill>
                  <a:srgbClr val="051D40"/>
                </a:solidFill>
                <a:latin typeface="Poppins Bold"/>
                <a:ea typeface="Poppins Bold"/>
                <a:cs typeface="Poppins Bold"/>
                <a:sym typeface="Poppins Bold"/>
              </a:rPr>
              <a:t>omer – </a:t>
            </a:r>
            <a:r>
              <a:rPr lang="en-US" sz="1970" spc="-39" strike="noStrike" u="none">
                <a:solidFill>
                  <a:srgbClr val="051D40"/>
                </a:solidFill>
                <a:latin typeface="Poppins"/>
                <a:ea typeface="Poppins"/>
                <a:cs typeface="Poppins"/>
                <a:sym typeface="Poppins"/>
              </a:rPr>
              <a:t>Implemented as SCD Type 1 to overwrite changes in customer attributes.</a:t>
            </a:r>
          </a:p>
          <a:p>
            <a:pPr algn="just" marL="425495" indent="-212748" lvl="1">
              <a:lnSpc>
                <a:spcPts val="2759"/>
              </a:lnSpc>
              <a:buFont typeface="Arial"/>
              <a:buChar char="•"/>
            </a:pPr>
            <a:r>
              <a:rPr lang="en-US" b="true" sz="1970" spc="-39" strike="noStrike" u="none">
                <a:solidFill>
                  <a:srgbClr val="051D40"/>
                </a:solidFill>
                <a:latin typeface="Poppins Bold"/>
                <a:ea typeface="Poppins Bold"/>
                <a:cs typeface="Poppins Bold"/>
                <a:sym typeface="Poppins Bold"/>
              </a:rPr>
              <a:t>DimPr</a:t>
            </a:r>
            <a:r>
              <a:rPr lang="en-US" b="true" sz="1970" spc="-39" strike="noStrike" u="none">
                <a:solidFill>
                  <a:srgbClr val="051D40"/>
                </a:solidFill>
                <a:latin typeface="Poppins Bold"/>
                <a:ea typeface="Poppins Bold"/>
                <a:cs typeface="Poppins Bold"/>
                <a:sym typeface="Poppins Bold"/>
              </a:rPr>
              <a:t>oduct – </a:t>
            </a:r>
            <a:r>
              <a:rPr lang="en-US" sz="1970" spc="-39" strike="noStrike" u="none">
                <a:solidFill>
                  <a:srgbClr val="051D40"/>
                </a:solidFill>
                <a:latin typeface="Poppins"/>
                <a:ea typeface="Poppins"/>
                <a:cs typeface="Poppins"/>
                <a:sym typeface="Poppins"/>
              </a:rPr>
              <a:t>Implemented as SCD Type 2 to track historical changes in product cost a</a:t>
            </a:r>
            <a:r>
              <a:rPr lang="en-US" sz="1970" spc="-39" strike="noStrike" u="none">
                <a:solidFill>
                  <a:srgbClr val="051D40"/>
                </a:solidFill>
                <a:latin typeface="Poppins"/>
                <a:ea typeface="Poppins"/>
                <a:cs typeface="Poppins"/>
                <a:sym typeface="Poppins"/>
              </a:rPr>
              <a:t>nd price.</a:t>
            </a:r>
          </a:p>
          <a:p>
            <a:pPr algn="just" marL="425495" indent="-212748" lvl="1">
              <a:lnSpc>
                <a:spcPts val="2759"/>
              </a:lnSpc>
              <a:buFont typeface="Arial"/>
              <a:buChar char="•"/>
            </a:pPr>
            <a:r>
              <a:rPr lang="en-US" b="true" sz="1970" spc="-39" strike="noStrike" u="none">
                <a:solidFill>
                  <a:srgbClr val="051D40"/>
                </a:solidFill>
                <a:latin typeface="Poppins Bold"/>
                <a:ea typeface="Poppins Bold"/>
                <a:cs typeface="Poppins Bold"/>
                <a:sym typeface="Poppins Bold"/>
              </a:rPr>
              <a:t>DimDat</a:t>
            </a:r>
            <a:r>
              <a:rPr lang="en-US" b="true" sz="1970" spc="-39" strike="noStrike" u="none">
                <a:solidFill>
                  <a:srgbClr val="051D40"/>
                </a:solidFill>
                <a:latin typeface="Poppins Bold"/>
                <a:ea typeface="Poppins Bold"/>
                <a:cs typeface="Poppins Bold"/>
                <a:sym typeface="Poppins Bold"/>
              </a:rPr>
              <a:t>e – </a:t>
            </a:r>
            <a:r>
              <a:rPr lang="en-US" sz="1970" spc="-39" strike="noStrike" u="none">
                <a:solidFill>
                  <a:srgbClr val="051D40"/>
                </a:solidFill>
                <a:latin typeface="Poppins"/>
                <a:ea typeface="Poppins"/>
                <a:cs typeface="Poppins"/>
                <a:sym typeface="Poppins"/>
              </a:rPr>
              <a:t>Pre-populated with dates from 2000 to 2030 for time-based analysis.</a:t>
            </a:r>
          </a:p>
          <a:p>
            <a:pPr algn="just">
              <a:lnSpc>
                <a:spcPts val="2759"/>
              </a:lnSpc>
              <a:spcBef>
                <a:spcPct val="0"/>
              </a:spcBef>
            </a:pPr>
          </a:p>
          <a:p>
            <a:pPr algn="just">
              <a:lnSpc>
                <a:spcPts val="2759"/>
              </a:lnSpc>
              <a:spcBef>
                <a:spcPct val="0"/>
              </a:spcBef>
            </a:pPr>
            <a:r>
              <a:rPr lang="en-US" b="true" sz="1970" spc="-39" strike="noStrike" u="none">
                <a:solidFill>
                  <a:srgbClr val="051D40"/>
                </a:solidFill>
                <a:latin typeface="Poppins Bold"/>
                <a:ea typeface="Poppins Bold"/>
                <a:cs typeface="Poppins Bold"/>
                <a:sym typeface="Poppins Bold"/>
              </a:rPr>
              <a:t>Built Fact Table</a:t>
            </a:r>
          </a:p>
          <a:p>
            <a:pPr algn="just" marL="425495" indent="-212748" lvl="1">
              <a:lnSpc>
                <a:spcPts val="2759"/>
              </a:lnSpc>
              <a:spcBef>
                <a:spcPct val="0"/>
              </a:spcBef>
              <a:buFont typeface="Arial"/>
              <a:buChar char="•"/>
            </a:pPr>
            <a:r>
              <a:rPr lang="en-US" b="true" sz="1970" spc="-39" strike="noStrike" u="none">
                <a:solidFill>
                  <a:srgbClr val="051D40"/>
                </a:solidFill>
                <a:latin typeface="Poppins Bold"/>
                <a:ea typeface="Poppins Bold"/>
                <a:cs typeface="Poppins Bold"/>
                <a:sym typeface="Poppins Bold"/>
              </a:rPr>
              <a:t>F</a:t>
            </a:r>
            <a:r>
              <a:rPr lang="en-US" b="true" sz="1970" spc="-39" strike="noStrike" u="none">
                <a:solidFill>
                  <a:srgbClr val="051D40"/>
                </a:solidFill>
                <a:latin typeface="Poppins Bold"/>
                <a:ea typeface="Poppins Bold"/>
                <a:cs typeface="Poppins Bold"/>
                <a:sym typeface="Poppins Bold"/>
              </a:rPr>
              <a:t>actSales –</a:t>
            </a:r>
            <a:r>
              <a:rPr lang="en-US" sz="1970" spc="-39" strike="noStrike" u="none">
                <a:solidFill>
                  <a:srgbClr val="051D40"/>
                </a:solidFill>
                <a:latin typeface="Poppins"/>
                <a:ea typeface="Poppins"/>
                <a:cs typeface="Poppins"/>
                <a:sym typeface="Poppins"/>
              </a:rPr>
              <a:t> Contains sales transactions with surrogate keys referencing dimension tables</a:t>
            </a:r>
            <a:r>
              <a:rPr lang="en-US" b="true" sz="1970" spc="-39" strike="noStrike" u="none">
                <a:solidFill>
                  <a:srgbClr val="051D40"/>
                </a:solidFill>
                <a:latin typeface="Poppins Bold"/>
                <a:ea typeface="Poppins Bold"/>
                <a:cs typeface="Poppins Bold"/>
                <a:sym typeface="Poppins Bold"/>
              </a:rPr>
              <a:t>.</a:t>
            </a:r>
          </a:p>
          <a:p>
            <a:pPr algn="just"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Added a clustered columnstore index for high-performance analytical queries.</a:t>
            </a:r>
          </a:p>
          <a:p>
            <a:pPr algn="just">
              <a:lnSpc>
                <a:spcPts val="2759"/>
              </a:lnSpc>
              <a:spcBef>
                <a:spcPct val="0"/>
              </a:spcBef>
            </a:pPr>
          </a:p>
          <a:p>
            <a:pPr algn="just">
              <a:lnSpc>
                <a:spcPts val="2759"/>
              </a:lnSpc>
              <a:spcBef>
                <a:spcPct val="0"/>
              </a:spcBef>
            </a:pPr>
            <a:r>
              <a:rPr lang="en-US" b="true" sz="1970" spc="-39" strike="noStrike" u="none">
                <a:solidFill>
                  <a:srgbClr val="051D40"/>
                </a:solidFill>
                <a:latin typeface="Poppins Bold"/>
                <a:ea typeface="Poppins Bold"/>
                <a:cs typeface="Poppins Bold"/>
                <a:sym typeface="Poppins Bold"/>
              </a:rPr>
              <a:t>Designed Star Schema</a:t>
            </a:r>
          </a:p>
          <a:p>
            <a:pPr algn="just" marL="425495" indent="-212748" lvl="1">
              <a:lnSpc>
                <a:spcPts val="2759"/>
              </a:lnSpc>
              <a:buFont typeface="Arial"/>
              <a:buChar char="•"/>
            </a:pPr>
            <a:r>
              <a:rPr lang="en-US" sz="1970" spc="-39" strike="noStrike" u="none">
                <a:solidFill>
                  <a:srgbClr val="051D40"/>
                </a:solidFill>
                <a:latin typeface="Poppins"/>
                <a:ea typeface="Poppins"/>
                <a:cs typeface="Poppins"/>
                <a:sym typeface="Poppins"/>
              </a:rPr>
              <a:t>Linked FactSales to DimCustomer, DimProduct, and DimDate through surrogate keys.</a:t>
            </a:r>
          </a:p>
          <a:p>
            <a:pPr algn="just" marL="425495" indent="-212748" lvl="1">
              <a:lnSpc>
                <a:spcPts val="2759"/>
              </a:lnSpc>
              <a:buFont typeface="Arial"/>
              <a:buChar char="•"/>
            </a:pPr>
            <a:r>
              <a:rPr lang="en-US" sz="1970" spc="-39" strike="noStrike" u="none">
                <a:solidFill>
                  <a:srgbClr val="051D40"/>
                </a:solidFill>
                <a:latin typeface="Poppins"/>
                <a:ea typeface="Poppins"/>
                <a:cs typeface="Poppins"/>
                <a:sym typeface="Poppins"/>
              </a:rPr>
              <a:t>Optimized schema for query performance and simplified analytical reporting.</a:t>
            </a:r>
          </a:p>
          <a:p>
            <a:pPr algn="l">
              <a:lnSpc>
                <a:spcPts val="2629"/>
              </a:lnSpc>
              <a:spcBef>
                <a:spcPct val="0"/>
              </a:spcBef>
            </a:pPr>
          </a:p>
        </p:txBody>
      </p:sp>
      <p:sp>
        <p:nvSpPr>
          <p:cNvPr name="TextBox 10" id="10"/>
          <p:cNvSpPr txBox="true"/>
          <p:nvPr/>
        </p:nvSpPr>
        <p:spPr>
          <a:xfrm rot="0">
            <a:off x="2569160" y="1577621"/>
            <a:ext cx="7360696" cy="768902"/>
          </a:xfrm>
          <a:prstGeom prst="rect">
            <a:avLst/>
          </a:prstGeom>
        </p:spPr>
        <p:txBody>
          <a:bodyPr anchor="t" rtlCol="false" tIns="0" lIns="0" bIns="0" rIns="0">
            <a:spAutoFit/>
          </a:bodyPr>
          <a:lstStyle/>
          <a:p>
            <a:pPr algn="l">
              <a:lnSpc>
                <a:spcPts val="6300"/>
              </a:lnSpc>
              <a:spcBef>
                <a:spcPct val="0"/>
              </a:spcBef>
            </a:pPr>
            <a:r>
              <a:rPr lang="en-US" sz="4500">
                <a:solidFill>
                  <a:srgbClr val="051D40"/>
                </a:solidFill>
                <a:latin typeface="Montserrat"/>
                <a:ea typeface="Montserrat"/>
                <a:cs typeface="Montserrat"/>
                <a:sym typeface="Montserrat"/>
              </a:rPr>
              <a:t>Data Warehouse Design</a:t>
            </a:r>
          </a:p>
        </p:txBody>
      </p:sp>
      <p:sp>
        <p:nvSpPr>
          <p:cNvPr name="TextBox 11" id="11"/>
          <p:cNvSpPr txBox="true"/>
          <p:nvPr/>
        </p:nvSpPr>
        <p:spPr>
          <a:xfrm rot="0">
            <a:off x="11901605" y="3024425"/>
            <a:ext cx="3695693" cy="771523"/>
          </a:xfrm>
          <a:prstGeom prst="rect">
            <a:avLst/>
          </a:prstGeom>
        </p:spPr>
        <p:txBody>
          <a:bodyPr anchor="t" rtlCol="false" tIns="0" lIns="0" bIns="0" rIns="0">
            <a:spAutoFit/>
          </a:bodyPr>
          <a:lstStyle/>
          <a:p>
            <a:pPr algn="l">
              <a:lnSpc>
                <a:spcPts val="6300"/>
              </a:lnSpc>
              <a:spcBef>
                <a:spcPct val="0"/>
              </a:spcBef>
            </a:pPr>
            <a:r>
              <a:rPr lang="en-US" sz="4500">
                <a:solidFill>
                  <a:srgbClr val="FDFDFD"/>
                </a:solidFill>
                <a:latin typeface="Montserrat"/>
                <a:ea typeface="Montserrat"/>
                <a:cs typeface="Montserrat"/>
                <a:sym typeface="Montserrat"/>
              </a:rPr>
              <a:t>Star Schema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3266830" y="0"/>
            <a:ext cx="5021170" cy="10287000"/>
            <a:chOff x="0" y="0"/>
            <a:chExt cx="1322448" cy="2709333"/>
          </a:xfrm>
        </p:grpSpPr>
        <p:sp>
          <p:nvSpPr>
            <p:cNvPr name="Freeform 3" id="3"/>
            <p:cNvSpPr/>
            <p:nvPr/>
          </p:nvSpPr>
          <p:spPr>
            <a:xfrm flipH="false" flipV="false" rot="0">
              <a:off x="0" y="0"/>
              <a:ext cx="1322448" cy="2709333"/>
            </a:xfrm>
            <a:custGeom>
              <a:avLst/>
              <a:gdLst/>
              <a:ahLst/>
              <a:cxnLst/>
              <a:rect r="r" b="b" t="t" l="l"/>
              <a:pathLst>
                <a:path h="2709333" w="1322448">
                  <a:moveTo>
                    <a:pt x="0" y="0"/>
                  </a:moveTo>
                  <a:lnTo>
                    <a:pt x="1322448" y="0"/>
                  </a:lnTo>
                  <a:lnTo>
                    <a:pt x="1322448" y="2709333"/>
                  </a:lnTo>
                  <a:lnTo>
                    <a:pt x="0" y="2709333"/>
                  </a:lnTo>
                  <a:close/>
                </a:path>
              </a:pathLst>
            </a:custGeom>
            <a:solidFill>
              <a:srgbClr val="051D40"/>
            </a:solidFill>
          </p:spPr>
        </p:sp>
        <p:sp>
          <p:nvSpPr>
            <p:cNvPr name="TextBox 4" id="4"/>
            <p:cNvSpPr txBox="true"/>
            <p:nvPr/>
          </p:nvSpPr>
          <p:spPr>
            <a:xfrm>
              <a:off x="0" y="-38100"/>
              <a:ext cx="1322448"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609132" y="1222804"/>
            <a:ext cx="8771000" cy="1571623"/>
          </a:xfrm>
          <a:prstGeom prst="rect">
            <a:avLst/>
          </a:prstGeom>
        </p:spPr>
        <p:txBody>
          <a:bodyPr anchor="t" rtlCol="false" tIns="0" lIns="0" bIns="0" rIns="0">
            <a:spAutoFit/>
          </a:bodyPr>
          <a:lstStyle/>
          <a:p>
            <a:pPr algn="l" marL="0" indent="0" lvl="0">
              <a:lnSpc>
                <a:spcPts val="6300"/>
              </a:lnSpc>
              <a:spcBef>
                <a:spcPct val="0"/>
              </a:spcBef>
            </a:pPr>
            <a:r>
              <a:rPr lang="en-US" b="true" sz="4500">
                <a:solidFill>
                  <a:srgbClr val="051D40"/>
                </a:solidFill>
                <a:latin typeface="Montserrat Bold"/>
                <a:ea typeface="Montserrat Bold"/>
                <a:cs typeface="Montserrat Bold"/>
                <a:sym typeface="Montserrat Bold"/>
              </a:rPr>
              <a:t>ETL </a:t>
            </a:r>
            <a:r>
              <a:rPr lang="en-US" b="true" sz="4500" strike="noStrike" u="none">
                <a:solidFill>
                  <a:srgbClr val="051D40"/>
                </a:solidFill>
                <a:latin typeface="Montserrat Bold"/>
                <a:ea typeface="Montserrat Bold"/>
                <a:cs typeface="Montserrat Bold"/>
                <a:sym typeface="Montserrat Bold"/>
              </a:rPr>
              <a:t>Process &amp; Data Integration(SSIS)</a:t>
            </a:r>
          </a:p>
        </p:txBody>
      </p:sp>
      <p:grpSp>
        <p:nvGrpSpPr>
          <p:cNvPr name="Group 6" id="6"/>
          <p:cNvGrpSpPr/>
          <p:nvPr/>
        </p:nvGrpSpPr>
        <p:grpSpPr>
          <a:xfrm rot="0">
            <a:off x="-1595820" y="-1782102"/>
            <a:ext cx="3564204" cy="35642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051D40">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a:grpSpLocks noChangeAspect="true"/>
          </p:cNvGrpSpPr>
          <p:nvPr/>
        </p:nvGrpSpPr>
        <p:grpSpPr>
          <a:xfrm rot="0">
            <a:off x="9966307" y="300249"/>
            <a:ext cx="8027935" cy="9598729"/>
            <a:chOff x="0" y="0"/>
            <a:chExt cx="8603361" cy="10286746"/>
          </a:xfrm>
        </p:grpSpPr>
        <p:sp>
          <p:nvSpPr>
            <p:cNvPr name="Freeform 10" id="10"/>
            <p:cNvSpPr/>
            <p:nvPr/>
          </p:nvSpPr>
          <p:spPr>
            <a:xfrm flipH="false" flipV="false" rot="0">
              <a:off x="-2794" y="-128"/>
              <a:ext cx="8606155" cy="10286874"/>
            </a:xfrm>
            <a:custGeom>
              <a:avLst/>
              <a:gdLst/>
              <a:ahLst/>
              <a:cxnLst/>
              <a:rect r="r" b="b" t="t" l="l"/>
              <a:pathLst>
                <a:path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solidFill>
              <a:srgbClr val="00569E"/>
            </a:solidFill>
            <a:ln w="12700">
              <a:solidFill>
                <a:srgbClr val="000000"/>
              </a:solidFill>
            </a:ln>
          </p:spPr>
        </p:sp>
      </p:grpSp>
      <p:sp>
        <p:nvSpPr>
          <p:cNvPr name="TextBox 11" id="11"/>
          <p:cNvSpPr txBox="true"/>
          <p:nvPr/>
        </p:nvSpPr>
        <p:spPr>
          <a:xfrm rot="0">
            <a:off x="1578166" y="3203978"/>
            <a:ext cx="9093156" cy="1801164"/>
          </a:xfrm>
          <a:prstGeom prst="rect">
            <a:avLst/>
          </a:prstGeom>
        </p:spPr>
        <p:txBody>
          <a:bodyPr anchor="t" rtlCol="false" tIns="0" lIns="0" bIns="0" rIns="0">
            <a:spAutoFit/>
          </a:bodyPr>
          <a:lstStyle/>
          <a:p>
            <a:pPr algn="l" marL="0" indent="0" lvl="0">
              <a:lnSpc>
                <a:spcPts val="2870"/>
              </a:lnSpc>
              <a:spcBef>
                <a:spcPct val="0"/>
              </a:spcBef>
            </a:pPr>
            <a:r>
              <a:rPr lang="en-US" sz="2050" spc="-41">
                <a:solidFill>
                  <a:srgbClr val="051D40"/>
                </a:solidFill>
                <a:latin typeface="Poppins"/>
                <a:ea typeface="Poppins"/>
                <a:cs typeface="Poppins"/>
                <a:sym typeface="Poppins"/>
              </a:rPr>
              <a:t>Th</a:t>
            </a:r>
            <a:r>
              <a:rPr lang="en-US" sz="2050" spc="-41" strike="noStrike" u="none">
                <a:solidFill>
                  <a:srgbClr val="051D40"/>
                </a:solidFill>
                <a:latin typeface="Poppins"/>
                <a:ea typeface="Poppins"/>
                <a:cs typeface="Poppins"/>
                <a:sym typeface="Poppins"/>
              </a:rPr>
              <a:t>is phase focused on the ETL process, starting with extracting data from multiple sources, loading it into staging tables for cleaning and transformation, then building dimension and fact tables. Finally, the data was structured into a star schema to ensure accuracy, historical tracking, and optimized analytical queries.</a:t>
            </a:r>
          </a:p>
        </p:txBody>
      </p:sp>
      <p:grpSp>
        <p:nvGrpSpPr>
          <p:cNvPr name="Group 12" id="12"/>
          <p:cNvGrpSpPr/>
          <p:nvPr/>
        </p:nvGrpSpPr>
        <p:grpSpPr>
          <a:xfrm rot="0">
            <a:off x="14700679" y="7074186"/>
            <a:ext cx="5946973" cy="594697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594175" y="8410948"/>
            <a:ext cx="11402164" cy="711357"/>
          </a:xfrm>
          <a:custGeom>
            <a:avLst/>
            <a:gdLst/>
            <a:ahLst/>
            <a:cxnLst/>
            <a:rect r="r" b="b" t="t" l="l"/>
            <a:pathLst>
              <a:path h="711357" w="11402164">
                <a:moveTo>
                  <a:pt x="0" y="0"/>
                </a:moveTo>
                <a:lnTo>
                  <a:pt x="11402164" y="0"/>
                </a:lnTo>
                <a:lnTo>
                  <a:pt x="11402164" y="711358"/>
                </a:lnTo>
                <a:lnTo>
                  <a:pt x="0" y="711358"/>
                </a:lnTo>
                <a:lnTo>
                  <a:pt x="0" y="0"/>
                </a:lnTo>
                <a:close/>
              </a:path>
            </a:pathLst>
          </a:custGeom>
          <a:blipFill>
            <a:blip r:embed="rId2"/>
            <a:stretch>
              <a:fillRect l="0" t="-216567" r="0" b="0"/>
            </a:stretch>
          </a:blipFill>
        </p:spPr>
      </p:sp>
      <p:grpSp>
        <p:nvGrpSpPr>
          <p:cNvPr name="Group 16" id="16"/>
          <p:cNvGrpSpPr/>
          <p:nvPr/>
        </p:nvGrpSpPr>
        <p:grpSpPr>
          <a:xfrm rot="0">
            <a:off x="431140" y="5471843"/>
            <a:ext cx="11387207" cy="3786457"/>
            <a:chOff x="0" y="0"/>
            <a:chExt cx="15182943" cy="5048609"/>
          </a:xfrm>
        </p:grpSpPr>
        <p:grpSp>
          <p:nvGrpSpPr>
            <p:cNvPr name="Group 17" id="17"/>
            <p:cNvGrpSpPr/>
            <p:nvPr/>
          </p:nvGrpSpPr>
          <p:grpSpPr>
            <a:xfrm rot="0">
              <a:off x="0" y="438011"/>
              <a:ext cx="15182943" cy="4398299"/>
              <a:chOff x="0" y="0"/>
              <a:chExt cx="2999100" cy="868800"/>
            </a:xfrm>
          </p:grpSpPr>
          <p:sp>
            <p:nvSpPr>
              <p:cNvPr name="Freeform 18" id="18"/>
              <p:cNvSpPr/>
              <p:nvPr/>
            </p:nvSpPr>
            <p:spPr>
              <a:xfrm flipH="false" flipV="false" rot="0">
                <a:off x="0" y="0"/>
                <a:ext cx="2999100" cy="868800"/>
              </a:xfrm>
              <a:custGeom>
                <a:avLst/>
                <a:gdLst/>
                <a:ahLst/>
                <a:cxnLst/>
                <a:rect r="r" b="b" t="t" l="l"/>
                <a:pathLst>
                  <a:path h="868800" w="2999100">
                    <a:moveTo>
                      <a:pt x="9518" y="0"/>
                    </a:moveTo>
                    <a:lnTo>
                      <a:pt x="2989581" y="0"/>
                    </a:lnTo>
                    <a:cubicBezTo>
                      <a:pt x="2992106" y="0"/>
                      <a:pt x="2994527" y="1003"/>
                      <a:pt x="2996312" y="2788"/>
                    </a:cubicBezTo>
                    <a:cubicBezTo>
                      <a:pt x="2998097" y="4573"/>
                      <a:pt x="2999100" y="6994"/>
                      <a:pt x="2999100" y="9518"/>
                    </a:cubicBezTo>
                    <a:lnTo>
                      <a:pt x="2999100" y="859282"/>
                    </a:lnTo>
                    <a:cubicBezTo>
                      <a:pt x="2999100" y="861806"/>
                      <a:pt x="2998097" y="864227"/>
                      <a:pt x="2996312" y="866012"/>
                    </a:cubicBezTo>
                    <a:cubicBezTo>
                      <a:pt x="2994527" y="867797"/>
                      <a:pt x="2992106" y="868800"/>
                      <a:pt x="2989581" y="868800"/>
                    </a:cubicBezTo>
                    <a:lnTo>
                      <a:pt x="9518" y="868800"/>
                    </a:lnTo>
                    <a:cubicBezTo>
                      <a:pt x="4261" y="868800"/>
                      <a:pt x="0" y="864538"/>
                      <a:pt x="0" y="859282"/>
                    </a:cubicBezTo>
                    <a:lnTo>
                      <a:pt x="0" y="9518"/>
                    </a:lnTo>
                    <a:cubicBezTo>
                      <a:pt x="0" y="6994"/>
                      <a:pt x="1003" y="4573"/>
                      <a:pt x="2788" y="2788"/>
                    </a:cubicBezTo>
                    <a:cubicBezTo>
                      <a:pt x="4573" y="1003"/>
                      <a:pt x="6994" y="0"/>
                      <a:pt x="9518" y="0"/>
                    </a:cubicBezTo>
                    <a:close/>
                  </a:path>
                </a:pathLst>
              </a:custGeom>
              <a:solidFill>
                <a:srgbClr val="00569E"/>
              </a:solidFill>
            </p:spPr>
          </p:sp>
          <p:sp>
            <p:nvSpPr>
              <p:cNvPr name="TextBox 19" id="19"/>
              <p:cNvSpPr txBox="true"/>
              <p:nvPr/>
            </p:nvSpPr>
            <p:spPr>
              <a:xfrm>
                <a:off x="0" y="-38100"/>
                <a:ext cx="2999100" cy="9069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861948" y="0"/>
              <a:ext cx="3696226" cy="914071"/>
              <a:chOff x="0" y="0"/>
              <a:chExt cx="1013291" cy="250585"/>
            </a:xfrm>
          </p:grpSpPr>
          <p:sp>
            <p:nvSpPr>
              <p:cNvPr name="Freeform 21" id="21"/>
              <p:cNvSpPr/>
              <p:nvPr/>
            </p:nvSpPr>
            <p:spPr>
              <a:xfrm flipH="false" flipV="false" rot="0">
                <a:off x="0" y="0"/>
                <a:ext cx="1013291" cy="250585"/>
              </a:xfrm>
              <a:custGeom>
                <a:avLst/>
                <a:gdLst/>
                <a:ahLst/>
                <a:cxnLst/>
                <a:rect r="r" b="b" t="t" l="l"/>
                <a:pathLst>
                  <a:path h="250585" w="1013291">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2" id="22"/>
              <p:cNvSpPr txBox="true"/>
              <p:nvPr/>
            </p:nvSpPr>
            <p:spPr>
              <a:xfrm>
                <a:off x="0" y="-66675"/>
                <a:ext cx="1013291"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DFDFD"/>
                    </a:solidFill>
                    <a:latin typeface="Poppins Bold"/>
                    <a:ea typeface="Poppins Bold"/>
                    <a:cs typeface="Poppins Bold"/>
                    <a:sym typeface="Poppins Bold"/>
                  </a:rPr>
                  <a:t>Ext</a:t>
                </a:r>
                <a:r>
                  <a:rPr lang="en-US" b="true" sz="2486" strike="noStrike" u="none">
                    <a:solidFill>
                      <a:srgbClr val="FDFDFD"/>
                    </a:solidFill>
                    <a:latin typeface="Poppins Bold"/>
                    <a:ea typeface="Poppins Bold"/>
                    <a:cs typeface="Poppins Bold"/>
                    <a:sym typeface="Poppins Bold"/>
                  </a:rPr>
                  <a:t>ract</a:t>
                </a:r>
              </a:p>
            </p:txBody>
          </p:sp>
        </p:grpSp>
        <p:grpSp>
          <p:nvGrpSpPr>
            <p:cNvPr name="Group 23" id="23"/>
            <p:cNvGrpSpPr/>
            <p:nvPr/>
          </p:nvGrpSpPr>
          <p:grpSpPr>
            <a:xfrm rot="0">
              <a:off x="5737700" y="0"/>
              <a:ext cx="3696226" cy="914071"/>
              <a:chOff x="0" y="0"/>
              <a:chExt cx="1013291" cy="250585"/>
            </a:xfrm>
          </p:grpSpPr>
          <p:sp>
            <p:nvSpPr>
              <p:cNvPr name="Freeform 24" id="24"/>
              <p:cNvSpPr/>
              <p:nvPr/>
            </p:nvSpPr>
            <p:spPr>
              <a:xfrm flipH="false" flipV="false" rot="0">
                <a:off x="0" y="0"/>
                <a:ext cx="1013291" cy="250585"/>
              </a:xfrm>
              <a:custGeom>
                <a:avLst/>
                <a:gdLst/>
                <a:ahLst/>
                <a:cxnLst/>
                <a:rect r="r" b="b" t="t" l="l"/>
                <a:pathLst>
                  <a:path h="250585" w="1013291">
                    <a:moveTo>
                      <a:pt x="125293" y="0"/>
                    </a:moveTo>
                    <a:lnTo>
                      <a:pt x="887999" y="0"/>
                    </a:lnTo>
                    <a:cubicBezTo>
                      <a:pt x="921228" y="0"/>
                      <a:pt x="953097" y="13200"/>
                      <a:pt x="976594" y="36697"/>
                    </a:cubicBezTo>
                    <a:cubicBezTo>
                      <a:pt x="1000091" y="60194"/>
                      <a:pt x="1013291" y="92063"/>
                      <a:pt x="1013291" y="125293"/>
                    </a:cubicBezTo>
                    <a:lnTo>
                      <a:pt x="1013291" y="125293"/>
                    </a:lnTo>
                    <a:cubicBezTo>
                      <a:pt x="1013291" y="158522"/>
                      <a:pt x="1000091" y="190391"/>
                      <a:pt x="976594" y="213888"/>
                    </a:cubicBezTo>
                    <a:cubicBezTo>
                      <a:pt x="953097" y="237385"/>
                      <a:pt x="921228" y="250585"/>
                      <a:pt x="887999"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5" id="25"/>
              <p:cNvSpPr txBox="true"/>
              <p:nvPr/>
            </p:nvSpPr>
            <p:spPr>
              <a:xfrm>
                <a:off x="0" y="-66675"/>
                <a:ext cx="1013291"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DFDFD"/>
                    </a:solidFill>
                    <a:latin typeface="Poppins Bold"/>
                    <a:ea typeface="Poppins Bold"/>
                    <a:cs typeface="Poppins Bold"/>
                    <a:sym typeface="Poppins Bold"/>
                  </a:rPr>
                  <a:t>T</a:t>
                </a:r>
                <a:r>
                  <a:rPr lang="en-US" b="true" sz="2486" strike="noStrike" u="none">
                    <a:solidFill>
                      <a:srgbClr val="FDFDFD"/>
                    </a:solidFill>
                    <a:latin typeface="Poppins Bold"/>
                    <a:ea typeface="Poppins Bold"/>
                    <a:cs typeface="Poppins Bold"/>
                    <a:sym typeface="Poppins Bold"/>
                  </a:rPr>
                  <a:t>ransform</a:t>
                </a:r>
              </a:p>
            </p:txBody>
          </p:sp>
        </p:grpSp>
        <p:grpSp>
          <p:nvGrpSpPr>
            <p:cNvPr name="Group 26" id="26"/>
            <p:cNvGrpSpPr/>
            <p:nvPr/>
          </p:nvGrpSpPr>
          <p:grpSpPr>
            <a:xfrm rot="0">
              <a:off x="10613453" y="0"/>
              <a:ext cx="3560213" cy="914071"/>
              <a:chOff x="0" y="0"/>
              <a:chExt cx="976004" cy="250585"/>
            </a:xfrm>
          </p:grpSpPr>
          <p:sp>
            <p:nvSpPr>
              <p:cNvPr name="Freeform 27" id="27"/>
              <p:cNvSpPr/>
              <p:nvPr/>
            </p:nvSpPr>
            <p:spPr>
              <a:xfrm flipH="false" flipV="false" rot="0">
                <a:off x="0" y="0"/>
                <a:ext cx="976004" cy="250585"/>
              </a:xfrm>
              <a:custGeom>
                <a:avLst/>
                <a:gdLst/>
                <a:ahLst/>
                <a:cxnLst/>
                <a:rect r="r" b="b" t="t" l="l"/>
                <a:pathLst>
                  <a:path h="250585" w="976004">
                    <a:moveTo>
                      <a:pt x="125293" y="0"/>
                    </a:moveTo>
                    <a:lnTo>
                      <a:pt x="850712" y="0"/>
                    </a:lnTo>
                    <a:cubicBezTo>
                      <a:pt x="883941" y="0"/>
                      <a:pt x="915810" y="13200"/>
                      <a:pt x="939307" y="36697"/>
                    </a:cubicBezTo>
                    <a:cubicBezTo>
                      <a:pt x="962804" y="60194"/>
                      <a:pt x="976004" y="92063"/>
                      <a:pt x="976004" y="125293"/>
                    </a:cubicBezTo>
                    <a:lnTo>
                      <a:pt x="976004" y="125293"/>
                    </a:lnTo>
                    <a:cubicBezTo>
                      <a:pt x="976004" y="158522"/>
                      <a:pt x="962804" y="190391"/>
                      <a:pt x="939307" y="213888"/>
                    </a:cubicBezTo>
                    <a:cubicBezTo>
                      <a:pt x="915810" y="237385"/>
                      <a:pt x="883941" y="250585"/>
                      <a:pt x="850712" y="250585"/>
                    </a:cubicBezTo>
                    <a:lnTo>
                      <a:pt x="125293" y="250585"/>
                    </a:lnTo>
                    <a:cubicBezTo>
                      <a:pt x="92063" y="250585"/>
                      <a:pt x="60194" y="237385"/>
                      <a:pt x="36697" y="213888"/>
                    </a:cubicBezTo>
                    <a:cubicBezTo>
                      <a:pt x="13200" y="190391"/>
                      <a:pt x="0" y="158522"/>
                      <a:pt x="0" y="125293"/>
                    </a:cubicBezTo>
                    <a:lnTo>
                      <a:pt x="0" y="125293"/>
                    </a:lnTo>
                    <a:cubicBezTo>
                      <a:pt x="0" y="92063"/>
                      <a:pt x="13200" y="60194"/>
                      <a:pt x="36697" y="36697"/>
                    </a:cubicBezTo>
                    <a:cubicBezTo>
                      <a:pt x="60194" y="13200"/>
                      <a:pt x="92063" y="0"/>
                      <a:pt x="125293" y="0"/>
                    </a:cubicBezTo>
                    <a:close/>
                  </a:path>
                </a:pathLst>
              </a:custGeom>
              <a:gradFill rotWithShape="true">
                <a:gsLst>
                  <a:gs pos="0">
                    <a:srgbClr val="00569E">
                      <a:alpha val="100000"/>
                    </a:srgbClr>
                  </a:gs>
                  <a:gs pos="100000">
                    <a:srgbClr val="014074">
                      <a:alpha val="100000"/>
                    </a:srgbClr>
                  </a:gs>
                </a:gsLst>
                <a:path path="circle">
                  <a:fillToRect l="0" r="100000" t="0" b="100000"/>
                </a:path>
                <a:tileRect r="0" l="-100000" b="0" t="-100000"/>
              </a:gradFill>
              <a:ln cap="rnd">
                <a:noFill/>
                <a:prstDash val="solid"/>
                <a:round/>
              </a:ln>
            </p:spPr>
          </p:sp>
          <p:sp>
            <p:nvSpPr>
              <p:cNvPr name="TextBox 28" id="28"/>
              <p:cNvSpPr txBox="true"/>
              <p:nvPr/>
            </p:nvSpPr>
            <p:spPr>
              <a:xfrm>
                <a:off x="0" y="-66675"/>
                <a:ext cx="976004" cy="317260"/>
              </a:xfrm>
              <a:prstGeom prst="rect">
                <a:avLst/>
              </a:prstGeom>
            </p:spPr>
            <p:txBody>
              <a:bodyPr anchor="ctr" rtlCol="false" tIns="0" lIns="0" bIns="0" rIns="0"/>
              <a:lstStyle/>
              <a:p>
                <a:pPr algn="ctr" marL="0" indent="0" lvl="0">
                  <a:lnSpc>
                    <a:spcPts val="3480"/>
                  </a:lnSpc>
                  <a:spcBef>
                    <a:spcPct val="0"/>
                  </a:spcBef>
                </a:pPr>
                <a:r>
                  <a:rPr lang="en-US" b="true" sz="2486">
                    <a:solidFill>
                      <a:srgbClr val="FDFDFD"/>
                    </a:solidFill>
                    <a:latin typeface="Poppins Bold"/>
                    <a:ea typeface="Poppins Bold"/>
                    <a:cs typeface="Poppins Bold"/>
                    <a:sym typeface="Poppins Bold"/>
                  </a:rPr>
                  <a:t>L</a:t>
                </a:r>
                <a:r>
                  <a:rPr lang="en-US" b="true" sz="2486" strike="noStrike" u="none">
                    <a:solidFill>
                      <a:srgbClr val="FDFDFD"/>
                    </a:solidFill>
                    <a:latin typeface="Poppins Bold"/>
                    <a:ea typeface="Poppins Bold"/>
                    <a:cs typeface="Poppins Bold"/>
                    <a:sym typeface="Poppins Bold"/>
                  </a:rPr>
                  <a:t>oad</a:t>
                </a:r>
              </a:p>
            </p:txBody>
          </p:sp>
        </p:grpSp>
        <p:sp>
          <p:nvSpPr>
            <p:cNvPr name="TextBox 29" id="29"/>
            <p:cNvSpPr txBox="true"/>
            <p:nvPr/>
          </p:nvSpPr>
          <p:spPr>
            <a:xfrm rot="0">
              <a:off x="935729" y="1120446"/>
              <a:ext cx="3548664" cy="3928163"/>
            </a:xfrm>
            <a:prstGeom prst="rect">
              <a:avLst/>
            </a:prstGeom>
          </p:spPr>
          <p:txBody>
            <a:bodyPr anchor="t" rtlCol="false" tIns="0" lIns="0" bIns="0" rIns="0">
              <a:spAutoFit/>
            </a:bodyPr>
            <a:lstStyle/>
            <a:p>
              <a:pPr algn="ctr">
                <a:lnSpc>
                  <a:spcPts val="2334"/>
                </a:lnSpc>
                <a:spcBef>
                  <a:spcPct val="0"/>
                </a:spcBef>
              </a:pPr>
              <a:r>
                <a:rPr lang="en-US" sz="1667" spc="-33">
                  <a:solidFill>
                    <a:srgbClr val="FDFDFD"/>
                  </a:solidFill>
                  <a:latin typeface="Poppins"/>
                  <a:ea typeface="Poppins"/>
                  <a:cs typeface="Poppins"/>
                  <a:sym typeface="Poppins"/>
                </a:rPr>
                <a:t>Pull</a:t>
              </a:r>
              <a:r>
                <a:rPr lang="en-US" sz="1667" spc="-33" strike="noStrike" u="none">
                  <a:solidFill>
                    <a:srgbClr val="FDFDFD"/>
                  </a:solidFill>
                  <a:latin typeface="Poppins"/>
                  <a:ea typeface="Poppins"/>
                  <a:cs typeface="Poppins"/>
                  <a:sym typeface="Poppins"/>
                </a:rPr>
                <a:t>ed data from the OLTP database (AdventureWorks) into the Staging database.</a:t>
              </a:r>
            </a:p>
            <a:p>
              <a:pPr algn="ctr">
                <a:lnSpc>
                  <a:spcPts val="2334"/>
                </a:lnSpc>
                <a:spcBef>
                  <a:spcPct val="0"/>
                </a:spcBef>
              </a:pPr>
            </a:p>
            <a:p>
              <a:pPr algn="ctr">
                <a:lnSpc>
                  <a:spcPts val="2334"/>
                </a:lnSpc>
                <a:spcBef>
                  <a:spcPct val="0"/>
                </a:spcBef>
              </a:pPr>
              <a:r>
                <a:rPr lang="en-US" sz="1667" spc="-33" strike="noStrike" u="none">
                  <a:solidFill>
                    <a:srgbClr val="FDFDFD"/>
                  </a:solidFill>
                  <a:latin typeface="Poppins"/>
                  <a:ea typeface="Poppins"/>
                  <a:cs typeface="Poppins"/>
                  <a:sym typeface="Poppins"/>
                </a:rPr>
                <a:t>Used SSIS packages for scheduled and incremental data extraction.</a:t>
              </a:r>
            </a:p>
            <a:p>
              <a:pPr algn="ctr" marL="0" indent="0" lvl="0">
                <a:lnSpc>
                  <a:spcPts val="2334"/>
                </a:lnSpc>
                <a:spcBef>
                  <a:spcPct val="0"/>
                </a:spcBef>
              </a:pPr>
            </a:p>
          </p:txBody>
        </p:sp>
        <p:sp>
          <p:nvSpPr>
            <p:cNvPr name="TextBox 30" id="30"/>
            <p:cNvSpPr txBox="true"/>
            <p:nvPr/>
          </p:nvSpPr>
          <p:spPr>
            <a:xfrm rot="0">
              <a:off x="5853458" y="1120446"/>
              <a:ext cx="3806813" cy="3928163"/>
            </a:xfrm>
            <a:prstGeom prst="rect">
              <a:avLst/>
            </a:prstGeom>
          </p:spPr>
          <p:txBody>
            <a:bodyPr anchor="t" rtlCol="false" tIns="0" lIns="0" bIns="0" rIns="0">
              <a:spAutoFit/>
            </a:bodyPr>
            <a:lstStyle/>
            <a:p>
              <a:pPr algn="ctr" marL="0" indent="0" lvl="0">
                <a:lnSpc>
                  <a:spcPts val="2119"/>
                </a:lnSpc>
                <a:spcBef>
                  <a:spcPct val="0"/>
                </a:spcBef>
              </a:pPr>
              <a:r>
                <a:rPr lang="en-US" sz="1513" spc="-30">
                  <a:solidFill>
                    <a:srgbClr val="FDFDFD"/>
                  </a:solidFill>
                  <a:latin typeface="Poppins"/>
                  <a:ea typeface="Poppins"/>
                  <a:cs typeface="Poppins"/>
                  <a:sym typeface="Poppins"/>
                </a:rPr>
                <a:t>Data</a:t>
              </a:r>
              <a:r>
                <a:rPr lang="en-US" sz="1513" spc="-30" strike="noStrike" u="none">
                  <a:solidFill>
                    <a:srgbClr val="FDFDFD"/>
                  </a:solidFill>
                  <a:latin typeface="Poppins"/>
                  <a:ea typeface="Poppins"/>
                  <a:cs typeface="Poppins"/>
                  <a:sym typeface="Poppins"/>
                </a:rPr>
                <a:t> cleansing (handling NULLs, fixing inconsistent formats).</a:t>
              </a:r>
            </a:p>
            <a:p>
              <a:pPr algn="ctr">
                <a:lnSpc>
                  <a:spcPts val="2119"/>
                </a:lnSpc>
                <a:spcBef>
                  <a:spcPct val="0"/>
                </a:spcBef>
              </a:pPr>
            </a:p>
            <a:p>
              <a:pPr algn="ctr" marL="0" indent="0" lvl="0">
                <a:lnSpc>
                  <a:spcPts val="2119"/>
                </a:lnSpc>
                <a:spcBef>
                  <a:spcPct val="0"/>
                </a:spcBef>
              </a:pPr>
              <a:r>
                <a:rPr lang="en-US" sz="1513" spc="-30" strike="noStrike" u="none">
                  <a:solidFill>
                    <a:srgbClr val="FDFDFD"/>
                  </a:solidFill>
                  <a:latin typeface="Poppins"/>
                  <a:ea typeface="Poppins"/>
                  <a:cs typeface="Poppins"/>
                  <a:sym typeface="Poppins"/>
                </a:rPr>
                <a:t>Surrogate key generation for dimension tables.</a:t>
              </a:r>
            </a:p>
            <a:p>
              <a:pPr algn="ctr">
                <a:lnSpc>
                  <a:spcPts val="2119"/>
                </a:lnSpc>
                <a:spcBef>
                  <a:spcPct val="0"/>
                </a:spcBef>
              </a:pPr>
            </a:p>
            <a:p>
              <a:pPr algn="ctr">
                <a:lnSpc>
                  <a:spcPts val="2119"/>
                </a:lnSpc>
                <a:spcBef>
                  <a:spcPct val="0"/>
                </a:spcBef>
              </a:pPr>
              <a:r>
                <a:rPr lang="en-US" sz="1513" spc="-30" strike="noStrike" u="none">
                  <a:solidFill>
                    <a:srgbClr val="FDFDFD"/>
                  </a:solidFill>
                  <a:latin typeface="Poppins"/>
                  <a:ea typeface="Poppins"/>
                  <a:cs typeface="Poppins"/>
                  <a:sym typeface="Poppins"/>
                </a:rPr>
                <a:t>Implemented SCD logic for DimCustomer (Type 1) and DimProduct (Type 2).</a:t>
              </a:r>
            </a:p>
            <a:p>
              <a:pPr algn="ctr" marL="0" indent="0" lvl="0">
                <a:lnSpc>
                  <a:spcPts val="2119"/>
                </a:lnSpc>
                <a:spcBef>
                  <a:spcPct val="0"/>
                </a:spcBef>
              </a:pPr>
            </a:p>
          </p:txBody>
        </p:sp>
        <p:sp>
          <p:nvSpPr>
            <p:cNvPr name="TextBox 31" id="31"/>
            <p:cNvSpPr txBox="true"/>
            <p:nvPr/>
          </p:nvSpPr>
          <p:spPr>
            <a:xfrm rot="0">
              <a:off x="10773941" y="1120446"/>
              <a:ext cx="3548664" cy="3928163"/>
            </a:xfrm>
            <a:prstGeom prst="rect">
              <a:avLst/>
            </a:prstGeom>
          </p:spPr>
          <p:txBody>
            <a:bodyPr anchor="t" rtlCol="false" tIns="0" lIns="0" bIns="0" rIns="0">
              <a:spAutoFit/>
            </a:bodyPr>
            <a:lstStyle/>
            <a:p>
              <a:pPr algn="ctr" marL="0" indent="0" lvl="0">
                <a:lnSpc>
                  <a:spcPts val="2334"/>
                </a:lnSpc>
                <a:spcBef>
                  <a:spcPct val="0"/>
                </a:spcBef>
              </a:pPr>
              <a:r>
                <a:rPr lang="en-US" sz="1667" spc="-33" strike="noStrike" u="none">
                  <a:solidFill>
                    <a:srgbClr val="FDFDFD"/>
                  </a:solidFill>
                  <a:latin typeface="Poppins"/>
                  <a:ea typeface="Poppins"/>
                  <a:cs typeface="Poppins"/>
                  <a:sym typeface="Poppins"/>
                </a:rPr>
                <a:t>Loaded cleaned and transformed data into dimension and fact tables in the DW.</a:t>
              </a:r>
            </a:p>
            <a:p>
              <a:pPr algn="ctr">
                <a:lnSpc>
                  <a:spcPts val="2334"/>
                </a:lnSpc>
                <a:spcBef>
                  <a:spcPct val="0"/>
                </a:spcBef>
              </a:pPr>
            </a:p>
            <a:p>
              <a:pPr algn="ctr">
                <a:lnSpc>
                  <a:spcPts val="2334"/>
                </a:lnSpc>
                <a:spcBef>
                  <a:spcPct val="0"/>
                </a:spcBef>
              </a:pPr>
              <a:r>
                <a:rPr lang="en-US" sz="1667" spc="-33" strike="noStrike" u="none">
                  <a:solidFill>
                    <a:srgbClr val="FDFDFD"/>
                  </a:solidFill>
                  <a:latin typeface="Poppins"/>
                  <a:ea typeface="Poppins"/>
                  <a:cs typeface="Poppins"/>
                  <a:sym typeface="Poppins"/>
                </a:rPr>
                <a:t>Applied clustered columnstore index on FactSales for query optimization.</a:t>
              </a:r>
            </a:p>
            <a:p>
              <a:pPr algn="ctr" marL="0" indent="0" lvl="0">
                <a:lnSpc>
                  <a:spcPts val="2334"/>
                </a:lnSpc>
                <a:spcBef>
                  <a:spcPct val="0"/>
                </a:spcBef>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569160" y="4134206"/>
            <a:ext cx="13296410" cy="3431332"/>
          </a:xfrm>
          <a:custGeom>
            <a:avLst/>
            <a:gdLst/>
            <a:ahLst/>
            <a:cxnLst/>
            <a:rect r="r" b="b" t="t" l="l"/>
            <a:pathLst>
              <a:path h="3431332" w="13296410">
                <a:moveTo>
                  <a:pt x="0" y="0"/>
                </a:moveTo>
                <a:lnTo>
                  <a:pt x="13296410" y="0"/>
                </a:lnTo>
                <a:lnTo>
                  <a:pt x="13296410" y="3431332"/>
                </a:lnTo>
                <a:lnTo>
                  <a:pt x="0" y="3431332"/>
                </a:lnTo>
                <a:lnTo>
                  <a:pt x="0" y="0"/>
                </a:lnTo>
                <a:close/>
              </a:path>
            </a:pathLst>
          </a:custGeom>
          <a:blipFill>
            <a:blip r:embed="rId2"/>
            <a:stretch>
              <a:fillRect l="0" t="0" r="0" b="0"/>
            </a:stretch>
          </a:blipFill>
        </p:spPr>
      </p:sp>
      <p:sp>
        <p:nvSpPr>
          <p:cNvPr name="TextBox 9" id="9"/>
          <p:cNvSpPr txBox="true"/>
          <p:nvPr/>
        </p:nvSpPr>
        <p:spPr>
          <a:xfrm rot="0">
            <a:off x="5417025" y="1895726"/>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ETL Pipeline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410559" y="5485480"/>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3" id="3"/>
          <p:cNvGrpSpPr/>
          <p:nvPr/>
        </p:nvGrpSpPr>
        <p:grpSpPr>
          <a:xfrm rot="0">
            <a:off x="2496900" y="1651742"/>
            <a:ext cx="3669117" cy="4410615"/>
            <a:chOff x="0" y="0"/>
            <a:chExt cx="976238" cy="1173527"/>
          </a:xfrm>
        </p:grpSpPr>
        <p:sp>
          <p:nvSpPr>
            <p:cNvPr name="Freeform 4" id="4"/>
            <p:cNvSpPr/>
            <p:nvPr/>
          </p:nvSpPr>
          <p:spPr>
            <a:xfrm flipH="false" flipV="false" rot="0">
              <a:off x="0" y="0"/>
              <a:ext cx="976238" cy="1173527"/>
            </a:xfrm>
            <a:custGeom>
              <a:avLst/>
              <a:gdLst/>
              <a:ahLst/>
              <a:cxnLst/>
              <a:rect r="r" b="b" t="t" l="l"/>
              <a:pathLst>
                <a:path h="1173527" w="976238">
                  <a:moveTo>
                    <a:pt x="92841" y="0"/>
                  </a:moveTo>
                  <a:lnTo>
                    <a:pt x="883397" y="0"/>
                  </a:lnTo>
                  <a:cubicBezTo>
                    <a:pt x="908020" y="0"/>
                    <a:pt x="931634" y="9781"/>
                    <a:pt x="949045" y="27192"/>
                  </a:cubicBezTo>
                  <a:cubicBezTo>
                    <a:pt x="966456" y="44604"/>
                    <a:pt x="976238" y="68218"/>
                    <a:pt x="976238" y="92841"/>
                  </a:cubicBezTo>
                  <a:lnTo>
                    <a:pt x="976238" y="1080686"/>
                  </a:lnTo>
                  <a:cubicBezTo>
                    <a:pt x="976238" y="1131961"/>
                    <a:pt x="934671" y="1173527"/>
                    <a:pt x="883397" y="1173527"/>
                  </a:cubicBezTo>
                  <a:lnTo>
                    <a:pt x="92841" y="1173527"/>
                  </a:lnTo>
                  <a:cubicBezTo>
                    <a:pt x="68218" y="1173527"/>
                    <a:pt x="44604" y="1163746"/>
                    <a:pt x="27192" y="1146335"/>
                  </a:cubicBezTo>
                  <a:cubicBezTo>
                    <a:pt x="9781" y="1128924"/>
                    <a:pt x="0" y="1105309"/>
                    <a:pt x="0" y="1080686"/>
                  </a:cubicBezTo>
                  <a:lnTo>
                    <a:pt x="0" y="92841"/>
                  </a:lnTo>
                  <a:cubicBezTo>
                    <a:pt x="0" y="68218"/>
                    <a:pt x="9781" y="44604"/>
                    <a:pt x="27192" y="27192"/>
                  </a:cubicBezTo>
                  <a:cubicBezTo>
                    <a:pt x="44604" y="9781"/>
                    <a:pt x="68218" y="0"/>
                    <a:pt x="92841" y="0"/>
                  </a:cubicBezTo>
                  <a:close/>
                </a:path>
              </a:pathLst>
            </a:custGeom>
            <a:solidFill>
              <a:srgbClr val="FDFDFD"/>
            </a:solidFill>
          </p:spPr>
        </p:sp>
        <p:sp>
          <p:nvSpPr>
            <p:cNvPr name="TextBox 5" id="5"/>
            <p:cNvSpPr txBox="true"/>
            <p:nvPr/>
          </p:nvSpPr>
          <p:spPr>
            <a:xfrm>
              <a:off x="0" y="-38100"/>
              <a:ext cx="976238" cy="1211627"/>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6" id="6"/>
          <p:cNvGrpSpPr/>
          <p:nvPr/>
        </p:nvGrpSpPr>
        <p:grpSpPr>
          <a:xfrm rot="0">
            <a:off x="-2123887" y="-2346523"/>
            <a:ext cx="4693046" cy="46930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5573718" y="7940477"/>
            <a:ext cx="4693046" cy="46930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2824829" y="1810238"/>
            <a:ext cx="3013259" cy="3333262"/>
          </a:xfrm>
          <a:custGeom>
            <a:avLst/>
            <a:gdLst/>
            <a:ahLst/>
            <a:cxnLst/>
            <a:rect r="r" b="b" t="t" l="l"/>
            <a:pathLst>
              <a:path h="3333262" w="3013259">
                <a:moveTo>
                  <a:pt x="0" y="0"/>
                </a:moveTo>
                <a:lnTo>
                  <a:pt x="3013259" y="0"/>
                </a:lnTo>
                <a:lnTo>
                  <a:pt x="3013259" y="3333262"/>
                </a:lnTo>
                <a:lnTo>
                  <a:pt x="0" y="3333262"/>
                </a:lnTo>
                <a:lnTo>
                  <a:pt x="0" y="0"/>
                </a:lnTo>
                <a:close/>
              </a:path>
            </a:pathLst>
          </a:custGeom>
          <a:blipFill>
            <a:blip r:embed="rId3"/>
            <a:stretch>
              <a:fillRect l="0" t="-1581" r="0" b="-1581"/>
            </a:stretch>
          </a:blipFill>
        </p:spPr>
      </p:sp>
      <p:sp>
        <p:nvSpPr>
          <p:cNvPr name="Freeform 13" id="13"/>
          <p:cNvSpPr/>
          <p:nvPr/>
        </p:nvSpPr>
        <p:spPr>
          <a:xfrm flipH="false" flipV="false" rot="0">
            <a:off x="10305048" y="5485480"/>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14" id="14"/>
          <p:cNvGrpSpPr/>
          <p:nvPr/>
        </p:nvGrpSpPr>
        <p:grpSpPr>
          <a:xfrm rot="0">
            <a:off x="11391389" y="1651742"/>
            <a:ext cx="3669117" cy="4410615"/>
            <a:chOff x="0" y="0"/>
            <a:chExt cx="976238" cy="1173527"/>
          </a:xfrm>
        </p:grpSpPr>
        <p:sp>
          <p:nvSpPr>
            <p:cNvPr name="Freeform 15" id="15"/>
            <p:cNvSpPr/>
            <p:nvPr/>
          </p:nvSpPr>
          <p:spPr>
            <a:xfrm flipH="false" flipV="false" rot="0">
              <a:off x="0" y="0"/>
              <a:ext cx="976238" cy="1173527"/>
            </a:xfrm>
            <a:custGeom>
              <a:avLst/>
              <a:gdLst/>
              <a:ahLst/>
              <a:cxnLst/>
              <a:rect r="r" b="b" t="t" l="l"/>
              <a:pathLst>
                <a:path h="1173527" w="976238">
                  <a:moveTo>
                    <a:pt x="92841" y="0"/>
                  </a:moveTo>
                  <a:lnTo>
                    <a:pt x="883397" y="0"/>
                  </a:lnTo>
                  <a:cubicBezTo>
                    <a:pt x="908020" y="0"/>
                    <a:pt x="931634" y="9781"/>
                    <a:pt x="949045" y="27192"/>
                  </a:cubicBezTo>
                  <a:cubicBezTo>
                    <a:pt x="966456" y="44604"/>
                    <a:pt x="976238" y="68218"/>
                    <a:pt x="976238" y="92841"/>
                  </a:cubicBezTo>
                  <a:lnTo>
                    <a:pt x="976238" y="1080686"/>
                  </a:lnTo>
                  <a:cubicBezTo>
                    <a:pt x="976238" y="1131961"/>
                    <a:pt x="934671" y="1173527"/>
                    <a:pt x="883397" y="1173527"/>
                  </a:cubicBezTo>
                  <a:lnTo>
                    <a:pt x="92841" y="1173527"/>
                  </a:lnTo>
                  <a:cubicBezTo>
                    <a:pt x="68218" y="1173527"/>
                    <a:pt x="44604" y="1163746"/>
                    <a:pt x="27192" y="1146335"/>
                  </a:cubicBezTo>
                  <a:cubicBezTo>
                    <a:pt x="9781" y="1128924"/>
                    <a:pt x="0" y="1105309"/>
                    <a:pt x="0" y="1080686"/>
                  </a:cubicBezTo>
                  <a:lnTo>
                    <a:pt x="0" y="92841"/>
                  </a:lnTo>
                  <a:cubicBezTo>
                    <a:pt x="0" y="68218"/>
                    <a:pt x="9781" y="44604"/>
                    <a:pt x="27192" y="27192"/>
                  </a:cubicBezTo>
                  <a:cubicBezTo>
                    <a:pt x="44604" y="9781"/>
                    <a:pt x="68218" y="0"/>
                    <a:pt x="92841" y="0"/>
                  </a:cubicBezTo>
                  <a:close/>
                </a:path>
              </a:pathLst>
            </a:custGeom>
            <a:solidFill>
              <a:srgbClr val="FDFDFD"/>
            </a:solidFill>
          </p:spPr>
        </p:sp>
        <p:sp>
          <p:nvSpPr>
            <p:cNvPr name="TextBox 16" id="16"/>
            <p:cNvSpPr txBox="true"/>
            <p:nvPr/>
          </p:nvSpPr>
          <p:spPr>
            <a:xfrm>
              <a:off x="0" y="-38100"/>
              <a:ext cx="976238" cy="1211627"/>
            </a:xfrm>
            <a:prstGeom prst="rect">
              <a:avLst/>
            </a:prstGeom>
          </p:spPr>
          <p:txBody>
            <a:bodyPr anchor="ctr" rtlCol="false" tIns="50800" lIns="50800" bIns="50800" rIns="50800"/>
            <a:lstStyle/>
            <a:p>
              <a:pPr algn="ctr">
                <a:lnSpc>
                  <a:spcPts val="2659"/>
                </a:lnSpc>
              </a:pPr>
            </a:p>
            <a:p>
              <a:pPr algn="ctr">
                <a:lnSpc>
                  <a:spcPts val="2659"/>
                </a:lnSpc>
              </a:pPr>
            </a:p>
          </p:txBody>
        </p:sp>
      </p:grpSp>
      <p:sp>
        <p:nvSpPr>
          <p:cNvPr name="Freeform 17" id="17"/>
          <p:cNvSpPr/>
          <p:nvPr/>
        </p:nvSpPr>
        <p:spPr>
          <a:xfrm flipH="false" flipV="false" rot="0">
            <a:off x="11787244" y="1880233"/>
            <a:ext cx="3013259" cy="3263267"/>
          </a:xfrm>
          <a:custGeom>
            <a:avLst/>
            <a:gdLst/>
            <a:ahLst/>
            <a:cxnLst/>
            <a:rect r="r" b="b" t="t" l="l"/>
            <a:pathLst>
              <a:path h="3263267" w="3013259">
                <a:moveTo>
                  <a:pt x="0" y="0"/>
                </a:moveTo>
                <a:lnTo>
                  <a:pt x="3013259" y="0"/>
                </a:lnTo>
                <a:lnTo>
                  <a:pt x="3013259" y="3263267"/>
                </a:lnTo>
                <a:lnTo>
                  <a:pt x="0" y="3263267"/>
                </a:lnTo>
                <a:lnTo>
                  <a:pt x="0" y="0"/>
                </a:lnTo>
                <a:close/>
              </a:path>
            </a:pathLst>
          </a:custGeom>
          <a:blipFill>
            <a:blip r:embed="rId4"/>
            <a:stretch>
              <a:fillRect l="0" t="0" r="0" b="0"/>
            </a:stretch>
          </a:blipFill>
        </p:spPr>
      </p:sp>
      <p:sp>
        <p:nvSpPr>
          <p:cNvPr name="TextBox 18" id="18"/>
          <p:cNvSpPr txBox="true"/>
          <p:nvPr/>
        </p:nvSpPr>
        <p:spPr>
          <a:xfrm rot="0">
            <a:off x="5298777" y="403263"/>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ETL Pipeline </a:t>
            </a:r>
          </a:p>
        </p:txBody>
      </p:sp>
      <p:sp>
        <p:nvSpPr>
          <p:cNvPr name="TextBox 19" id="19"/>
          <p:cNvSpPr txBox="true"/>
          <p:nvPr/>
        </p:nvSpPr>
        <p:spPr>
          <a:xfrm rot="0">
            <a:off x="2892755" y="5266865"/>
            <a:ext cx="2877407"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Montserrat"/>
                <a:ea typeface="Montserrat"/>
                <a:cs typeface="Montserrat"/>
                <a:sym typeface="Montserrat"/>
              </a:rPr>
              <a:t>Initialization </a:t>
            </a:r>
          </a:p>
        </p:txBody>
      </p:sp>
      <p:sp>
        <p:nvSpPr>
          <p:cNvPr name="TextBox 20" id="20"/>
          <p:cNvSpPr txBox="true"/>
          <p:nvPr/>
        </p:nvSpPr>
        <p:spPr>
          <a:xfrm rot="0">
            <a:off x="675986" y="6572560"/>
            <a:ext cx="8349766" cy="3440999"/>
          </a:xfrm>
          <a:prstGeom prst="rect">
            <a:avLst/>
          </a:prstGeom>
        </p:spPr>
        <p:txBody>
          <a:bodyPr anchor="t" rtlCol="false" tIns="0" lIns="0" bIns="0" rIns="0">
            <a:spAutoFit/>
          </a:bodyPr>
          <a:lstStyle/>
          <a:p>
            <a:pPr algn="ctr">
              <a:lnSpc>
                <a:spcPts val="3013"/>
              </a:lnSpc>
            </a:pPr>
            <a:r>
              <a:rPr lang="en-US" sz="2152" spc="-43">
                <a:solidFill>
                  <a:srgbClr val="FDFDFD"/>
                </a:solidFill>
                <a:latin typeface="Poppins"/>
                <a:ea typeface="Poppins"/>
                <a:cs typeface="Poppins"/>
                <a:sym typeface="Poppins"/>
              </a:rPr>
              <a:t>Check for Initial Load – Determine if the process is the first run or a recovery, triggering a full reset if needed.</a:t>
            </a:r>
          </a:p>
          <a:p>
            <a:pPr algn="ctr">
              <a:lnSpc>
                <a:spcPts val="3013"/>
              </a:lnSpc>
            </a:pPr>
          </a:p>
          <a:p>
            <a:pPr algn="ctr">
              <a:lnSpc>
                <a:spcPts val="3013"/>
              </a:lnSpc>
            </a:pPr>
            <a:r>
              <a:rPr lang="en-US" sz="2152" spc="-43">
                <a:solidFill>
                  <a:srgbClr val="FDFDFD"/>
                </a:solidFill>
                <a:latin typeface="Poppins"/>
                <a:ea typeface="Poppins"/>
                <a:cs typeface="Poppins"/>
                <a:sym typeface="Poppins"/>
              </a:rPr>
              <a:t>Reset Data Warehouse – Clear existing data from fact and dimension tables to prepare for a fresh full load.</a:t>
            </a:r>
          </a:p>
          <a:p>
            <a:pPr algn="ctr">
              <a:lnSpc>
                <a:spcPts val="3013"/>
              </a:lnSpc>
            </a:pPr>
          </a:p>
          <a:p>
            <a:pPr algn="ctr">
              <a:lnSpc>
                <a:spcPts val="3013"/>
              </a:lnSpc>
              <a:spcBef>
                <a:spcPct val="0"/>
              </a:spcBef>
            </a:pPr>
            <a:r>
              <a:rPr lang="en-US" sz="2152" spc="-43">
                <a:solidFill>
                  <a:srgbClr val="FDFDFD"/>
                </a:solidFill>
                <a:latin typeface="Poppins"/>
                <a:ea typeface="Poppins"/>
                <a:cs typeface="Poppins"/>
                <a:sym typeface="Poppins"/>
              </a:rPr>
              <a:t>D</a:t>
            </a:r>
            <a:r>
              <a:rPr lang="en-US" sz="2152" spc="-43" strike="noStrike" u="none">
                <a:solidFill>
                  <a:srgbClr val="FDFDFD"/>
                </a:solidFill>
                <a:latin typeface="Poppins"/>
                <a:ea typeface="Poppins"/>
                <a:cs typeface="Poppins"/>
                <a:sym typeface="Poppins"/>
              </a:rPr>
              <a:t>isable Constraints – Temporarily remove constraints to speed up bulk data loading and prevent foreign key conflicts.</a:t>
            </a:r>
          </a:p>
          <a:p>
            <a:pPr algn="ctr" marL="0" indent="0" lvl="0">
              <a:lnSpc>
                <a:spcPts val="3013"/>
              </a:lnSpc>
              <a:spcBef>
                <a:spcPct val="0"/>
              </a:spcBef>
            </a:pPr>
          </a:p>
        </p:txBody>
      </p:sp>
      <p:sp>
        <p:nvSpPr>
          <p:cNvPr name="TextBox 21" id="21"/>
          <p:cNvSpPr txBox="true"/>
          <p:nvPr/>
        </p:nvSpPr>
        <p:spPr>
          <a:xfrm rot="0">
            <a:off x="11787244" y="5266865"/>
            <a:ext cx="2877407"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Montserrat"/>
                <a:ea typeface="Montserrat"/>
                <a:cs typeface="Montserrat"/>
                <a:sym typeface="Montserrat"/>
              </a:rPr>
              <a:t>Load Staging</a:t>
            </a:r>
          </a:p>
        </p:txBody>
      </p:sp>
      <p:sp>
        <p:nvSpPr>
          <p:cNvPr name="TextBox 22" id="22"/>
          <p:cNvSpPr txBox="true"/>
          <p:nvPr/>
        </p:nvSpPr>
        <p:spPr>
          <a:xfrm rot="0">
            <a:off x="9570475" y="6572560"/>
            <a:ext cx="8349766" cy="3821999"/>
          </a:xfrm>
          <a:prstGeom prst="rect">
            <a:avLst/>
          </a:prstGeom>
        </p:spPr>
        <p:txBody>
          <a:bodyPr anchor="t" rtlCol="false" tIns="0" lIns="0" bIns="0" rIns="0">
            <a:spAutoFit/>
          </a:bodyPr>
          <a:lstStyle/>
          <a:p>
            <a:pPr algn="ctr">
              <a:lnSpc>
                <a:spcPts val="3013"/>
              </a:lnSpc>
            </a:pPr>
            <a:r>
              <a:rPr lang="en-US" sz="2152" spc="-43">
                <a:solidFill>
                  <a:srgbClr val="FDFDFD"/>
                </a:solidFill>
                <a:latin typeface="Poppins"/>
                <a:ea typeface="Poppins"/>
                <a:cs typeface="Poppins"/>
                <a:sym typeface="Poppins"/>
              </a:rPr>
              <a:t>Retrieve ETL Watermark – Get the last successful load timestamp from metadata to support incremental data extraction.</a:t>
            </a:r>
          </a:p>
          <a:p>
            <a:pPr algn="ctr">
              <a:lnSpc>
                <a:spcPts val="3013"/>
              </a:lnSpc>
            </a:pPr>
          </a:p>
          <a:p>
            <a:pPr algn="ctr">
              <a:lnSpc>
                <a:spcPts val="3013"/>
              </a:lnSpc>
            </a:pPr>
            <a:r>
              <a:rPr lang="en-US" sz="2152" spc="-43">
                <a:solidFill>
                  <a:srgbClr val="FDFDFD"/>
                </a:solidFill>
                <a:latin typeface="Poppins"/>
                <a:ea typeface="Poppins"/>
                <a:cs typeface="Poppins"/>
                <a:sym typeface="Poppins"/>
              </a:rPr>
              <a:t>Reset Staging Tables – Clear existing staging data to ensure no duplication or contamination from previous runs.</a:t>
            </a:r>
          </a:p>
          <a:p>
            <a:pPr algn="ctr">
              <a:lnSpc>
                <a:spcPts val="3013"/>
              </a:lnSpc>
            </a:pPr>
          </a:p>
          <a:p>
            <a:pPr algn="ctr">
              <a:lnSpc>
                <a:spcPts val="3013"/>
              </a:lnSpc>
            </a:pPr>
            <a:r>
              <a:rPr lang="en-US" sz="2152" spc="-43">
                <a:solidFill>
                  <a:srgbClr val="FDFDFD"/>
                </a:solidFill>
                <a:latin typeface="Poppins"/>
                <a:ea typeface="Poppins"/>
                <a:cs typeface="Poppins"/>
                <a:sym typeface="Poppins"/>
              </a:rPr>
              <a:t>Load Staging Tables – Extract data from the OLTP source and insert it into staging tables.</a:t>
            </a:r>
          </a:p>
          <a:p>
            <a:pPr algn="ctr">
              <a:lnSpc>
                <a:spcPts val="3013"/>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929970" y="5485480"/>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3" id="3"/>
          <p:cNvGrpSpPr/>
          <p:nvPr/>
        </p:nvGrpSpPr>
        <p:grpSpPr>
          <a:xfrm rot="0">
            <a:off x="2496900" y="1651742"/>
            <a:ext cx="4755458" cy="4410615"/>
            <a:chOff x="0" y="0"/>
            <a:chExt cx="1265279" cy="1173527"/>
          </a:xfrm>
        </p:grpSpPr>
        <p:sp>
          <p:nvSpPr>
            <p:cNvPr name="Freeform 4" id="4"/>
            <p:cNvSpPr/>
            <p:nvPr/>
          </p:nvSpPr>
          <p:spPr>
            <a:xfrm flipH="false" flipV="false" rot="0">
              <a:off x="0" y="0"/>
              <a:ext cx="1265279" cy="1173527"/>
            </a:xfrm>
            <a:custGeom>
              <a:avLst/>
              <a:gdLst/>
              <a:ahLst/>
              <a:cxnLst/>
              <a:rect r="r" b="b" t="t" l="l"/>
              <a:pathLst>
                <a:path h="1173527" w="1265279">
                  <a:moveTo>
                    <a:pt x="71632" y="0"/>
                  </a:moveTo>
                  <a:lnTo>
                    <a:pt x="1193647" y="0"/>
                  </a:lnTo>
                  <a:cubicBezTo>
                    <a:pt x="1233208" y="0"/>
                    <a:pt x="1265279" y="32071"/>
                    <a:pt x="1265279" y="71632"/>
                  </a:cubicBezTo>
                  <a:lnTo>
                    <a:pt x="1265279" y="1101895"/>
                  </a:lnTo>
                  <a:cubicBezTo>
                    <a:pt x="1265279" y="1141456"/>
                    <a:pt x="1233208" y="1173527"/>
                    <a:pt x="1193647" y="1173527"/>
                  </a:cubicBezTo>
                  <a:lnTo>
                    <a:pt x="71632" y="1173527"/>
                  </a:lnTo>
                  <a:cubicBezTo>
                    <a:pt x="32071" y="1173527"/>
                    <a:pt x="0" y="1141456"/>
                    <a:pt x="0" y="1101895"/>
                  </a:cubicBezTo>
                  <a:lnTo>
                    <a:pt x="0" y="71632"/>
                  </a:lnTo>
                  <a:cubicBezTo>
                    <a:pt x="0" y="32071"/>
                    <a:pt x="32071" y="0"/>
                    <a:pt x="71632" y="0"/>
                  </a:cubicBezTo>
                  <a:close/>
                </a:path>
              </a:pathLst>
            </a:custGeom>
            <a:solidFill>
              <a:srgbClr val="FDFDFD"/>
            </a:solidFill>
          </p:spPr>
        </p:sp>
        <p:sp>
          <p:nvSpPr>
            <p:cNvPr name="TextBox 5" id="5"/>
            <p:cNvSpPr txBox="true"/>
            <p:nvPr/>
          </p:nvSpPr>
          <p:spPr>
            <a:xfrm>
              <a:off x="0" y="-38100"/>
              <a:ext cx="1265279" cy="1211627"/>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6" id="6"/>
          <p:cNvGrpSpPr/>
          <p:nvPr/>
        </p:nvGrpSpPr>
        <p:grpSpPr>
          <a:xfrm rot="0">
            <a:off x="-2123887" y="-2346523"/>
            <a:ext cx="4693046" cy="46930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5573718" y="7940477"/>
            <a:ext cx="4693046" cy="46930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305048" y="5485480"/>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13" id="13"/>
          <p:cNvGrpSpPr/>
          <p:nvPr/>
        </p:nvGrpSpPr>
        <p:grpSpPr>
          <a:xfrm rot="0">
            <a:off x="11391389" y="1651742"/>
            <a:ext cx="3669117" cy="4410615"/>
            <a:chOff x="0" y="0"/>
            <a:chExt cx="976238" cy="1173527"/>
          </a:xfrm>
        </p:grpSpPr>
        <p:sp>
          <p:nvSpPr>
            <p:cNvPr name="Freeform 14" id="14"/>
            <p:cNvSpPr/>
            <p:nvPr/>
          </p:nvSpPr>
          <p:spPr>
            <a:xfrm flipH="false" flipV="false" rot="0">
              <a:off x="0" y="0"/>
              <a:ext cx="976238" cy="1173527"/>
            </a:xfrm>
            <a:custGeom>
              <a:avLst/>
              <a:gdLst/>
              <a:ahLst/>
              <a:cxnLst/>
              <a:rect r="r" b="b" t="t" l="l"/>
              <a:pathLst>
                <a:path h="1173527" w="976238">
                  <a:moveTo>
                    <a:pt x="92841" y="0"/>
                  </a:moveTo>
                  <a:lnTo>
                    <a:pt x="883397" y="0"/>
                  </a:lnTo>
                  <a:cubicBezTo>
                    <a:pt x="908020" y="0"/>
                    <a:pt x="931634" y="9781"/>
                    <a:pt x="949045" y="27192"/>
                  </a:cubicBezTo>
                  <a:cubicBezTo>
                    <a:pt x="966456" y="44604"/>
                    <a:pt x="976238" y="68218"/>
                    <a:pt x="976238" y="92841"/>
                  </a:cubicBezTo>
                  <a:lnTo>
                    <a:pt x="976238" y="1080686"/>
                  </a:lnTo>
                  <a:cubicBezTo>
                    <a:pt x="976238" y="1131961"/>
                    <a:pt x="934671" y="1173527"/>
                    <a:pt x="883397" y="1173527"/>
                  </a:cubicBezTo>
                  <a:lnTo>
                    <a:pt x="92841" y="1173527"/>
                  </a:lnTo>
                  <a:cubicBezTo>
                    <a:pt x="68218" y="1173527"/>
                    <a:pt x="44604" y="1163746"/>
                    <a:pt x="27192" y="1146335"/>
                  </a:cubicBezTo>
                  <a:cubicBezTo>
                    <a:pt x="9781" y="1128924"/>
                    <a:pt x="0" y="1105309"/>
                    <a:pt x="0" y="1080686"/>
                  </a:cubicBezTo>
                  <a:lnTo>
                    <a:pt x="0" y="92841"/>
                  </a:lnTo>
                  <a:cubicBezTo>
                    <a:pt x="0" y="68218"/>
                    <a:pt x="9781" y="44604"/>
                    <a:pt x="27192" y="27192"/>
                  </a:cubicBezTo>
                  <a:cubicBezTo>
                    <a:pt x="44604" y="9781"/>
                    <a:pt x="68218" y="0"/>
                    <a:pt x="92841" y="0"/>
                  </a:cubicBezTo>
                  <a:close/>
                </a:path>
              </a:pathLst>
            </a:custGeom>
            <a:solidFill>
              <a:srgbClr val="FDFDFD"/>
            </a:solidFill>
          </p:spPr>
        </p:sp>
        <p:sp>
          <p:nvSpPr>
            <p:cNvPr name="TextBox 15" id="15"/>
            <p:cNvSpPr txBox="true"/>
            <p:nvPr/>
          </p:nvSpPr>
          <p:spPr>
            <a:xfrm>
              <a:off x="0" y="-38100"/>
              <a:ext cx="976238" cy="1211627"/>
            </a:xfrm>
            <a:prstGeom prst="rect">
              <a:avLst/>
            </a:prstGeom>
          </p:spPr>
          <p:txBody>
            <a:bodyPr anchor="ctr" rtlCol="false" tIns="50800" lIns="50800" bIns="50800" rIns="50800"/>
            <a:lstStyle/>
            <a:p>
              <a:pPr algn="ctr">
                <a:lnSpc>
                  <a:spcPts val="2659"/>
                </a:lnSpc>
              </a:pPr>
            </a:p>
            <a:p>
              <a:pPr algn="ctr">
                <a:lnSpc>
                  <a:spcPts val="2659"/>
                </a:lnSpc>
              </a:pPr>
            </a:p>
          </p:txBody>
        </p:sp>
      </p:grpSp>
      <p:sp>
        <p:nvSpPr>
          <p:cNvPr name="Freeform 16" id="16"/>
          <p:cNvSpPr/>
          <p:nvPr/>
        </p:nvSpPr>
        <p:spPr>
          <a:xfrm flipH="false" flipV="false" rot="0">
            <a:off x="2675958" y="2346523"/>
            <a:ext cx="4397343" cy="2547095"/>
          </a:xfrm>
          <a:custGeom>
            <a:avLst/>
            <a:gdLst/>
            <a:ahLst/>
            <a:cxnLst/>
            <a:rect r="r" b="b" t="t" l="l"/>
            <a:pathLst>
              <a:path h="2547095" w="4397343">
                <a:moveTo>
                  <a:pt x="0" y="0"/>
                </a:moveTo>
                <a:lnTo>
                  <a:pt x="4397343" y="0"/>
                </a:lnTo>
                <a:lnTo>
                  <a:pt x="4397343" y="2547095"/>
                </a:lnTo>
                <a:lnTo>
                  <a:pt x="0" y="2547095"/>
                </a:lnTo>
                <a:lnTo>
                  <a:pt x="0" y="0"/>
                </a:lnTo>
                <a:close/>
              </a:path>
            </a:pathLst>
          </a:custGeom>
          <a:blipFill>
            <a:blip r:embed="rId3"/>
            <a:stretch>
              <a:fillRect l="0" t="0" r="0" b="0"/>
            </a:stretch>
          </a:blipFill>
        </p:spPr>
      </p:sp>
      <p:sp>
        <p:nvSpPr>
          <p:cNvPr name="Freeform 17" id="17"/>
          <p:cNvSpPr/>
          <p:nvPr/>
        </p:nvSpPr>
        <p:spPr>
          <a:xfrm flipH="false" flipV="false" rot="0">
            <a:off x="11727774" y="1860368"/>
            <a:ext cx="2996347" cy="3283132"/>
          </a:xfrm>
          <a:custGeom>
            <a:avLst/>
            <a:gdLst/>
            <a:ahLst/>
            <a:cxnLst/>
            <a:rect r="r" b="b" t="t" l="l"/>
            <a:pathLst>
              <a:path h="3283132" w="2996347">
                <a:moveTo>
                  <a:pt x="0" y="0"/>
                </a:moveTo>
                <a:lnTo>
                  <a:pt x="2996347" y="0"/>
                </a:lnTo>
                <a:lnTo>
                  <a:pt x="2996347" y="3283132"/>
                </a:lnTo>
                <a:lnTo>
                  <a:pt x="0" y="3283132"/>
                </a:lnTo>
                <a:lnTo>
                  <a:pt x="0" y="0"/>
                </a:lnTo>
                <a:close/>
              </a:path>
            </a:pathLst>
          </a:custGeom>
          <a:blipFill>
            <a:blip r:embed="rId4"/>
            <a:stretch>
              <a:fillRect l="0" t="0" r="0" b="-5208"/>
            </a:stretch>
          </a:blipFill>
        </p:spPr>
      </p:sp>
      <p:sp>
        <p:nvSpPr>
          <p:cNvPr name="TextBox 18" id="18"/>
          <p:cNvSpPr txBox="true"/>
          <p:nvPr/>
        </p:nvSpPr>
        <p:spPr>
          <a:xfrm rot="0">
            <a:off x="5298777" y="403263"/>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ETL Pipeline </a:t>
            </a:r>
          </a:p>
        </p:txBody>
      </p:sp>
      <p:sp>
        <p:nvSpPr>
          <p:cNvPr name="TextBox 19" id="19"/>
          <p:cNvSpPr txBox="true"/>
          <p:nvPr/>
        </p:nvSpPr>
        <p:spPr>
          <a:xfrm rot="0">
            <a:off x="3044062" y="5266865"/>
            <a:ext cx="3661135"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Montserrat"/>
                <a:ea typeface="Montserrat"/>
                <a:cs typeface="Montserrat"/>
                <a:sym typeface="Montserrat"/>
              </a:rPr>
              <a:t>Load Data warehouse </a:t>
            </a:r>
          </a:p>
        </p:txBody>
      </p:sp>
      <p:sp>
        <p:nvSpPr>
          <p:cNvPr name="TextBox 20" id="20"/>
          <p:cNvSpPr txBox="true"/>
          <p:nvPr/>
        </p:nvSpPr>
        <p:spPr>
          <a:xfrm rot="0">
            <a:off x="675986" y="6991660"/>
            <a:ext cx="8349766" cy="2297999"/>
          </a:xfrm>
          <a:prstGeom prst="rect">
            <a:avLst/>
          </a:prstGeom>
        </p:spPr>
        <p:txBody>
          <a:bodyPr anchor="t" rtlCol="false" tIns="0" lIns="0" bIns="0" rIns="0">
            <a:spAutoFit/>
          </a:bodyPr>
          <a:lstStyle/>
          <a:p>
            <a:pPr algn="ctr">
              <a:lnSpc>
                <a:spcPts val="3013"/>
              </a:lnSpc>
            </a:pPr>
            <a:r>
              <a:rPr lang="en-US" sz="2152" spc="-43">
                <a:solidFill>
                  <a:srgbClr val="FDFDFD"/>
                </a:solidFill>
                <a:latin typeface="Poppins"/>
                <a:ea typeface="Poppins"/>
                <a:cs typeface="Poppins"/>
                <a:sym typeface="Poppins"/>
              </a:rPr>
              <a:t>Load Dimension Tables – Populate dimension</a:t>
            </a:r>
            <a:r>
              <a:rPr lang="en-US" sz="2152" spc="-43">
                <a:solidFill>
                  <a:srgbClr val="FDFDFD"/>
                </a:solidFill>
                <a:latin typeface="Poppins"/>
                <a:ea typeface="Poppins"/>
                <a:cs typeface="Poppins"/>
                <a:sym typeface="Poppins"/>
              </a:rPr>
              <a:t>s with Slowly Changing Dimension logic to maintain historical changes.</a:t>
            </a:r>
          </a:p>
          <a:p>
            <a:pPr algn="ctr">
              <a:lnSpc>
                <a:spcPts val="3013"/>
              </a:lnSpc>
            </a:pPr>
          </a:p>
          <a:p>
            <a:pPr algn="ctr">
              <a:lnSpc>
                <a:spcPts val="3013"/>
              </a:lnSpc>
              <a:spcBef>
                <a:spcPct val="0"/>
              </a:spcBef>
            </a:pPr>
            <a:r>
              <a:rPr lang="en-US" sz="2152" spc="-43">
                <a:solidFill>
                  <a:srgbClr val="FDFDFD"/>
                </a:solidFill>
                <a:latin typeface="Poppins"/>
                <a:ea typeface="Poppins"/>
                <a:cs typeface="Poppins"/>
                <a:sym typeface="Poppins"/>
              </a:rPr>
              <a:t>Load Fact T</a:t>
            </a:r>
            <a:r>
              <a:rPr lang="en-US" sz="2152" spc="-43" strike="noStrike" u="none">
                <a:solidFill>
                  <a:srgbClr val="FDFDFD"/>
                </a:solidFill>
                <a:latin typeface="Poppins"/>
                <a:ea typeface="Poppins"/>
                <a:cs typeface="Poppins"/>
                <a:sym typeface="Poppins"/>
              </a:rPr>
              <a:t>able – Insert fact records filtered by the watermark and linked to dimension keys.</a:t>
            </a:r>
          </a:p>
          <a:p>
            <a:pPr algn="ctr" marL="0" indent="0" lvl="0">
              <a:lnSpc>
                <a:spcPts val="3013"/>
              </a:lnSpc>
              <a:spcBef>
                <a:spcPct val="0"/>
              </a:spcBef>
            </a:pPr>
          </a:p>
        </p:txBody>
      </p:sp>
      <p:sp>
        <p:nvSpPr>
          <p:cNvPr name="TextBox 21" id="21"/>
          <p:cNvSpPr txBox="true"/>
          <p:nvPr/>
        </p:nvSpPr>
        <p:spPr>
          <a:xfrm rot="0">
            <a:off x="11846714" y="5266865"/>
            <a:ext cx="2877407" cy="389605"/>
          </a:xfrm>
          <a:prstGeom prst="rect">
            <a:avLst/>
          </a:prstGeom>
        </p:spPr>
        <p:txBody>
          <a:bodyPr anchor="t" rtlCol="false" tIns="0" lIns="0" bIns="0" rIns="0">
            <a:spAutoFit/>
          </a:bodyPr>
          <a:lstStyle/>
          <a:p>
            <a:pPr algn="ctr" marL="0" indent="0" lvl="0">
              <a:lnSpc>
                <a:spcPts val="3200"/>
              </a:lnSpc>
              <a:spcBef>
                <a:spcPct val="0"/>
              </a:spcBef>
            </a:pPr>
            <a:r>
              <a:rPr lang="en-US" sz="2286">
                <a:solidFill>
                  <a:srgbClr val="051D40"/>
                </a:solidFill>
                <a:latin typeface="Montserrat"/>
                <a:ea typeface="Montserrat"/>
                <a:cs typeface="Montserrat"/>
                <a:sym typeface="Montserrat"/>
              </a:rPr>
              <a:t>Finalization</a:t>
            </a:r>
          </a:p>
        </p:txBody>
      </p:sp>
      <p:sp>
        <p:nvSpPr>
          <p:cNvPr name="TextBox 22" id="22"/>
          <p:cNvSpPr txBox="true"/>
          <p:nvPr/>
        </p:nvSpPr>
        <p:spPr>
          <a:xfrm rot="0">
            <a:off x="9570475" y="6991660"/>
            <a:ext cx="8349766" cy="2297999"/>
          </a:xfrm>
          <a:prstGeom prst="rect">
            <a:avLst/>
          </a:prstGeom>
        </p:spPr>
        <p:txBody>
          <a:bodyPr anchor="t" rtlCol="false" tIns="0" lIns="0" bIns="0" rIns="0">
            <a:spAutoFit/>
          </a:bodyPr>
          <a:lstStyle/>
          <a:p>
            <a:pPr algn="ctr">
              <a:lnSpc>
                <a:spcPts val="3013"/>
              </a:lnSpc>
            </a:pPr>
            <a:r>
              <a:rPr lang="en-US" sz="2152" spc="-43">
                <a:solidFill>
                  <a:srgbClr val="FDFDFD"/>
                </a:solidFill>
                <a:latin typeface="Poppins"/>
                <a:ea typeface="Poppins"/>
                <a:cs typeface="Poppins"/>
                <a:sym typeface="Poppins"/>
              </a:rPr>
              <a:t>Update ETL Watermark – Record the latest load timestamp for the next incremental cycle.</a:t>
            </a:r>
          </a:p>
          <a:p>
            <a:pPr algn="ctr">
              <a:lnSpc>
                <a:spcPts val="3013"/>
              </a:lnSpc>
            </a:pPr>
          </a:p>
          <a:p>
            <a:pPr algn="ctr">
              <a:lnSpc>
                <a:spcPts val="3013"/>
              </a:lnSpc>
            </a:pPr>
            <a:r>
              <a:rPr lang="en-US" sz="2152" spc="-43">
                <a:solidFill>
                  <a:srgbClr val="FDFDFD"/>
                </a:solidFill>
                <a:latin typeface="Poppins"/>
                <a:ea typeface="Poppins"/>
                <a:cs typeface="Poppins"/>
                <a:sym typeface="Poppins"/>
              </a:rPr>
              <a:t>Re-enable Constraints – Restore database constraints to ensure referential integrity.</a:t>
            </a:r>
          </a:p>
          <a:p>
            <a:pPr algn="ctr">
              <a:lnSpc>
                <a:spcPts val="3013"/>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1028700" y="2907608"/>
            <a:ext cx="7523780" cy="7025233"/>
            <a:chOff x="0" y="0"/>
            <a:chExt cx="2106826" cy="1967221"/>
          </a:xfrm>
        </p:grpSpPr>
        <p:sp>
          <p:nvSpPr>
            <p:cNvPr name="Freeform 3" id="3"/>
            <p:cNvSpPr/>
            <p:nvPr/>
          </p:nvSpPr>
          <p:spPr>
            <a:xfrm flipH="false" flipV="false" rot="0">
              <a:off x="0" y="0"/>
              <a:ext cx="2106826" cy="1967221"/>
            </a:xfrm>
            <a:custGeom>
              <a:avLst/>
              <a:gdLst/>
              <a:ahLst/>
              <a:cxnLst/>
              <a:rect r="r" b="b" t="t" l="l"/>
              <a:pathLst>
                <a:path h="1967221" w="2106826">
                  <a:moveTo>
                    <a:pt x="0" y="0"/>
                  </a:moveTo>
                  <a:lnTo>
                    <a:pt x="2106826" y="0"/>
                  </a:lnTo>
                  <a:lnTo>
                    <a:pt x="2106826" y="1967221"/>
                  </a:lnTo>
                  <a:lnTo>
                    <a:pt x="0" y="1967221"/>
                  </a:lnTo>
                  <a:close/>
                </a:path>
              </a:pathLst>
            </a:custGeom>
            <a:solidFill>
              <a:srgbClr val="145DA0">
                <a:alpha val="95686"/>
              </a:srgbClr>
            </a:solidFill>
            <a:ln cap="sq">
              <a:noFill/>
              <a:prstDash val="solid"/>
              <a:miter/>
            </a:ln>
          </p:spPr>
        </p:sp>
        <p:sp>
          <p:nvSpPr>
            <p:cNvPr name="TextBox 4" id="4"/>
            <p:cNvSpPr txBox="true"/>
            <p:nvPr/>
          </p:nvSpPr>
          <p:spPr>
            <a:xfrm>
              <a:off x="0" y="-38100"/>
              <a:ext cx="2106826" cy="200532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8996074"/>
            <a:ext cx="7523780" cy="428991"/>
            <a:chOff x="0" y="0"/>
            <a:chExt cx="2106826" cy="120127"/>
          </a:xfrm>
        </p:grpSpPr>
        <p:sp>
          <p:nvSpPr>
            <p:cNvPr name="Freeform 6" id="6"/>
            <p:cNvSpPr/>
            <p:nvPr/>
          </p:nvSpPr>
          <p:spPr>
            <a:xfrm flipH="false" flipV="false" rot="0">
              <a:off x="0" y="0"/>
              <a:ext cx="2106826" cy="120127"/>
            </a:xfrm>
            <a:custGeom>
              <a:avLst/>
              <a:gdLst/>
              <a:ahLst/>
              <a:cxnLst/>
              <a:rect r="r" b="b" t="t" l="l"/>
              <a:pathLst>
                <a:path h="120127" w="2106826">
                  <a:moveTo>
                    <a:pt x="0" y="0"/>
                  </a:moveTo>
                  <a:lnTo>
                    <a:pt x="2106826" y="0"/>
                  </a:lnTo>
                  <a:lnTo>
                    <a:pt x="2106826" y="120127"/>
                  </a:lnTo>
                  <a:lnTo>
                    <a:pt x="0" y="120127"/>
                  </a:lnTo>
                  <a:close/>
                </a:path>
              </a:pathLst>
            </a:custGeom>
            <a:solidFill>
              <a:srgbClr val="145DA0">
                <a:alpha val="48627"/>
              </a:srgbClr>
            </a:solidFill>
            <a:ln cap="sq">
              <a:noFill/>
              <a:prstDash val="solid"/>
              <a:miter/>
            </a:ln>
          </p:spPr>
        </p:sp>
        <p:sp>
          <p:nvSpPr>
            <p:cNvPr name="TextBox 7" id="7"/>
            <p:cNvSpPr txBox="true"/>
            <p:nvPr/>
          </p:nvSpPr>
          <p:spPr>
            <a:xfrm>
              <a:off x="0" y="-38100"/>
              <a:ext cx="2106826" cy="15822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5238003" y="8290589"/>
            <a:ext cx="7523780" cy="752378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3724222" y="-4507687"/>
            <a:ext cx="5924489" cy="592448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0">
            <a:off x="2411474" y="6782134"/>
            <a:ext cx="4758231" cy="920948"/>
          </a:xfrm>
          <a:custGeom>
            <a:avLst/>
            <a:gdLst/>
            <a:ahLst/>
            <a:cxnLst/>
            <a:rect r="r" b="b" t="t" l="l"/>
            <a:pathLst>
              <a:path h="920948" w="4758231">
                <a:moveTo>
                  <a:pt x="0" y="0"/>
                </a:moveTo>
                <a:lnTo>
                  <a:pt x="4758231" y="0"/>
                </a:lnTo>
                <a:lnTo>
                  <a:pt x="4758231" y="920948"/>
                </a:lnTo>
                <a:lnTo>
                  <a:pt x="0" y="920948"/>
                </a:lnTo>
                <a:lnTo>
                  <a:pt x="0" y="0"/>
                </a:lnTo>
                <a:close/>
              </a:path>
            </a:pathLst>
          </a:custGeom>
          <a:blipFill>
            <a:blip r:embed="rId2"/>
            <a:stretch>
              <a:fillRect l="0" t="0" r="0" b="0"/>
            </a:stretch>
          </a:blipFill>
        </p:spPr>
      </p:sp>
      <p:sp>
        <p:nvSpPr>
          <p:cNvPr name="Freeform 15" id="15"/>
          <p:cNvSpPr/>
          <p:nvPr/>
        </p:nvSpPr>
        <p:spPr>
          <a:xfrm flipH="false" flipV="false" rot="0">
            <a:off x="1951375" y="8136838"/>
            <a:ext cx="6003724" cy="859236"/>
          </a:xfrm>
          <a:custGeom>
            <a:avLst/>
            <a:gdLst/>
            <a:ahLst/>
            <a:cxnLst/>
            <a:rect r="r" b="b" t="t" l="l"/>
            <a:pathLst>
              <a:path h="859236" w="6003724">
                <a:moveTo>
                  <a:pt x="0" y="0"/>
                </a:moveTo>
                <a:lnTo>
                  <a:pt x="6003723" y="0"/>
                </a:lnTo>
                <a:lnTo>
                  <a:pt x="6003723" y="859236"/>
                </a:lnTo>
                <a:lnTo>
                  <a:pt x="0" y="859236"/>
                </a:lnTo>
                <a:lnTo>
                  <a:pt x="0" y="0"/>
                </a:lnTo>
                <a:close/>
              </a:path>
            </a:pathLst>
          </a:custGeom>
          <a:blipFill>
            <a:blip r:embed="rId3"/>
            <a:stretch>
              <a:fillRect l="0" t="-2864" r="0" b="-2864"/>
            </a:stretch>
          </a:blipFill>
        </p:spPr>
      </p:sp>
      <p:grpSp>
        <p:nvGrpSpPr>
          <p:cNvPr name="Group 16" id="16"/>
          <p:cNvGrpSpPr/>
          <p:nvPr/>
        </p:nvGrpSpPr>
        <p:grpSpPr>
          <a:xfrm rot="0">
            <a:off x="9735520" y="2907608"/>
            <a:ext cx="7690234" cy="7025233"/>
            <a:chOff x="0" y="0"/>
            <a:chExt cx="2153436" cy="1967221"/>
          </a:xfrm>
        </p:grpSpPr>
        <p:sp>
          <p:nvSpPr>
            <p:cNvPr name="Freeform 17" id="17"/>
            <p:cNvSpPr/>
            <p:nvPr/>
          </p:nvSpPr>
          <p:spPr>
            <a:xfrm flipH="false" flipV="false" rot="0">
              <a:off x="0" y="0"/>
              <a:ext cx="2153436" cy="1967221"/>
            </a:xfrm>
            <a:custGeom>
              <a:avLst/>
              <a:gdLst/>
              <a:ahLst/>
              <a:cxnLst/>
              <a:rect r="r" b="b" t="t" l="l"/>
              <a:pathLst>
                <a:path h="1967221" w="2153436">
                  <a:moveTo>
                    <a:pt x="0" y="0"/>
                  </a:moveTo>
                  <a:lnTo>
                    <a:pt x="2153436" y="0"/>
                  </a:lnTo>
                  <a:lnTo>
                    <a:pt x="2153436" y="1967221"/>
                  </a:lnTo>
                  <a:lnTo>
                    <a:pt x="0" y="1967221"/>
                  </a:lnTo>
                  <a:close/>
                </a:path>
              </a:pathLst>
            </a:custGeom>
            <a:solidFill>
              <a:srgbClr val="145DA0">
                <a:alpha val="95686"/>
              </a:srgbClr>
            </a:solidFill>
            <a:ln cap="sq">
              <a:noFill/>
              <a:prstDash val="solid"/>
              <a:miter/>
            </a:ln>
          </p:spPr>
        </p:sp>
        <p:sp>
          <p:nvSpPr>
            <p:cNvPr name="TextBox 18" id="18"/>
            <p:cNvSpPr txBox="true"/>
            <p:nvPr/>
          </p:nvSpPr>
          <p:spPr>
            <a:xfrm>
              <a:off x="0" y="-38100"/>
              <a:ext cx="2153436" cy="2005321"/>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9" id="19"/>
          <p:cNvGrpSpPr/>
          <p:nvPr/>
        </p:nvGrpSpPr>
        <p:grpSpPr>
          <a:xfrm rot="0">
            <a:off x="9735520" y="8996074"/>
            <a:ext cx="7523780" cy="428991"/>
            <a:chOff x="0" y="0"/>
            <a:chExt cx="2106826" cy="120127"/>
          </a:xfrm>
        </p:grpSpPr>
        <p:sp>
          <p:nvSpPr>
            <p:cNvPr name="Freeform 20" id="20"/>
            <p:cNvSpPr/>
            <p:nvPr/>
          </p:nvSpPr>
          <p:spPr>
            <a:xfrm flipH="false" flipV="false" rot="0">
              <a:off x="0" y="0"/>
              <a:ext cx="2106826" cy="120127"/>
            </a:xfrm>
            <a:custGeom>
              <a:avLst/>
              <a:gdLst/>
              <a:ahLst/>
              <a:cxnLst/>
              <a:rect r="r" b="b" t="t" l="l"/>
              <a:pathLst>
                <a:path h="120127" w="2106826">
                  <a:moveTo>
                    <a:pt x="0" y="0"/>
                  </a:moveTo>
                  <a:lnTo>
                    <a:pt x="2106826" y="0"/>
                  </a:lnTo>
                  <a:lnTo>
                    <a:pt x="2106826" y="120127"/>
                  </a:lnTo>
                  <a:lnTo>
                    <a:pt x="0" y="120127"/>
                  </a:lnTo>
                  <a:close/>
                </a:path>
              </a:pathLst>
            </a:custGeom>
            <a:solidFill>
              <a:srgbClr val="145DA0">
                <a:alpha val="48627"/>
              </a:srgbClr>
            </a:solidFill>
            <a:ln cap="sq">
              <a:noFill/>
              <a:prstDash val="solid"/>
              <a:miter/>
            </a:ln>
          </p:spPr>
        </p:sp>
        <p:sp>
          <p:nvSpPr>
            <p:cNvPr name="TextBox 21" id="21"/>
            <p:cNvSpPr txBox="true"/>
            <p:nvPr/>
          </p:nvSpPr>
          <p:spPr>
            <a:xfrm>
              <a:off x="0" y="-38100"/>
              <a:ext cx="2106826" cy="15822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22" id="22"/>
          <p:cNvSpPr/>
          <p:nvPr/>
        </p:nvSpPr>
        <p:spPr>
          <a:xfrm flipH="false" flipV="false" rot="0">
            <a:off x="11669333" y="6782134"/>
            <a:ext cx="4065648" cy="920948"/>
          </a:xfrm>
          <a:custGeom>
            <a:avLst/>
            <a:gdLst/>
            <a:ahLst/>
            <a:cxnLst/>
            <a:rect r="r" b="b" t="t" l="l"/>
            <a:pathLst>
              <a:path h="920948" w="4065648">
                <a:moveTo>
                  <a:pt x="0" y="0"/>
                </a:moveTo>
                <a:lnTo>
                  <a:pt x="4065648" y="0"/>
                </a:lnTo>
                <a:lnTo>
                  <a:pt x="4065648" y="920948"/>
                </a:lnTo>
                <a:lnTo>
                  <a:pt x="0" y="920948"/>
                </a:lnTo>
                <a:lnTo>
                  <a:pt x="0" y="0"/>
                </a:lnTo>
                <a:close/>
              </a:path>
            </a:pathLst>
          </a:custGeom>
          <a:blipFill>
            <a:blip r:embed="rId4"/>
            <a:stretch>
              <a:fillRect l="0" t="0" r="0" b="0"/>
            </a:stretch>
          </a:blipFill>
        </p:spPr>
      </p:sp>
      <p:sp>
        <p:nvSpPr>
          <p:cNvPr name="Freeform 23" id="23"/>
          <p:cNvSpPr/>
          <p:nvPr/>
        </p:nvSpPr>
        <p:spPr>
          <a:xfrm flipH="false" flipV="false" rot="0">
            <a:off x="11055352" y="8136838"/>
            <a:ext cx="5886325" cy="1121462"/>
          </a:xfrm>
          <a:custGeom>
            <a:avLst/>
            <a:gdLst/>
            <a:ahLst/>
            <a:cxnLst/>
            <a:rect r="r" b="b" t="t" l="l"/>
            <a:pathLst>
              <a:path h="1121462" w="5886325">
                <a:moveTo>
                  <a:pt x="0" y="0"/>
                </a:moveTo>
                <a:lnTo>
                  <a:pt x="5886325" y="0"/>
                </a:lnTo>
                <a:lnTo>
                  <a:pt x="5886325" y="1121462"/>
                </a:lnTo>
                <a:lnTo>
                  <a:pt x="0" y="1121462"/>
                </a:lnTo>
                <a:lnTo>
                  <a:pt x="0" y="0"/>
                </a:lnTo>
                <a:close/>
              </a:path>
            </a:pathLst>
          </a:custGeom>
          <a:blipFill>
            <a:blip r:embed="rId5"/>
            <a:stretch>
              <a:fillRect l="0" t="0" r="0" b="-4070"/>
            </a:stretch>
          </a:blipFill>
        </p:spPr>
      </p:sp>
      <p:sp>
        <p:nvSpPr>
          <p:cNvPr name="TextBox 24" id="24"/>
          <p:cNvSpPr txBox="true"/>
          <p:nvPr/>
        </p:nvSpPr>
        <p:spPr>
          <a:xfrm rot="0">
            <a:off x="4369990" y="3281387"/>
            <a:ext cx="84120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V1</a:t>
            </a:r>
          </a:p>
        </p:txBody>
      </p:sp>
      <p:sp>
        <p:nvSpPr>
          <p:cNvPr name="TextBox 25" id="25"/>
          <p:cNvSpPr txBox="true"/>
          <p:nvPr/>
        </p:nvSpPr>
        <p:spPr>
          <a:xfrm rot="0">
            <a:off x="1438194" y="5281146"/>
            <a:ext cx="7114286" cy="1062838"/>
          </a:xfrm>
          <a:prstGeom prst="rect">
            <a:avLst/>
          </a:prstGeom>
        </p:spPr>
        <p:txBody>
          <a:bodyPr anchor="t" rtlCol="false" tIns="0" lIns="0" bIns="0" rIns="0">
            <a:spAutoFit/>
          </a:bodyPr>
          <a:lstStyle/>
          <a:p>
            <a:pPr algn="l" marL="0" indent="0" lvl="0">
              <a:lnSpc>
                <a:spcPts val="2843"/>
              </a:lnSpc>
              <a:spcBef>
                <a:spcPct val="0"/>
              </a:spcBef>
            </a:pPr>
            <a:r>
              <a:rPr lang="en-US" sz="2030" spc="-40">
                <a:solidFill>
                  <a:srgbClr val="FDFDFD"/>
                </a:solidFill>
                <a:latin typeface="Poppins"/>
                <a:ea typeface="Poppins"/>
                <a:cs typeface="Poppins"/>
                <a:sym typeface="Poppins"/>
              </a:rPr>
              <a:t>E</a:t>
            </a:r>
            <a:r>
              <a:rPr lang="en-US" sz="2030" spc="-40" strike="noStrike" u="none">
                <a:solidFill>
                  <a:srgbClr val="FDFDFD"/>
                </a:solidFill>
                <a:latin typeface="Poppins"/>
                <a:ea typeface="Poppins"/>
                <a:cs typeface="Poppins"/>
                <a:sym typeface="Poppins"/>
              </a:rPr>
              <a:t>xecutes the initial full historical data load, creating the baseline dataset and fully aligning the data warehouse with the source.</a:t>
            </a:r>
          </a:p>
        </p:txBody>
      </p:sp>
      <p:sp>
        <p:nvSpPr>
          <p:cNvPr name="TextBox 26" id="26"/>
          <p:cNvSpPr txBox="true"/>
          <p:nvPr/>
        </p:nvSpPr>
        <p:spPr>
          <a:xfrm rot="0">
            <a:off x="2200267" y="445743"/>
            <a:ext cx="5754831"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145DA0"/>
                </a:solidFill>
                <a:latin typeface="Montserrat Bold"/>
                <a:ea typeface="Montserrat Bold"/>
                <a:cs typeface="Montserrat Bold"/>
                <a:sym typeface="Montserrat Bold"/>
              </a:rPr>
              <a:t>ETL Pipeline</a:t>
            </a:r>
          </a:p>
        </p:txBody>
      </p:sp>
      <p:sp>
        <p:nvSpPr>
          <p:cNvPr name="TextBox 27" id="27"/>
          <p:cNvSpPr txBox="true"/>
          <p:nvPr/>
        </p:nvSpPr>
        <p:spPr>
          <a:xfrm rot="0">
            <a:off x="2200267" y="1681708"/>
            <a:ext cx="12218216" cy="787750"/>
          </a:xfrm>
          <a:prstGeom prst="rect">
            <a:avLst/>
          </a:prstGeom>
        </p:spPr>
        <p:txBody>
          <a:bodyPr anchor="t" rtlCol="false" tIns="0" lIns="0" bIns="0" rIns="0">
            <a:spAutoFit/>
          </a:bodyPr>
          <a:lstStyle/>
          <a:p>
            <a:pPr algn="l" marL="0" indent="0" lvl="0">
              <a:lnSpc>
                <a:spcPts val="3138"/>
              </a:lnSpc>
              <a:spcBef>
                <a:spcPct val="0"/>
              </a:spcBef>
            </a:pPr>
            <a:r>
              <a:rPr lang="en-US" sz="2241" spc="-44">
                <a:solidFill>
                  <a:srgbClr val="00569E"/>
                </a:solidFill>
                <a:latin typeface="Poppins"/>
                <a:ea typeface="Poppins"/>
                <a:cs typeface="Poppins"/>
                <a:sym typeface="Poppins"/>
              </a:rPr>
              <a:t>T</a:t>
            </a:r>
            <a:r>
              <a:rPr lang="en-US" sz="2241" spc="-44" strike="noStrike" u="none">
                <a:solidFill>
                  <a:srgbClr val="00569E"/>
                </a:solidFill>
                <a:latin typeface="Poppins"/>
                <a:ea typeface="Poppins"/>
                <a:cs typeface="Poppins"/>
                <a:sym typeface="Poppins"/>
              </a:rPr>
              <a:t>o implement the incremental load strategy, the project is executed in two separate increments.</a:t>
            </a:r>
          </a:p>
        </p:txBody>
      </p:sp>
      <p:sp>
        <p:nvSpPr>
          <p:cNvPr name="TextBox 28" id="28"/>
          <p:cNvSpPr txBox="true"/>
          <p:nvPr/>
        </p:nvSpPr>
        <p:spPr>
          <a:xfrm rot="0">
            <a:off x="13174551" y="3281387"/>
            <a:ext cx="1055212"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V2</a:t>
            </a:r>
          </a:p>
        </p:txBody>
      </p:sp>
      <p:sp>
        <p:nvSpPr>
          <p:cNvPr name="TextBox 29" id="29"/>
          <p:cNvSpPr txBox="true"/>
          <p:nvPr/>
        </p:nvSpPr>
        <p:spPr>
          <a:xfrm rot="0">
            <a:off x="10145014" y="5281146"/>
            <a:ext cx="7114286" cy="1062838"/>
          </a:xfrm>
          <a:prstGeom prst="rect">
            <a:avLst/>
          </a:prstGeom>
        </p:spPr>
        <p:txBody>
          <a:bodyPr anchor="t" rtlCol="false" tIns="0" lIns="0" bIns="0" rIns="0">
            <a:spAutoFit/>
          </a:bodyPr>
          <a:lstStyle/>
          <a:p>
            <a:pPr algn="l" marL="0" indent="0" lvl="0">
              <a:lnSpc>
                <a:spcPts val="2843"/>
              </a:lnSpc>
              <a:spcBef>
                <a:spcPct val="0"/>
              </a:spcBef>
            </a:pPr>
            <a:r>
              <a:rPr lang="en-US" sz="2030" spc="-40">
                <a:solidFill>
                  <a:srgbClr val="FDFDFD"/>
                </a:solidFill>
                <a:latin typeface="Poppins"/>
                <a:ea typeface="Poppins"/>
                <a:cs typeface="Poppins"/>
                <a:sym typeface="Poppins"/>
              </a:rPr>
              <a:t>Af</a:t>
            </a:r>
            <a:r>
              <a:rPr lang="en-US" sz="2030" spc="-40" strike="noStrike" u="none">
                <a:solidFill>
                  <a:srgbClr val="FDFDFD"/>
                </a:solidFill>
                <a:latin typeface="Poppins"/>
                <a:ea typeface="Poppins"/>
                <a:cs typeface="Poppins"/>
                <a:sym typeface="Poppins"/>
              </a:rPr>
              <a:t>ter the initial load, imports only new or updated records since the last run, improving efficiency and minimizing processing time.</a:t>
            </a:r>
          </a:p>
        </p:txBody>
      </p:sp>
      <p:sp>
        <p:nvSpPr>
          <p:cNvPr name="TextBox 30" id="30"/>
          <p:cNvSpPr txBox="true"/>
          <p:nvPr/>
        </p:nvSpPr>
        <p:spPr>
          <a:xfrm rot="0">
            <a:off x="3492463" y="4147671"/>
            <a:ext cx="2596253" cy="667234"/>
          </a:xfrm>
          <a:prstGeom prst="rect">
            <a:avLst/>
          </a:prstGeom>
        </p:spPr>
        <p:txBody>
          <a:bodyPr anchor="t" rtlCol="false" tIns="0" lIns="0" bIns="0" rIns="0">
            <a:spAutoFit/>
          </a:bodyPr>
          <a:lstStyle/>
          <a:p>
            <a:pPr algn="l" marL="0" indent="0" lvl="0">
              <a:lnSpc>
                <a:spcPts val="5223"/>
              </a:lnSpc>
              <a:spcBef>
                <a:spcPct val="0"/>
              </a:spcBef>
            </a:pPr>
            <a:r>
              <a:rPr lang="en-US" sz="3730" spc="-74">
                <a:solidFill>
                  <a:srgbClr val="FDFDFD"/>
                </a:solidFill>
                <a:latin typeface="Poppins"/>
                <a:ea typeface="Poppins"/>
                <a:cs typeface="Poppins"/>
                <a:sym typeface="Poppins"/>
              </a:rPr>
              <a:t>Initial Load</a:t>
            </a:r>
          </a:p>
        </p:txBody>
      </p:sp>
      <p:sp>
        <p:nvSpPr>
          <p:cNvPr name="TextBox 31" id="31"/>
          <p:cNvSpPr txBox="true"/>
          <p:nvPr/>
        </p:nvSpPr>
        <p:spPr>
          <a:xfrm rot="0">
            <a:off x="11951346" y="4147671"/>
            <a:ext cx="4094338" cy="667234"/>
          </a:xfrm>
          <a:prstGeom prst="rect">
            <a:avLst/>
          </a:prstGeom>
        </p:spPr>
        <p:txBody>
          <a:bodyPr anchor="t" rtlCol="false" tIns="0" lIns="0" bIns="0" rIns="0">
            <a:spAutoFit/>
          </a:bodyPr>
          <a:lstStyle/>
          <a:p>
            <a:pPr algn="l" marL="0" indent="0" lvl="0">
              <a:lnSpc>
                <a:spcPts val="5223"/>
              </a:lnSpc>
              <a:spcBef>
                <a:spcPct val="0"/>
              </a:spcBef>
            </a:pPr>
            <a:r>
              <a:rPr lang="en-US" sz="3730" spc="-74">
                <a:solidFill>
                  <a:srgbClr val="FDFDFD"/>
                </a:solidFill>
                <a:latin typeface="Poppins"/>
                <a:ea typeface="Poppins"/>
                <a:cs typeface="Poppins"/>
                <a:sym typeface="Poppins"/>
              </a:rPr>
              <a:t>Incremental Load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556154" y="2105515"/>
            <a:ext cx="12017564" cy="3295139"/>
          </a:xfrm>
          <a:custGeom>
            <a:avLst/>
            <a:gdLst/>
            <a:ahLst/>
            <a:cxnLst/>
            <a:rect r="r" b="b" t="t" l="l"/>
            <a:pathLst>
              <a:path h="3295139" w="12017564">
                <a:moveTo>
                  <a:pt x="0" y="0"/>
                </a:moveTo>
                <a:lnTo>
                  <a:pt x="12017564" y="0"/>
                </a:lnTo>
                <a:lnTo>
                  <a:pt x="12017564" y="3295139"/>
                </a:lnTo>
                <a:lnTo>
                  <a:pt x="0" y="3295139"/>
                </a:lnTo>
                <a:lnTo>
                  <a:pt x="0" y="0"/>
                </a:lnTo>
                <a:close/>
              </a:path>
            </a:pathLst>
          </a:custGeom>
          <a:blipFill>
            <a:blip r:embed="rId2"/>
            <a:stretch>
              <a:fillRect l="0" t="0" r="0" b="0"/>
            </a:stretch>
          </a:blipFill>
        </p:spPr>
      </p:sp>
      <p:sp>
        <p:nvSpPr>
          <p:cNvPr name="Freeform 9" id="9"/>
          <p:cNvSpPr/>
          <p:nvPr/>
        </p:nvSpPr>
        <p:spPr>
          <a:xfrm flipH="false" flipV="false" rot="0">
            <a:off x="3639320" y="5968559"/>
            <a:ext cx="11979581" cy="3597333"/>
          </a:xfrm>
          <a:custGeom>
            <a:avLst/>
            <a:gdLst/>
            <a:ahLst/>
            <a:cxnLst/>
            <a:rect r="r" b="b" t="t" l="l"/>
            <a:pathLst>
              <a:path h="3597333" w="11979581">
                <a:moveTo>
                  <a:pt x="0" y="0"/>
                </a:moveTo>
                <a:lnTo>
                  <a:pt x="11979581" y="0"/>
                </a:lnTo>
                <a:lnTo>
                  <a:pt x="11979581" y="3597333"/>
                </a:lnTo>
                <a:lnTo>
                  <a:pt x="0" y="3597333"/>
                </a:lnTo>
                <a:lnTo>
                  <a:pt x="0" y="0"/>
                </a:lnTo>
                <a:close/>
              </a:path>
            </a:pathLst>
          </a:custGeom>
          <a:blipFill>
            <a:blip r:embed="rId3"/>
            <a:stretch>
              <a:fillRect l="0" t="0" r="0" b="0"/>
            </a:stretch>
          </a:blipFill>
        </p:spPr>
      </p:sp>
      <p:sp>
        <p:nvSpPr>
          <p:cNvPr name="TextBox 10" id="10"/>
          <p:cNvSpPr txBox="true"/>
          <p:nvPr/>
        </p:nvSpPr>
        <p:spPr>
          <a:xfrm rot="0">
            <a:off x="5417025" y="706770"/>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Pipeline Execution</a:t>
            </a:r>
          </a:p>
        </p:txBody>
      </p:sp>
      <p:sp>
        <p:nvSpPr>
          <p:cNvPr name="TextBox 11" id="11"/>
          <p:cNvSpPr txBox="true"/>
          <p:nvPr/>
        </p:nvSpPr>
        <p:spPr>
          <a:xfrm rot="0">
            <a:off x="1727960" y="3210405"/>
            <a:ext cx="84120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V1</a:t>
            </a:r>
          </a:p>
        </p:txBody>
      </p:sp>
      <p:sp>
        <p:nvSpPr>
          <p:cNvPr name="TextBox 12" id="12"/>
          <p:cNvSpPr txBox="true"/>
          <p:nvPr/>
        </p:nvSpPr>
        <p:spPr>
          <a:xfrm rot="0">
            <a:off x="1727960" y="7224546"/>
            <a:ext cx="110277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566261" y="2346523"/>
            <a:ext cx="11859869" cy="3260568"/>
          </a:xfrm>
          <a:custGeom>
            <a:avLst/>
            <a:gdLst/>
            <a:ahLst/>
            <a:cxnLst/>
            <a:rect r="r" b="b" t="t" l="l"/>
            <a:pathLst>
              <a:path h="3260568" w="11859869">
                <a:moveTo>
                  <a:pt x="0" y="0"/>
                </a:moveTo>
                <a:lnTo>
                  <a:pt x="11859870" y="0"/>
                </a:lnTo>
                <a:lnTo>
                  <a:pt x="11859870" y="3260568"/>
                </a:lnTo>
                <a:lnTo>
                  <a:pt x="0" y="3260568"/>
                </a:lnTo>
                <a:lnTo>
                  <a:pt x="0" y="0"/>
                </a:lnTo>
                <a:close/>
              </a:path>
            </a:pathLst>
          </a:custGeom>
          <a:blipFill>
            <a:blip r:embed="rId2"/>
            <a:stretch>
              <a:fillRect l="0" t="0" r="0" b="0"/>
            </a:stretch>
          </a:blipFill>
        </p:spPr>
      </p:sp>
      <p:sp>
        <p:nvSpPr>
          <p:cNvPr name="Freeform 9" id="9"/>
          <p:cNvSpPr/>
          <p:nvPr/>
        </p:nvSpPr>
        <p:spPr>
          <a:xfrm flipH="false" flipV="false" rot="0">
            <a:off x="3582240" y="6099241"/>
            <a:ext cx="11843890" cy="3335969"/>
          </a:xfrm>
          <a:custGeom>
            <a:avLst/>
            <a:gdLst/>
            <a:ahLst/>
            <a:cxnLst/>
            <a:rect r="r" b="b" t="t" l="l"/>
            <a:pathLst>
              <a:path h="3335969" w="11843890">
                <a:moveTo>
                  <a:pt x="0" y="0"/>
                </a:moveTo>
                <a:lnTo>
                  <a:pt x="11843891" y="0"/>
                </a:lnTo>
                <a:lnTo>
                  <a:pt x="11843891" y="3335969"/>
                </a:lnTo>
                <a:lnTo>
                  <a:pt x="0" y="3335969"/>
                </a:lnTo>
                <a:lnTo>
                  <a:pt x="0" y="0"/>
                </a:lnTo>
                <a:close/>
              </a:path>
            </a:pathLst>
          </a:custGeom>
          <a:blipFill>
            <a:blip r:embed="rId3"/>
            <a:stretch>
              <a:fillRect l="0" t="0" r="0" b="0"/>
            </a:stretch>
          </a:blipFill>
        </p:spPr>
      </p:sp>
      <p:sp>
        <p:nvSpPr>
          <p:cNvPr name="TextBox 10" id="10"/>
          <p:cNvSpPr txBox="true"/>
          <p:nvPr/>
        </p:nvSpPr>
        <p:spPr>
          <a:xfrm rot="0">
            <a:off x="5417025" y="706770"/>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Load Staging</a:t>
            </a:r>
          </a:p>
        </p:txBody>
      </p:sp>
      <p:sp>
        <p:nvSpPr>
          <p:cNvPr name="TextBox 11" id="11"/>
          <p:cNvSpPr txBox="true"/>
          <p:nvPr/>
        </p:nvSpPr>
        <p:spPr>
          <a:xfrm rot="0">
            <a:off x="1727960" y="3210405"/>
            <a:ext cx="84120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V1</a:t>
            </a:r>
          </a:p>
        </p:txBody>
      </p:sp>
      <p:sp>
        <p:nvSpPr>
          <p:cNvPr name="TextBox 12" id="12"/>
          <p:cNvSpPr txBox="true"/>
          <p:nvPr/>
        </p:nvSpPr>
        <p:spPr>
          <a:xfrm rot="0">
            <a:off x="1727960" y="7224546"/>
            <a:ext cx="110277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71939" y="2350871"/>
            <a:ext cx="12101779" cy="3036568"/>
          </a:xfrm>
          <a:custGeom>
            <a:avLst/>
            <a:gdLst/>
            <a:ahLst/>
            <a:cxnLst/>
            <a:rect r="r" b="b" t="t" l="l"/>
            <a:pathLst>
              <a:path h="3036568" w="12101779">
                <a:moveTo>
                  <a:pt x="0" y="0"/>
                </a:moveTo>
                <a:lnTo>
                  <a:pt x="12101779" y="0"/>
                </a:lnTo>
                <a:lnTo>
                  <a:pt x="12101779" y="3036567"/>
                </a:lnTo>
                <a:lnTo>
                  <a:pt x="0" y="3036567"/>
                </a:lnTo>
                <a:lnTo>
                  <a:pt x="0" y="0"/>
                </a:lnTo>
                <a:close/>
              </a:path>
            </a:pathLst>
          </a:custGeom>
          <a:blipFill>
            <a:blip r:embed="rId2"/>
            <a:stretch>
              <a:fillRect l="0" t="0" r="0" b="0"/>
            </a:stretch>
          </a:blipFill>
        </p:spPr>
      </p:sp>
      <p:sp>
        <p:nvSpPr>
          <p:cNvPr name="Freeform 9" id="9"/>
          <p:cNvSpPr/>
          <p:nvPr/>
        </p:nvSpPr>
        <p:spPr>
          <a:xfrm flipH="false" flipV="false" rot="0">
            <a:off x="3478050" y="5854163"/>
            <a:ext cx="12089557" cy="2969365"/>
          </a:xfrm>
          <a:custGeom>
            <a:avLst/>
            <a:gdLst/>
            <a:ahLst/>
            <a:cxnLst/>
            <a:rect r="r" b="b" t="t" l="l"/>
            <a:pathLst>
              <a:path h="2969365" w="12089557">
                <a:moveTo>
                  <a:pt x="0" y="0"/>
                </a:moveTo>
                <a:lnTo>
                  <a:pt x="12089557" y="0"/>
                </a:lnTo>
                <a:lnTo>
                  <a:pt x="12089557" y="2969365"/>
                </a:lnTo>
                <a:lnTo>
                  <a:pt x="0" y="2969365"/>
                </a:lnTo>
                <a:lnTo>
                  <a:pt x="0" y="0"/>
                </a:lnTo>
                <a:close/>
              </a:path>
            </a:pathLst>
          </a:custGeom>
          <a:blipFill>
            <a:blip r:embed="rId3"/>
            <a:stretch>
              <a:fillRect l="0" t="0" r="0" b="0"/>
            </a:stretch>
          </a:blipFill>
        </p:spPr>
      </p:sp>
      <p:sp>
        <p:nvSpPr>
          <p:cNvPr name="TextBox 10" id="10"/>
          <p:cNvSpPr txBox="true"/>
          <p:nvPr/>
        </p:nvSpPr>
        <p:spPr>
          <a:xfrm rot="0">
            <a:off x="3092137" y="706770"/>
            <a:ext cx="12009836"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Load Customer Dimension </a:t>
            </a:r>
          </a:p>
        </p:txBody>
      </p:sp>
      <p:sp>
        <p:nvSpPr>
          <p:cNvPr name="TextBox 11" id="11"/>
          <p:cNvSpPr txBox="true"/>
          <p:nvPr/>
        </p:nvSpPr>
        <p:spPr>
          <a:xfrm rot="0">
            <a:off x="1727960" y="3210405"/>
            <a:ext cx="84120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V1</a:t>
            </a:r>
          </a:p>
        </p:txBody>
      </p:sp>
      <p:sp>
        <p:nvSpPr>
          <p:cNvPr name="TextBox 12" id="12"/>
          <p:cNvSpPr txBox="true"/>
          <p:nvPr/>
        </p:nvSpPr>
        <p:spPr>
          <a:xfrm rot="0">
            <a:off x="1727960" y="7224546"/>
            <a:ext cx="110277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V2</a:t>
            </a:r>
          </a:p>
        </p:txBody>
      </p:sp>
      <p:sp>
        <p:nvSpPr>
          <p:cNvPr name="TextBox 13" id="13"/>
          <p:cNvSpPr txBox="true"/>
          <p:nvPr/>
        </p:nvSpPr>
        <p:spPr>
          <a:xfrm rot="0">
            <a:off x="5965686" y="9223578"/>
            <a:ext cx="7114286" cy="466573"/>
          </a:xfrm>
          <a:prstGeom prst="rect">
            <a:avLst/>
          </a:prstGeom>
        </p:spPr>
        <p:txBody>
          <a:bodyPr anchor="t" rtlCol="false" tIns="0" lIns="0" bIns="0" rIns="0">
            <a:spAutoFit/>
          </a:bodyPr>
          <a:lstStyle/>
          <a:p>
            <a:pPr algn="l" marL="0" indent="0" lvl="0">
              <a:lnSpc>
                <a:spcPts val="3683"/>
              </a:lnSpc>
              <a:spcBef>
                <a:spcPct val="0"/>
              </a:spcBef>
            </a:pPr>
            <a:r>
              <a:rPr lang="en-US" sz="2630" spc="-52">
                <a:solidFill>
                  <a:srgbClr val="FDFDFD"/>
                </a:solidFill>
                <a:latin typeface="Poppins"/>
                <a:ea typeface="Poppins"/>
                <a:cs typeface="Poppins"/>
                <a:sym typeface="Poppins"/>
              </a:rPr>
              <a:t>No</a:t>
            </a:r>
            <a:r>
              <a:rPr lang="en-US" sz="2630" spc="-52" strike="noStrike" u="none">
                <a:solidFill>
                  <a:srgbClr val="FDFDFD"/>
                </a:solidFill>
                <a:latin typeface="Poppins"/>
                <a:ea typeface="Poppins"/>
                <a:cs typeface="Poppins"/>
                <a:sym typeface="Poppins"/>
              </a:rPr>
              <a:t> additional customers have been added.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439578" y="2145268"/>
            <a:ext cx="11542336" cy="3215633"/>
          </a:xfrm>
          <a:custGeom>
            <a:avLst/>
            <a:gdLst/>
            <a:ahLst/>
            <a:cxnLst/>
            <a:rect r="r" b="b" t="t" l="l"/>
            <a:pathLst>
              <a:path h="3215633" w="11542336">
                <a:moveTo>
                  <a:pt x="0" y="0"/>
                </a:moveTo>
                <a:lnTo>
                  <a:pt x="11542336" y="0"/>
                </a:lnTo>
                <a:lnTo>
                  <a:pt x="11542336" y="3215633"/>
                </a:lnTo>
                <a:lnTo>
                  <a:pt x="0" y="3215633"/>
                </a:lnTo>
                <a:lnTo>
                  <a:pt x="0" y="0"/>
                </a:lnTo>
                <a:close/>
              </a:path>
            </a:pathLst>
          </a:custGeom>
          <a:blipFill>
            <a:blip r:embed="rId2"/>
            <a:stretch>
              <a:fillRect l="0" t="-2804" r="0" b="-2804"/>
            </a:stretch>
          </a:blipFill>
        </p:spPr>
      </p:sp>
      <p:sp>
        <p:nvSpPr>
          <p:cNvPr name="Freeform 9" id="9"/>
          <p:cNvSpPr/>
          <p:nvPr/>
        </p:nvSpPr>
        <p:spPr>
          <a:xfrm flipH="false" flipV="false" rot="0">
            <a:off x="3422534" y="5767231"/>
            <a:ext cx="11559381" cy="3130319"/>
          </a:xfrm>
          <a:custGeom>
            <a:avLst/>
            <a:gdLst/>
            <a:ahLst/>
            <a:cxnLst/>
            <a:rect r="r" b="b" t="t" l="l"/>
            <a:pathLst>
              <a:path h="3130319" w="11559381">
                <a:moveTo>
                  <a:pt x="0" y="0"/>
                </a:moveTo>
                <a:lnTo>
                  <a:pt x="11559380" y="0"/>
                </a:lnTo>
                <a:lnTo>
                  <a:pt x="11559380" y="3130319"/>
                </a:lnTo>
                <a:lnTo>
                  <a:pt x="0" y="3130319"/>
                </a:lnTo>
                <a:lnTo>
                  <a:pt x="0" y="0"/>
                </a:lnTo>
                <a:close/>
              </a:path>
            </a:pathLst>
          </a:custGeom>
          <a:blipFill>
            <a:blip r:embed="rId3"/>
            <a:stretch>
              <a:fillRect l="0" t="0" r="-71" b="-8280"/>
            </a:stretch>
          </a:blipFill>
        </p:spPr>
      </p:sp>
      <p:sp>
        <p:nvSpPr>
          <p:cNvPr name="TextBox 10" id="10"/>
          <p:cNvSpPr txBox="true"/>
          <p:nvPr/>
        </p:nvSpPr>
        <p:spPr>
          <a:xfrm rot="0">
            <a:off x="3092137" y="706770"/>
            <a:ext cx="12009836"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Load Product Dimension </a:t>
            </a:r>
          </a:p>
        </p:txBody>
      </p:sp>
      <p:sp>
        <p:nvSpPr>
          <p:cNvPr name="TextBox 11" id="11"/>
          <p:cNvSpPr txBox="true"/>
          <p:nvPr/>
        </p:nvSpPr>
        <p:spPr>
          <a:xfrm rot="0">
            <a:off x="1727960" y="3210405"/>
            <a:ext cx="84120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V1</a:t>
            </a:r>
          </a:p>
        </p:txBody>
      </p:sp>
      <p:sp>
        <p:nvSpPr>
          <p:cNvPr name="TextBox 12" id="12"/>
          <p:cNvSpPr txBox="true"/>
          <p:nvPr/>
        </p:nvSpPr>
        <p:spPr>
          <a:xfrm rot="0">
            <a:off x="1727960" y="6789711"/>
            <a:ext cx="110277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V2</a:t>
            </a:r>
          </a:p>
        </p:txBody>
      </p:sp>
      <p:sp>
        <p:nvSpPr>
          <p:cNvPr name="TextBox 13" id="13"/>
          <p:cNvSpPr txBox="true"/>
          <p:nvPr/>
        </p:nvSpPr>
        <p:spPr>
          <a:xfrm rot="0">
            <a:off x="4537014" y="9029828"/>
            <a:ext cx="9213971" cy="933298"/>
          </a:xfrm>
          <a:prstGeom prst="rect">
            <a:avLst/>
          </a:prstGeom>
        </p:spPr>
        <p:txBody>
          <a:bodyPr anchor="t" rtlCol="false" tIns="0" lIns="0" bIns="0" rIns="0">
            <a:spAutoFit/>
          </a:bodyPr>
          <a:lstStyle/>
          <a:p>
            <a:pPr algn="l" marL="0" indent="0" lvl="0">
              <a:lnSpc>
                <a:spcPts val="3683"/>
              </a:lnSpc>
              <a:spcBef>
                <a:spcPct val="0"/>
              </a:spcBef>
            </a:pPr>
            <a:r>
              <a:rPr lang="en-US" sz="2630" spc="-52">
                <a:solidFill>
                  <a:srgbClr val="FDFDFD"/>
                </a:solidFill>
                <a:latin typeface="Poppins"/>
                <a:ea typeface="Poppins"/>
                <a:cs typeface="Poppins"/>
                <a:sym typeface="Poppins"/>
              </a:rPr>
              <a:t>12 products</a:t>
            </a:r>
            <a:r>
              <a:rPr lang="en-US" sz="2630" spc="-52" strike="noStrike" u="none">
                <a:solidFill>
                  <a:srgbClr val="FDFDFD"/>
                </a:solidFill>
                <a:latin typeface="Poppins"/>
                <a:ea typeface="Poppins"/>
                <a:cs typeface="Poppins"/>
                <a:sym typeface="Poppins"/>
              </a:rPr>
              <a:t> were updated, with 283 historical changes recorded for cost and price.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3627817" y="2740340"/>
            <a:ext cx="12227958" cy="2025490"/>
          </a:xfrm>
          <a:custGeom>
            <a:avLst/>
            <a:gdLst/>
            <a:ahLst/>
            <a:cxnLst/>
            <a:rect r="r" b="b" t="t" l="l"/>
            <a:pathLst>
              <a:path h="2025490" w="12227958">
                <a:moveTo>
                  <a:pt x="0" y="0"/>
                </a:moveTo>
                <a:lnTo>
                  <a:pt x="12227958" y="0"/>
                </a:lnTo>
                <a:lnTo>
                  <a:pt x="12227958" y="2025490"/>
                </a:lnTo>
                <a:lnTo>
                  <a:pt x="0" y="2025490"/>
                </a:lnTo>
                <a:lnTo>
                  <a:pt x="0" y="0"/>
                </a:lnTo>
                <a:close/>
              </a:path>
            </a:pathLst>
          </a:custGeom>
          <a:blipFill>
            <a:blip r:embed="rId2"/>
            <a:stretch>
              <a:fillRect l="0" t="0" r="0" b="0"/>
            </a:stretch>
          </a:blipFill>
        </p:spPr>
      </p:sp>
      <p:sp>
        <p:nvSpPr>
          <p:cNvPr name="Freeform 9" id="9"/>
          <p:cNvSpPr/>
          <p:nvPr/>
        </p:nvSpPr>
        <p:spPr>
          <a:xfrm flipH="false" flipV="false" rot="0">
            <a:off x="3627817" y="6438399"/>
            <a:ext cx="12227958" cy="1845963"/>
          </a:xfrm>
          <a:custGeom>
            <a:avLst/>
            <a:gdLst/>
            <a:ahLst/>
            <a:cxnLst/>
            <a:rect r="r" b="b" t="t" l="l"/>
            <a:pathLst>
              <a:path h="1845963" w="12227958">
                <a:moveTo>
                  <a:pt x="0" y="0"/>
                </a:moveTo>
                <a:lnTo>
                  <a:pt x="12227958" y="0"/>
                </a:lnTo>
                <a:lnTo>
                  <a:pt x="12227958" y="1845963"/>
                </a:lnTo>
                <a:lnTo>
                  <a:pt x="0" y="1845963"/>
                </a:lnTo>
                <a:lnTo>
                  <a:pt x="0" y="0"/>
                </a:lnTo>
                <a:close/>
              </a:path>
            </a:pathLst>
          </a:custGeom>
          <a:blipFill>
            <a:blip r:embed="rId3"/>
            <a:stretch>
              <a:fillRect l="0" t="0" r="0" b="0"/>
            </a:stretch>
          </a:blipFill>
        </p:spPr>
      </p:sp>
      <p:sp>
        <p:nvSpPr>
          <p:cNvPr name="TextBox 10" id="10"/>
          <p:cNvSpPr txBox="true"/>
          <p:nvPr/>
        </p:nvSpPr>
        <p:spPr>
          <a:xfrm rot="0">
            <a:off x="3092137" y="706770"/>
            <a:ext cx="12009836"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Load Sales Fact </a:t>
            </a:r>
          </a:p>
        </p:txBody>
      </p:sp>
      <p:sp>
        <p:nvSpPr>
          <p:cNvPr name="TextBox 11" id="11"/>
          <p:cNvSpPr txBox="true"/>
          <p:nvPr/>
        </p:nvSpPr>
        <p:spPr>
          <a:xfrm rot="0">
            <a:off x="1727960" y="3210405"/>
            <a:ext cx="84120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V1</a:t>
            </a:r>
          </a:p>
        </p:txBody>
      </p:sp>
      <p:sp>
        <p:nvSpPr>
          <p:cNvPr name="TextBox 12" id="12"/>
          <p:cNvSpPr txBox="true"/>
          <p:nvPr/>
        </p:nvSpPr>
        <p:spPr>
          <a:xfrm rot="0">
            <a:off x="1727960" y="6789711"/>
            <a:ext cx="1102770"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FDFDFD"/>
                </a:solidFill>
                <a:latin typeface="Montserrat Bold"/>
                <a:ea typeface="Montserrat Bold"/>
                <a:cs typeface="Montserrat Bold"/>
                <a:sym typeface="Montserrat Bold"/>
              </a:rPr>
              <a:t>V2</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916511" y="7106247"/>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3" id="3"/>
          <p:cNvGrpSpPr/>
          <p:nvPr/>
        </p:nvGrpSpPr>
        <p:grpSpPr>
          <a:xfrm rot="0">
            <a:off x="1317506" y="3298645"/>
            <a:ext cx="7039809" cy="4068448"/>
            <a:chOff x="0" y="0"/>
            <a:chExt cx="1873074" cy="1082487"/>
          </a:xfrm>
        </p:grpSpPr>
        <p:sp>
          <p:nvSpPr>
            <p:cNvPr name="Freeform 4" id="4"/>
            <p:cNvSpPr/>
            <p:nvPr/>
          </p:nvSpPr>
          <p:spPr>
            <a:xfrm flipH="false" flipV="false" rot="0">
              <a:off x="0" y="0"/>
              <a:ext cx="1873074" cy="1082487"/>
            </a:xfrm>
            <a:custGeom>
              <a:avLst/>
              <a:gdLst/>
              <a:ahLst/>
              <a:cxnLst/>
              <a:rect r="r" b="b" t="t" l="l"/>
              <a:pathLst>
                <a:path h="1082487" w="1873074">
                  <a:moveTo>
                    <a:pt x="48388" y="0"/>
                  </a:moveTo>
                  <a:lnTo>
                    <a:pt x="1824685" y="0"/>
                  </a:lnTo>
                  <a:cubicBezTo>
                    <a:pt x="1851409" y="0"/>
                    <a:pt x="1873074" y="21664"/>
                    <a:pt x="1873074" y="48388"/>
                  </a:cubicBezTo>
                  <a:lnTo>
                    <a:pt x="1873074" y="1034099"/>
                  </a:lnTo>
                  <a:cubicBezTo>
                    <a:pt x="1873074" y="1060823"/>
                    <a:pt x="1851409" y="1082487"/>
                    <a:pt x="1824685" y="1082487"/>
                  </a:cubicBezTo>
                  <a:lnTo>
                    <a:pt x="48388" y="1082487"/>
                  </a:lnTo>
                  <a:cubicBezTo>
                    <a:pt x="35555" y="1082487"/>
                    <a:pt x="23247" y="1077389"/>
                    <a:pt x="14173" y="1068315"/>
                  </a:cubicBezTo>
                  <a:cubicBezTo>
                    <a:pt x="5098" y="1059240"/>
                    <a:pt x="0" y="1046932"/>
                    <a:pt x="0" y="1034099"/>
                  </a:cubicBezTo>
                  <a:lnTo>
                    <a:pt x="0" y="48388"/>
                  </a:lnTo>
                  <a:cubicBezTo>
                    <a:pt x="0" y="21664"/>
                    <a:pt x="21664" y="0"/>
                    <a:pt x="48388" y="0"/>
                  </a:cubicBezTo>
                  <a:close/>
                </a:path>
              </a:pathLst>
            </a:custGeom>
            <a:solidFill>
              <a:srgbClr val="FDFDFD"/>
            </a:solidFill>
          </p:spPr>
        </p:sp>
        <p:sp>
          <p:nvSpPr>
            <p:cNvPr name="TextBox 5" id="5"/>
            <p:cNvSpPr txBox="true"/>
            <p:nvPr/>
          </p:nvSpPr>
          <p:spPr>
            <a:xfrm>
              <a:off x="0" y="-38100"/>
              <a:ext cx="1873074" cy="1120587"/>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6" id="6"/>
          <p:cNvGrpSpPr/>
          <p:nvPr/>
        </p:nvGrpSpPr>
        <p:grpSpPr>
          <a:xfrm rot="0">
            <a:off x="-2123887" y="-2346523"/>
            <a:ext cx="4693046" cy="46930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5573718" y="7940477"/>
            <a:ext cx="4693046" cy="46930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524147" y="3752959"/>
            <a:ext cx="6626527" cy="2781081"/>
          </a:xfrm>
          <a:custGeom>
            <a:avLst/>
            <a:gdLst/>
            <a:ahLst/>
            <a:cxnLst/>
            <a:rect r="r" b="b" t="t" l="l"/>
            <a:pathLst>
              <a:path h="2781081" w="6626527">
                <a:moveTo>
                  <a:pt x="0" y="0"/>
                </a:moveTo>
                <a:lnTo>
                  <a:pt x="6626527" y="0"/>
                </a:lnTo>
                <a:lnTo>
                  <a:pt x="6626527" y="2781082"/>
                </a:lnTo>
                <a:lnTo>
                  <a:pt x="0" y="2781082"/>
                </a:lnTo>
                <a:lnTo>
                  <a:pt x="0" y="0"/>
                </a:lnTo>
                <a:close/>
              </a:path>
            </a:pathLst>
          </a:custGeom>
          <a:blipFill>
            <a:blip r:embed="rId3"/>
            <a:stretch>
              <a:fillRect l="0" t="0" r="0" b="0"/>
            </a:stretch>
          </a:blipFill>
        </p:spPr>
      </p:sp>
      <p:sp>
        <p:nvSpPr>
          <p:cNvPr name="Freeform 13" id="13"/>
          <p:cNvSpPr/>
          <p:nvPr/>
        </p:nvSpPr>
        <p:spPr>
          <a:xfrm flipH="false" flipV="false" rot="0">
            <a:off x="10818496" y="7106247"/>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14" id="14"/>
          <p:cNvGrpSpPr/>
          <p:nvPr/>
        </p:nvGrpSpPr>
        <p:grpSpPr>
          <a:xfrm rot="0">
            <a:off x="10219491" y="3298645"/>
            <a:ext cx="7039809" cy="4068448"/>
            <a:chOff x="0" y="0"/>
            <a:chExt cx="1873074" cy="1082487"/>
          </a:xfrm>
        </p:grpSpPr>
        <p:sp>
          <p:nvSpPr>
            <p:cNvPr name="Freeform 15" id="15"/>
            <p:cNvSpPr/>
            <p:nvPr/>
          </p:nvSpPr>
          <p:spPr>
            <a:xfrm flipH="false" flipV="false" rot="0">
              <a:off x="0" y="0"/>
              <a:ext cx="1873074" cy="1082487"/>
            </a:xfrm>
            <a:custGeom>
              <a:avLst/>
              <a:gdLst/>
              <a:ahLst/>
              <a:cxnLst/>
              <a:rect r="r" b="b" t="t" l="l"/>
              <a:pathLst>
                <a:path h="1082487" w="1873074">
                  <a:moveTo>
                    <a:pt x="48388" y="0"/>
                  </a:moveTo>
                  <a:lnTo>
                    <a:pt x="1824685" y="0"/>
                  </a:lnTo>
                  <a:cubicBezTo>
                    <a:pt x="1851409" y="0"/>
                    <a:pt x="1873074" y="21664"/>
                    <a:pt x="1873074" y="48388"/>
                  </a:cubicBezTo>
                  <a:lnTo>
                    <a:pt x="1873074" y="1034099"/>
                  </a:lnTo>
                  <a:cubicBezTo>
                    <a:pt x="1873074" y="1060823"/>
                    <a:pt x="1851409" y="1082487"/>
                    <a:pt x="1824685" y="1082487"/>
                  </a:cubicBezTo>
                  <a:lnTo>
                    <a:pt x="48388" y="1082487"/>
                  </a:lnTo>
                  <a:cubicBezTo>
                    <a:pt x="35555" y="1082487"/>
                    <a:pt x="23247" y="1077389"/>
                    <a:pt x="14173" y="1068315"/>
                  </a:cubicBezTo>
                  <a:cubicBezTo>
                    <a:pt x="5098" y="1059240"/>
                    <a:pt x="0" y="1046932"/>
                    <a:pt x="0" y="1034099"/>
                  </a:cubicBezTo>
                  <a:lnTo>
                    <a:pt x="0" y="48388"/>
                  </a:lnTo>
                  <a:cubicBezTo>
                    <a:pt x="0" y="21664"/>
                    <a:pt x="21664" y="0"/>
                    <a:pt x="48388" y="0"/>
                  </a:cubicBezTo>
                  <a:close/>
                </a:path>
              </a:pathLst>
            </a:custGeom>
            <a:solidFill>
              <a:srgbClr val="FDFDFD"/>
            </a:solidFill>
          </p:spPr>
        </p:sp>
        <p:sp>
          <p:nvSpPr>
            <p:cNvPr name="TextBox 16" id="16"/>
            <p:cNvSpPr txBox="true"/>
            <p:nvPr/>
          </p:nvSpPr>
          <p:spPr>
            <a:xfrm>
              <a:off x="0" y="-38100"/>
              <a:ext cx="1873074" cy="1120587"/>
            </a:xfrm>
            <a:prstGeom prst="rect">
              <a:avLst/>
            </a:prstGeom>
          </p:spPr>
          <p:txBody>
            <a:bodyPr anchor="ctr" rtlCol="false" tIns="50800" lIns="50800" bIns="50800" rIns="50800"/>
            <a:lstStyle/>
            <a:p>
              <a:pPr algn="ctr">
                <a:lnSpc>
                  <a:spcPts val="2659"/>
                </a:lnSpc>
              </a:pPr>
            </a:p>
            <a:p>
              <a:pPr algn="ctr">
                <a:lnSpc>
                  <a:spcPts val="2659"/>
                </a:lnSpc>
              </a:pPr>
            </a:p>
          </p:txBody>
        </p:sp>
      </p:grpSp>
      <p:sp>
        <p:nvSpPr>
          <p:cNvPr name="Freeform 17" id="17"/>
          <p:cNvSpPr/>
          <p:nvPr/>
        </p:nvSpPr>
        <p:spPr>
          <a:xfrm flipH="false" flipV="false" rot="0">
            <a:off x="10438706" y="3647919"/>
            <a:ext cx="6601378" cy="2662094"/>
          </a:xfrm>
          <a:custGeom>
            <a:avLst/>
            <a:gdLst/>
            <a:ahLst/>
            <a:cxnLst/>
            <a:rect r="r" b="b" t="t" l="l"/>
            <a:pathLst>
              <a:path h="2662094" w="6601378">
                <a:moveTo>
                  <a:pt x="0" y="0"/>
                </a:moveTo>
                <a:lnTo>
                  <a:pt x="6601379" y="0"/>
                </a:lnTo>
                <a:lnTo>
                  <a:pt x="6601379" y="2662094"/>
                </a:lnTo>
                <a:lnTo>
                  <a:pt x="0" y="2662094"/>
                </a:lnTo>
                <a:lnTo>
                  <a:pt x="0" y="0"/>
                </a:lnTo>
                <a:close/>
              </a:path>
            </a:pathLst>
          </a:custGeom>
          <a:blipFill>
            <a:blip r:embed="rId4"/>
            <a:stretch>
              <a:fillRect l="0" t="0" r="0" b="0"/>
            </a:stretch>
          </a:blipFill>
        </p:spPr>
      </p:sp>
      <p:sp>
        <p:nvSpPr>
          <p:cNvPr name="TextBox 18" id="18"/>
          <p:cNvSpPr txBox="true"/>
          <p:nvPr/>
        </p:nvSpPr>
        <p:spPr>
          <a:xfrm rot="0">
            <a:off x="5417025" y="1323368"/>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OLTP Query</a:t>
            </a:r>
          </a:p>
        </p:txBody>
      </p:sp>
      <p:sp>
        <p:nvSpPr>
          <p:cNvPr name="TextBox 19" id="19"/>
          <p:cNvSpPr txBox="true"/>
          <p:nvPr/>
        </p:nvSpPr>
        <p:spPr>
          <a:xfrm rot="0">
            <a:off x="3398707" y="6433838"/>
            <a:ext cx="2877407" cy="488665"/>
          </a:xfrm>
          <a:prstGeom prst="rect">
            <a:avLst/>
          </a:prstGeom>
        </p:spPr>
        <p:txBody>
          <a:bodyPr anchor="t" rtlCol="false" tIns="0" lIns="0" bIns="0" rIns="0">
            <a:spAutoFit/>
          </a:bodyPr>
          <a:lstStyle/>
          <a:p>
            <a:pPr algn="ctr" marL="0" indent="0" lvl="0">
              <a:lnSpc>
                <a:spcPts val="4040"/>
              </a:lnSpc>
              <a:spcBef>
                <a:spcPct val="0"/>
              </a:spcBef>
            </a:pPr>
            <a:r>
              <a:rPr lang="en-US" b="true" sz="2886">
                <a:solidFill>
                  <a:srgbClr val="00569E"/>
                </a:solidFill>
                <a:latin typeface="Montserrat Bold"/>
                <a:ea typeface="Montserrat Bold"/>
                <a:cs typeface="Montserrat Bold"/>
                <a:sym typeface="Montserrat Bold"/>
              </a:rPr>
              <a:t>V1</a:t>
            </a:r>
          </a:p>
        </p:txBody>
      </p:sp>
      <p:sp>
        <p:nvSpPr>
          <p:cNvPr name="TextBox 20" id="20"/>
          <p:cNvSpPr txBox="true"/>
          <p:nvPr/>
        </p:nvSpPr>
        <p:spPr>
          <a:xfrm rot="0">
            <a:off x="12300692" y="6433838"/>
            <a:ext cx="2877407" cy="488665"/>
          </a:xfrm>
          <a:prstGeom prst="rect">
            <a:avLst/>
          </a:prstGeom>
        </p:spPr>
        <p:txBody>
          <a:bodyPr anchor="t" rtlCol="false" tIns="0" lIns="0" bIns="0" rIns="0">
            <a:spAutoFit/>
          </a:bodyPr>
          <a:lstStyle/>
          <a:p>
            <a:pPr algn="ctr" marL="0" indent="0" lvl="0">
              <a:lnSpc>
                <a:spcPts val="4040"/>
              </a:lnSpc>
              <a:spcBef>
                <a:spcPct val="0"/>
              </a:spcBef>
            </a:pPr>
            <a:r>
              <a:rPr lang="en-US" b="true" sz="2886">
                <a:solidFill>
                  <a:srgbClr val="00569E"/>
                </a:solidFill>
                <a:latin typeface="Montserrat Bold"/>
                <a:ea typeface="Montserrat Bold"/>
                <a:cs typeface="Montserrat Bold"/>
                <a:sym typeface="Montserrat Bold"/>
              </a:rPr>
              <a:t>V2</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916511" y="7106247"/>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3" id="3"/>
          <p:cNvGrpSpPr/>
          <p:nvPr/>
        </p:nvGrpSpPr>
        <p:grpSpPr>
          <a:xfrm rot="0">
            <a:off x="1317506" y="3298645"/>
            <a:ext cx="7039809" cy="4068448"/>
            <a:chOff x="0" y="0"/>
            <a:chExt cx="1873074" cy="1082487"/>
          </a:xfrm>
        </p:grpSpPr>
        <p:sp>
          <p:nvSpPr>
            <p:cNvPr name="Freeform 4" id="4"/>
            <p:cNvSpPr/>
            <p:nvPr/>
          </p:nvSpPr>
          <p:spPr>
            <a:xfrm flipH="false" flipV="false" rot="0">
              <a:off x="0" y="0"/>
              <a:ext cx="1873074" cy="1082487"/>
            </a:xfrm>
            <a:custGeom>
              <a:avLst/>
              <a:gdLst/>
              <a:ahLst/>
              <a:cxnLst/>
              <a:rect r="r" b="b" t="t" l="l"/>
              <a:pathLst>
                <a:path h="1082487" w="1873074">
                  <a:moveTo>
                    <a:pt x="48388" y="0"/>
                  </a:moveTo>
                  <a:lnTo>
                    <a:pt x="1824685" y="0"/>
                  </a:lnTo>
                  <a:cubicBezTo>
                    <a:pt x="1851409" y="0"/>
                    <a:pt x="1873074" y="21664"/>
                    <a:pt x="1873074" y="48388"/>
                  </a:cubicBezTo>
                  <a:lnTo>
                    <a:pt x="1873074" y="1034099"/>
                  </a:lnTo>
                  <a:cubicBezTo>
                    <a:pt x="1873074" y="1060823"/>
                    <a:pt x="1851409" y="1082487"/>
                    <a:pt x="1824685" y="1082487"/>
                  </a:cubicBezTo>
                  <a:lnTo>
                    <a:pt x="48388" y="1082487"/>
                  </a:lnTo>
                  <a:cubicBezTo>
                    <a:pt x="35555" y="1082487"/>
                    <a:pt x="23247" y="1077389"/>
                    <a:pt x="14173" y="1068315"/>
                  </a:cubicBezTo>
                  <a:cubicBezTo>
                    <a:pt x="5098" y="1059240"/>
                    <a:pt x="0" y="1046932"/>
                    <a:pt x="0" y="1034099"/>
                  </a:cubicBezTo>
                  <a:lnTo>
                    <a:pt x="0" y="48388"/>
                  </a:lnTo>
                  <a:cubicBezTo>
                    <a:pt x="0" y="21664"/>
                    <a:pt x="21664" y="0"/>
                    <a:pt x="48388" y="0"/>
                  </a:cubicBezTo>
                  <a:close/>
                </a:path>
              </a:pathLst>
            </a:custGeom>
            <a:solidFill>
              <a:srgbClr val="FDFDFD"/>
            </a:solidFill>
          </p:spPr>
        </p:sp>
        <p:sp>
          <p:nvSpPr>
            <p:cNvPr name="TextBox 5" id="5"/>
            <p:cNvSpPr txBox="true"/>
            <p:nvPr/>
          </p:nvSpPr>
          <p:spPr>
            <a:xfrm>
              <a:off x="0" y="-38100"/>
              <a:ext cx="1873074" cy="1120587"/>
            </a:xfrm>
            <a:prstGeom prst="rect">
              <a:avLst/>
            </a:prstGeom>
          </p:spPr>
          <p:txBody>
            <a:bodyPr anchor="ctr" rtlCol="false" tIns="50800" lIns="50800" bIns="50800" rIns="50800"/>
            <a:lstStyle/>
            <a:p>
              <a:pPr algn="ctr">
                <a:lnSpc>
                  <a:spcPts val="2659"/>
                </a:lnSpc>
              </a:pPr>
            </a:p>
            <a:p>
              <a:pPr algn="ctr">
                <a:lnSpc>
                  <a:spcPts val="2659"/>
                </a:lnSpc>
              </a:pPr>
            </a:p>
          </p:txBody>
        </p:sp>
      </p:grpSp>
      <p:grpSp>
        <p:nvGrpSpPr>
          <p:cNvPr name="Group 6" id="6"/>
          <p:cNvGrpSpPr/>
          <p:nvPr/>
        </p:nvGrpSpPr>
        <p:grpSpPr>
          <a:xfrm rot="0">
            <a:off x="-2123887" y="-2346523"/>
            <a:ext cx="4693046" cy="46930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5573718" y="7940477"/>
            <a:ext cx="4693046" cy="469304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10818496" y="7106247"/>
            <a:ext cx="5841799" cy="1153755"/>
          </a:xfrm>
          <a:custGeom>
            <a:avLst/>
            <a:gdLst/>
            <a:ahLst/>
            <a:cxnLst/>
            <a:rect r="r" b="b" t="t" l="l"/>
            <a:pathLst>
              <a:path h="1153755" w="5841799">
                <a:moveTo>
                  <a:pt x="0" y="0"/>
                </a:moveTo>
                <a:lnTo>
                  <a:pt x="5841799" y="0"/>
                </a:lnTo>
                <a:lnTo>
                  <a:pt x="5841799" y="1153755"/>
                </a:lnTo>
                <a:lnTo>
                  <a:pt x="0" y="1153755"/>
                </a:lnTo>
                <a:lnTo>
                  <a:pt x="0" y="0"/>
                </a:lnTo>
                <a:close/>
              </a:path>
            </a:pathLst>
          </a:custGeom>
          <a:blipFill>
            <a:blip r:embed="rId2"/>
            <a:stretch>
              <a:fillRect l="0" t="0" r="0" b="0"/>
            </a:stretch>
          </a:blipFill>
        </p:spPr>
      </p:sp>
      <p:grpSp>
        <p:nvGrpSpPr>
          <p:cNvPr name="Group 13" id="13"/>
          <p:cNvGrpSpPr/>
          <p:nvPr/>
        </p:nvGrpSpPr>
        <p:grpSpPr>
          <a:xfrm rot="0">
            <a:off x="10219491" y="3298645"/>
            <a:ext cx="7039809" cy="4068448"/>
            <a:chOff x="0" y="0"/>
            <a:chExt cx="1873074" cy="1082487"/>
          </a:xfrm>
        </p:grpSpPr>
        <p:sp>
          <p:nvSpPr>
            <p:cNvPr name="Freeform 14" id="14"/>
            <p:cNvSpPr/>
            <p:nvPr/>
          </p:nvSpPr>
          <p:spPr>
            <a:xfrm flipH="false" flipV="false" rot="0">
              <a:off x="0" y="0"/>
              <a:ext cx="1873074" cy="1082487"/>
            </a:xfrm>
            <a:custGeom>
              <a:avLst/>
              <a:gdLst/>
              <a:ahLst/>
              <a:cxnLst/>
              <a:rect r="r" b="b" t="t" l="l"/>
              <a:pathLst>
                <a:path h="1082487" w="1873074">
                  <a:moveTo>
                    <a:pt x="48388" y="0"/>
                  </a:moveTo>
                  <a:lnTo>
                    <a:pt x="1824685" y="0"/>
                  </a:lnTo>
                  <a:cubicBezTo>
                    <a:pt x="1851409" y="0"/>
                    <a:pt x="1873074" y="21664"/>
                    <a:pt x="1873074" y="48388"/>
                  </a:cubicBezTo>
                  <a:lnTo>
                    <a:pt x="1873074" y="1034099"/>
                  </a:lnTo>
                  <a:cubicBezTo>
                    <a:pt x="1873074" y="1060823"/>
                    <a:pt x="1851409" y="1082487"/>
                    <a:pt x="1824685" y="1082487"/>
                  </a:cubicBezTo>
                  <a:lnTo>
                    <a:pt x="48388" y="1082487"/>
                  </a:lnTo>
                  <a:cubicBezTo>
                    <a:pt x="35555" y="1082487"/>
                    <a:pt x="23247" y="1077389"/>
                    <a:pt x="14173" y="1068315"/>
                  </a:cubicBezTo>
                  <a:cubicBezTo>
                    <a:pt x="5098" y="1059240"/>
                    <a:pt x="0" y="1046932"/>
                    <a:pt x="0" y="1034099"/>
                  </a:cubicBezTo>
                  <a:lnTo>
                    <a:pt x="0" y="48388"/>
                  </a:lnTo>
                  <a:cubicBezTo>
                    <a:pt x="0" y="21664"/>
                    <a:pt x="21664" y="0"/>
                    <a:pt x="48388" y="0"/>
                  </a:cubicBezTo>
                  <a:close/>
                </a:path>
              </a:pathLst>
            </a:custGeom>
            <a:solidFill>
              <a:srgbClr val="FDFDFD"/>
            </a:solidFill>
          </p:spPr>
        </p:sp>
        <p:sp>
          <p:nvSpPr>
            <p:cNvPr name="TextBox 15" id="15"/>
            <p:cNvSpPr txBox="true"/>
            <p:nvPr/>
          </p:nvSpPr>
          <p:spPr>
            <a:xfrm>
              <a:off x="0" y="-38100"/>
              <a:ext cx="1873074" cy="1120587"/>
            </a:xfrm>
            <a:prstGeom prst="rect">
              <a:avLst/>
            </a:prstGeom>
          </p:spPr>
          <p:txBody>
            <a:bodyPr anchor="ctr" rtlCol="false" tIns="50800" lIns="50800" bIns="50800" rIns="50800"/>
            <a:lstStyle/>
            <a:p>
              <a:pPr algn="ctr">
                <a:lnSpc>
                  <a:spcPts val="2659"/>
                </a:lnSpc>
              </a:pPr>
            </a:p>
            <a:p>
              <a:pPr algn="ctr">
                <a:lnSpc>
                  <a:spcPts val="2659"/>
                </a:lnSpc>
              </a:pPr>
            </a:p>
          </p:txBody>
        </p:sp>
      </p:grpSp>
      <p:sp>
        <p:nvSpPr>
          <p:cNvPr name="Freeform 16" id="16"/>
          <p:cNvSpPr/>
          <p:nvPr/>
        </p:nvSpPr>
        <p:spPr>
          <a:xfrm flipH="false" flipV="false" rot="0">
            <a:off x="1549465" y="3842778"/>
            <a:ext cx="6575892" cy="2294652"/>
          </a:xfrm>
          <a:custGeom>
            <a:avLst/>
            <a:gdLst/>
            <a:ahLst/>
            <a:cxnLst/>
            <a:rect r="r" b="b" t="t" l="l"/>
            <a:pathLst>
              <a:path h="2294652" w="6575892">
                <a:moveTo>
                  <a:pt x="0" y="0"/>
                </a:moveTo>
                <a:lnTo>
                  <a:pt x="6575892" y="0"/>
                </a:lnTo>
                <a:lnTo>
                  <a:pt x="6575892" y="2294652"/>
                </a:lnTo>
                <a:lnTo>
                  <a:pt x="0" y="2294652"/>
                </a:lnTo>
                <a:lnTo>
                  <a:pt x="0" y="0"/>
                </a:lnTo>
                <a:close/>
              </a:path>
            </a:pathLst>
          </a:custGeom>
          <a:blipFill>
            <a:blip r:embed="rId3"/>
            <a:stretch>
              <a:fillRect l="0" t="0" r="0" b="-15407"/>
            </a:stretch>
          </a:blipFill>
        </p:spPr>
      </p:sp>
      <p:sp>
        <p:nvSpPr>
          <p:cNvPr name="Freeform 17" id="17"/>
          <p:cNvSpPr/>
          <p:nvPr/>
        </p:nvSpPr>
        <p:spPr>
          <a:xfrm flipH="false" flipV="false" rot="0">
            <a:off x="10376906" y="3842778"/>
            <a:ext cx="6724978" cy="2294652"/>
          </a:xfrm>
          <a:custGeom>
            <a:avLst/>
            <a:gdLst/>
            <a:ahLst/>
            <a:cxnLst/>
            <a:rect r="r" b="b" t="t" l="l"/>
            <a:pathLst>
              <a:path h="2294652" w="6724978">
                <a:moveTo>
                  <a:pt x="0" y="0"/>
                </a:moveTo>
                <a:lnTo>
                  <a:pt x="6724979" y="0"/>
                </a:lnTo>
                <a:lnTo>
                  <a:pt x="6724979" y="2294652"/>
                </a:lnTo>
                <a:lnTo>
                  <a:pt x="0" y="2294652"/>
                </a:lnTo>
                <a:lnTo>
                  <a:pt x="0" y="0"/>
                </a:lnTo>
                <a:close/>
              </a:path>
            </a:pathLst>
          </a:custGeom>
          <a:blipFill>
            <a:blip r:embed="rId4"/>
            <a:stretch>
              <a:fillRect l="0" t="0" r="0" b="-19568"/>
            </a:stretch>
          </a:blipFill>
        </p:spPr>
      </p:sp>
      <p:sp>
        <p:nvSpPr>
          <p:cNvPr name="TextBox 18" id="18"/>
          <p:cNvSpPr txBox="true"/>
          <p:nvPr/>
        </p:nvSpPr>
        <p:spPr>
          <a:xfrm rot="0">
            <a:off x="5417025" y="1323368"/>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OLAP Query</a:t>
            </a:r>
          </a:p>
        </p:txBody>
      </p:sp>
      <p:sp>
        <p:nvSpPr>
          <p:cNvPr name="TextBox 19" id="19"/>
          <p:cNvSpPr txBox="true"/>
          <p:nvPr/>
        </p:nvSpPr>
        <p:spPr>
          <a:xfrm rot="0">
            <a:off x="3398707" y="6433838"/>
            <a:ext cx="2877407" cy="488665"/>
          </a:xfrm>
          <a:prstGeom prst="rect">
            <a:avLst/>
          </a:prstGeom>
        </p:spPr>
        <p:txBody>
          <a:bodyPr anchor="t" rtlCol="false" tIns="0" lIns="0" bIns="0" rIns="0">
            <a:spAutoFit/>
          </a:bodyPr>
          <a:lstStyle/>
          <a:p>
            <a:pPr algn="ctr" marL="0" indent="0" lvl="0">
              <a:lnSpc>
                <a:spcPts val="4040"/>
              </a:lnSpc>
              <a:spcBef>
                <a:spcPct val="0"/>
              </a:spcBef>
            </a:pPr>
            <a:r>
              <a:rPr lang="en-US" b="true" sz="2886">
                <a:solidFill>
                  <a:srgbClr val="00569E"/>
                </a:solidFill>
                <a:latin typeface="Montserrat Bold"/>
                <a:ea typeface="Montserrat Bold"/>
                <a:cs typeface="Montserrat Bold"/>
                <a:sym typeface="Montserrat Bold"/>
              </a:rPr>
              <a:t>V1</a:t>
            </a:r>
          </a:p>
        </p:txBody>
      </p:sp>
      <p:sp>
        <p:nvSpPr>
          <p:cNvPr name="TextBox 20" id="20"/>
          <p:cNvSpPr txBox="true"/>
          <p:nvPr/>
        </p:nvSpPr>
        <p:spPr>
          <a:xfrm rot="0">
            <a:off x="12300692" y="6433838"/>
            <a:ext cx="2877407" cy="488665"/>
          </a:xfrm>
          <a:prstGeom prst="rect">
            <a:avLst/>
          </a:prstGeom>
        </p:spPr>
        <p:txBody>
          <a:bodyPr anchor="t" rtlCol="false" tIns="0" lIns="0" bIns="0" rIns="0">
            <a:spAutoFit/>
          </a:bodyPr>
          <a:lstStyle/>
          <a:p>
            <a:pPr algn="ctr" marL="0" indent="0" lvl="0">
              <a:lnSpc>
                <a:spcPts val="4040"/>
              </a:lnSpc>
              <a:spcBef>
                <a:spcPct val="0"/>
              </a:spcBef>
            </a:pPr>
            <a:r>
              <a:rPr lang="en-US" b="true" sz="2886">
                <a:solidFill>
                  <a:srgbClr val="00569E"/>
                </a:solidFill>
                <a:latin typeface="Montserrat Bold"/>
                <a:ea typeface="Montserrat Bold"/>
                <a:cs typeface="Montserrat Bold"/>
                <a:sym typeface="Montserrat Bold"/>
              </a:rPr>
              <a:t>V2</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145DA0"/>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39603" y="1122782"/>
            <a:ext cx="7019697" cy="10556306"/>
            <a:chOff x="0" y="0"/>
            <a:chExt cx="660400" cy="993118"/>
          </a:xfrm>
        </p:grpSpPr>
        <p:sp>
          <p:nvSpPr>
            <p:cNvPr name="Freeform 6" id="6"/>
            <p:cNvSpPr/>
            <p:nvPr/>
          </p:nvSpPr>
          <p:spPr>
            <a:xfrm flipH="false" flipV="false" rot="0">
              <a:off x="0" y="0"/>
              <a:ext cx="660400" cy="993118"/>
            </a:xfrm>
            <a:custGeom>
              <a:avLst/>
              <a:gdLst/>
              <a:ahLst/>
              <a:cxnLst/>
              <a:rect r="r" b="b" t="t" l="l"/>
              <a:pathLst>
                <a:path h="993118"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32507"/>
                  </a:cubicBezTo>
                  <a:lnTo>
                    <a:pt x="660400" y="993118"/>
                  </a:lnTo>
                  <a:lnTo>
                    <a:pt x="0" y="993118"/>
                  </a:lnTo>
                  <a:lnTo>
                    <a:pt x="0" y="332998"/>
                  </a:lnTo>
                  <a:cubicBezTo>
                    <a:pt x="1782" y="185660"/>
                    <a:pt x="93019" y="64045"/>
                    <a:pt x="220252" y="19070"/>
                  </a:cubicBezTo>
                  <a:close/>
                </a:path>
              </a:pathLst>
            </a:custGeom>
            <a:solidFill>
              <a:srgbClr val="145DA0"/>
            </a:solidFill>
          </p:spPr>
        </p:sp>
        <p:sp>
          <p:nvSpPr>
            <p:cNvPr name="TextBox 7" id="7"/>
            <p:cNvSpPr txBox="true"/>
            <p:nvPr/>
          </p:nvSpPr>
          <p:spPr>
            <a:xfrm>
              <a:off x="0" y="88900"/>
              <a:ext cx="660400" cy="904218"/>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10673601" y="4017864"/>
            <a:ext cx="6151701" cy="5764372"/>
          </a:xfrm>
          <a:custGeom>
            <a:avLst/>
            <a:gdLst/>
            <a:ahLst/>
            <a:cxnLst/>
            <a:rect r="r" b="b" t="t" l="l"/>
            <a:pathLst>
              <a:path h="5764372" w="6151701">
                <a:moveTo>
                  <a:pt x="0" y="0"/>
                </a:moveTo>
                <a:lnTo>
                  <a:pt x="6151701" y="0"/>
                </a:lnTo>
                <a:lnTo>
                  <a:pt x="6151701" y="5764372"/>
                </a:lnTo>
                <a:lnTo>
                  <a:pt x="0" y="5764372"/>
                </a:lnTo>
                <a:lnTo>
                  <a:pt x="0" y="0"/>
                </a:lnTo>
                <a:close/>
              </a:path>
            </a:pathLst>
          </a:custGeom>
          <a:blipFill>
            <a:blip r:embed="rId2"/>
            <a:stretch>
              <a:fillRect l="0" t="0" r="0" b="0"/>
            </a:stretch>
          </a:blipFill>
        </p:spPr>
      </p:sp>
      <p:sp>
        <p:nvSpPr>
          <p:cNvPr name="TextBox 9" id="9"/>
          <p:cNvSpPr txBox="true"/>
          <p:nvPr/>
        </p:nvSpPr>
        <p:spPr>
          <a:xfrm rot="0">
            <a:off x="1028700" y="3229222"/>
            <a:ext cx="8901155" cy="6856741"/>
          </a:xfrm>
          <a:prstGeom prst="rect">
            <a:avLst/>
          </a:prstGeom>
        </p:spPr>
        <p:txBody>
          <a:bodyPr anchor="t" rtlCol="false" tIns="0" lIns="0" bIns="0" rIns="0">
            <a:spAutoFit/>
          </a:bodyPr>
          <a:lstStyle/>
          <a:p>
            <a:pPr algn="just">
              <a:lnSpc>
                <a:spcPts val="2759"/>
              </a:lnSpc>
            </a:pPr>
            <a:r>
              <a:rPr lang="en-US" b="true" sz="1970" spc="-39" strike="noStrike" u="none">
                <a:solidFill>
                  <a:srgbClr val="051D40"/>
                </a:solidFill>
                <a:latin typeface="Poppins Bold"/>
                <a:ea typeface="Poppins Bold"/>
                <a:cs typeface="Poppins Bold"/>
                <a:sym typeface="Poppins Bold"/>
              </a:rPr>
              <a:t>Data Transformation</a:t>
            </a:r>
          </a:p>
          <a:p>
            <a:pPr algn="just"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Used Power Query t</a:t>
            </a:r>
            <a:r>
              <a:rPr lang="en-US" sz="1970" spc="-39" strike="noStrike" u="none">
                <a:solidFill>
                  <a:srgbClr val="051D40"/>
                </a:solidFill>
                <a:latin typeface="Poppins"/>
                <a:ea typeface="Poppins"/>
                <a:cs typeface="Poppins"/>
                <a:sym typeface="Poppins"/>
              </a:rPr>
              <a:t>o clean, filter, and shape raw data for analysis.</a:t>
            </a:r>
          </a:p>
          <a:p>
            <a:pPr algn="just">
              <a:lnSpc>
                <a:spcPts val="2759"/>
              </a:lnSpc>
              <a:spcBef>
                <a:spcPct val="0"/>
              </a:spcBef>
            </a:pPr>
          </a:p>
          <a:p>
            <a:pPr algn="just">
              <a:lnSpc>
                <a:spcPts val="2759"/>
              </a:lnSpc>
              <a:spcBef>
                <a:spcPct val="0"/>
              </a:spcBef>
            </a:pPr>
            <a:r>
              <a:rPr lang="en-US" b="true" sz="1970" spc="-39" strike="noStrike" u="none">
                <a:solidFill>
                  <a:srgbClr val="051D40"/>
                </a:solidFill>
                <a:latin typeface="Poppins Bold"/>
                <a:ea typeface="Poppins Bold"/>
                <a:cs typeface="Poppins Bold"/>
                <a:sym typeface="Poppins Bold"/>
              </a:rPr>
              <a:t>D</a:t>
            </a:r>
            <a:r>
              <a:rPr lang="en-US" b="true" sz="1970" spc="-39" strike="noStrike" u="none">
                <a:solidFill>
                  <a:srgbClr val="051D40"/>
                </a:solidFill>
                <a:latin typeface="Poppins Bold"/>
                <a:ea typeface="Poppins Bold"/>
                <a:cs typeface="Poppins Bold"/>
                <a:sym typeface="Poppins Bold"/>
              </a:rPr>
              <a:t>ata Modeling</a:t>
            </a:r>
          </a:p>
          <a:p>
            <a:pPr algn="just"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Created relationships between tables (fact and dimensions) to build a coherent model.</a:t>
            </a:r>
          </a:p>
          <a:p>
            <a:pPr algn="just" marL="425495" indent="-212748" lvl="1">
              <a:lnSpc>
                <a:spcPts val="2759"/>
              </a:lnSpc>
              <a:spcBef>
                <a:spcPct val="0"/>
              </a:spcBef>
              <a:buFont typeface="Arial"/>
              <a:buChar char="•"/>
            </a:pPr>
            <a:r>
              <a:rPr lang="en-US" sz="1970" spc="-39" strike="noStrike" u="none">
                <a:solidFill>
                  <a:srgbClr val="051D40"/>
                </a:solidFill>
                <a:latin typeface="Poppins"/>
                <a:ea typeface="Poppins"/>
                <a:cs typeface="Poppins"/>
                <a:sym typeface="Poppins"/>
              </a:rPr>
              <a:t>Implement</a:t>
            </a:r>
            <a:r>
              <a:rPr lang="en-US" sz="1970" spc="-39" strike="noStrike" u="none">
                <a:solidFill>
                  <a:srgbClr val="051D40"/>
                </a:solidFill>
                <a:latin typeface="Poppins"/>
                <a:ea typeface="Poppins"/>
                <a:cs typeface="Poppins"/>
                <a:sym typeface="Poppins"/>
              </a:rPr>
              <a:t>ed calculated columns and hierarchies to enhance analysis.</a:t>
            </a:r>
          </a:p>
          <a:p>
            <a:pPr algn="just">
              <a:lnSpc>
                <a:spcPts val="2759"/>
              </a:lnSpc>
              <a:spcBef>
                <a:spcPct val="0"/>
              </a:spcBef>
            </a:pPr>
          </a:p>
          <a:p>
            <a:pPr algn="just">
              <a:lnSpc>
                <a:spcPts val="2759"/>
              </a:lnSpc>
              <a:spcBef>
                <a:spcPct val="0"/>
              </a:spcBef>
            </a:pPr>
            <a:r>
              <a:rPr lang="en-US" b="true" sz="1970" spc="-39" strike="noStrike" u="none">
                <a:solidFill>
                  <a:srgbClr val="051D40"/>
                </a:solidFill>
                <a:latin typeface="Poppins Bold"/>
                <a:ea typeface="Poppins Bold"/>
                <a:cs typeface="Poppins Bold"/>
                <a:sym typeface="Poppins Bold"/>
              </a:rPr>
              <a:t>Measures &amp; KPIs</a:t>
            </a:r>
          </a:p>
          <a:p>
            <a:pPr algn="just" marL="425495" indent="-212748" lvl="1">
              <a:lnSpc>
                <a:spcPts val="2759"/>
              </a:lnSpc>
              <a:buFont typeface="Arial"/>
              <a:buChar char="•"/>
            </a:pPr>
            <a:r>
              <a:rPr lang="en-US" sz="1970" spc="-39" strike="noStrike" u="none">
                <a:solidFill>
                  <a:srgbClr val="051D40"/>
                </a:solidFill>
                <a:latin typeface="Poppins"/>
                <a:ea typeface="Poppins"/>
                <a:cs typeface="Poppins"/>
                <a:sym typeface="Poppins"/>
              </a:rPr>
              <a:t>Developed DAX measures for key performa</a:t>
            </a:r>
            <a:r>
              <a:rPr lang="en-US" sz="1970" spc="-39" strike="noStrike" u="none">
                <a:solidFill>
                  <a:srgbClr val="051D40"/>
                </a:solidFill>
                <a:latin typeface="Poppins"/>
                <a:ea typeface="Poppins"/>
                <a:cs typeface="Poppins"/>
                <a:sym typeface="Poppins"/>
              </a:rPr>
              <a:t>nce indicators such as Total Revenue, Average Shipping Days, and Profit Margin%.</a:t>
            </a:r>
          </a:p>
          <a:p>
            <a:pPr algn="just" marL="425495" indent="-212748" lvl="1">
              <a:lnSpc>
                <a:spcPts val="2759"/>
              </a:lnSpc>
              <a:buFont typeface="Arial"/>
              <a:buChar char="•"/>
            </a:pPr>
            <a:r>
              <a:rPr lang="en-US" sz="1970" spc="-39" strike="noStrike" u="none">
                <a:solidFill>
                  <a:srgbClr val="051D40"/>
                </a:solidFill>
                <a:latin typeface="Poppins"/>
                <a:ea typeface="Poppins"/>
                <a:cs typeface="Poppins"/>
                <a:sym typeface="Poppins"/>
              </a:rPr>
              <a:t>Built dynamic calculations for filtering and drill-through functionality.</a:t>
            </a:r>
          </a:p>
          <a:p>
            <a:pPr algn="just">
              <a:lnSpc>
                <a:spcPts val="2759"/>
              </a:lnSpc>
            </a:pPr>
          </a:p>
          <a:p>
            <a:pPr algn="just">
              <a:lnSpc>
                <a:spcPts val="2759"/>
              </a:lnSpc>
            </a:pPr>
            <a:r>
              <a:rPr lang="en-US" b="true" sz="1970" spc="-39" strike="noStrike" u="none">
                <a:solidFill>
                  <a:srgbClr val="051D40"/>
                </a:solidFill>
                <a:latin typeface="Poppins Bold"/>
                <a:ea typeface="Poppins Bold"/>
                <a:cs typeface="Poppins Bold"/>
                <a:sym typeface="Poppins Bold"/>
              </a:rPr>
              <a:t>Re</a:t>
            </a:r>
            <a:r>
              <a:rPr lang="en-US" b="true" sz="1970" spc="-39" strike="noStrike" u="none">
                <a:solidFill>
                  <a:srgbClr val="051D40"/>
                </a:solidFill>
                <a:latin typeface="Poppins Bold"/>
                <a:ea typeface="Poppins Bold"/>
                <a:cs typeface="Poppins Bold"/>
                <a:sym typeface="Poppins Bold"/>
              </a:rPr>
              <a:t>port &amp; Dashboard Design</a:t>
            </a:r>
          </a:p>
          <a:p>
            <a:pPr algn="just" marL="425495" indent="-212748" lvl="1">
              <a:lnSpc>
                <a:spcPts val="2759"/>
              </a:lnSpc>
              <a:buFont typeface="Arial"/>
              <a:buChar char="•"/>
            </a:pPr>
            <a:r>
              <a:rPr lang="en-US" sz="1970" spc="-39" strike="noStrike" u="none">
                <a:solidFill>
                  <a:srgbClr val="051D40"/>
                </a:solidFill>
                <a:latin typeface="Poppins"/>
                <a:ea typeface="Poppins"/>
                <a:cs typeface="Poppins"/>
                <a:sym typeface="Poppins"/>
              </a:rPr>
              <a:t>Designed interactive visuals and drill-through pages for detailed data exploration.</a:t>
            </a:r>
          </a:p>
          <a:p>
            <a:pPr algn="just" marL="425495" indent="-212748" lvl="1">
              <a:lnSpc>
                <a:spcPts val="2759"/>
              </a:lnSpc>
              <a:buFont typeface="Arial"/>
              <a:buChar char="•"/>
            </a:pPr>
            <a:r>
              <a:rPr lang="en-US" sz="1970" spc="-39" strike="noStrike" u="none">
                <a:solidFill>
                  <a:srgbClr val="051D40"/>
                </a:solidFill>
                <a:latin typeface="Poppins"/>
                <a:ea typeface="Poppins"/>
                <a:cs typeface="Poppins"/>
                <a:sym typeface="Poppins"/>
              </a:rPr>
              <a:t>Applied consistent formatting and user-friendly navigation for an intuitive experience.</a:t>
            </a:r>
          </a:p>
          <a:p>
            <a:pPr algn="l">
              <a:lnSpc>
                <a:spcPts val="2629"/>
              </a:lnSpc>
              <a:spcBef>
                <a:spcPct val="0"/>
              </a:spcBef>
            </a:pPr>
          </a:p>
        </p:txBody>
      </p:sp>
      <p:sp>
        <p:nvSpPr>
          <p:cNvPr name="TextBox 10" id="10"/>
          <p:cNvSpPr txBox="true"/>
          <p:nvPr/>
        </p:nvSpPr>
        <p:spPr>
          <a:xfrm rot="0">
            <a:off x="2569160" y="1577621"/>
            <a:ext cx="6994169" cy="1566381"/>
          </a:xfrm>
          <a:prstGeom prst="rect">
            <a:avLst/>
          </a:prstGeom>
        </p:spPr>
        <p:txBody>
          <a:bodyPr anchor="t" rtlCol="false" tIns="0" lIns="0" bIns="0" rIns="0">
            <a:spAutoFit/>
          </a:bodyPr>
          <a:lstStyle/>
          <a:p>
            <a:pPr algn="l">
              <a:lnSpc>
                <a:spcPts val="6300"/>
              </a:lnSpc>
              <a:spcBef>
                <a:spcPct val="0"/>
              </a:spcBef>
            </a:pPr>
            <a:r>
              <a:rPr lang="en-US" sz="4500">
                <a:solidFill>
                  <a:srgbClr val="051D40"/>
                </a:solidFill>
                <a:latin typeface="Montserrat"/>
                <a:ea typeface="Montserrat"/>
                <a:cs typeface="Montserrat"/>
                <a:sym typeface="Montserrat"/>
              </a:rPr>
              <a:t>Power BI Development Process</a:t>
            </a:r>
          </a:p>
        </p:txBody>
      </p:sp>
      <p:sp>
        <p:nvSpPr>
          <p:cNvPr name="TextBox 11" id="11"/>
          <p:cNvSpPr txBox="true"/>
          <p:nvPr/>
        </p:nvSpPr>
        <p:spPr>
          <a:xfrm rot="0">
            <a:off x="11557972" y="3024425"/>
            <a:ext cx="4382959" cy="771523"/>
          </a:xfrm>
          <a:prstGeom prst="rect">
            <a:avLst/>
          </a:prstGeom>
        </p:spPr>
        <p:txBody>
          <a:bodyPr anchor="t" rtlCol="false" tIns="0" lIns="0" bIns="0" rIns="0">
            <a:spAutoFit/>
          </a:bodyPr>
          <a:lstStyle/>
          <a:p>
            <a:pPr algn="l">
              <a:lnSpc>
                <a:spcPts val="6300"/>
              </a:lnSpc>
              <a:spcBef>
                <a:spcPct val="0"/>
              </a:spcBef>
            </a:pPr>
            <a:r>
              <a:rPr lang="en-US" sz="4500">
                <a:solidFill>
                  <a:srgbClr val="FDFDFD"/>
                </a:solidFill>
                <a:latin typeface="Montserrat"/>
                <a:ea typeface="Montserrat"/>
                <a:cs typeface="Montserrat"/>
                <a:sym typeface="Montserrat"/>
              </a:rPr>
              <a:t>Data Modeling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sp>
        <p:nvSpPr>
          <p:cNvPr name="Freeform 2" id="2"/>
          <p:cNvSpPr/>
          <p:nvPr/>
        </p:nvSpPr>
        <p:spPr>
          <a:xfrm flipH="false" flipV="false" rot="0">
            <a:off x="13615112" y="0"/>
            <a:ext cx="4907787" cy="10295767"/>
          </a:xfrm>
          <a:custGeom>
            <a:avLst/>
            <a:gdLst/>
            <a:ahLst/>
            <a:cxnLst/>
            <a:rect r="r" b="b" t="t" l="l"/>
            <a:pathLst>
              <a:path h="10295767" w="4907787">
                <a:moveTo>
                  <a:pt x="0" y="0"/>
                </a:moveTo>
                <a:lnTo>
                  <a:pt x="4907787" y="0"/>
                </a:lnTo>
                <a:lnTo>
                  <a:pt x="4907787" y="10295767"/>
                </a:lnTo>
                <a:lnTo>
                  <a:pt x="0" y="10295767"/>
                </a:lnTo>
                <a:lnTo>
                  <a:pt x="0" y="0"/>
                </a:lnTo>
                <a:close/>
              </a:path>
            </a:pathLst>
          </a:custGeom>
          <a:blipFill>
            <a:blip r:embed="rId2"/>
            <a:stretch>
              <a:fillRect l="-19884" t="0" r="-19884" b="0"/>
            </a:stretch>
          </a:blipFill>
        </p:spPr>
      </p:sp>
      <p:grpSp>
        <p:nvGrpSpPr>
          <p:cNvPr name="Group 3" id="3"/>
          <p:cNvGrpSpPr/>
          <p:nvPr/>
        </p:nvGrpSpPr>
        <p:grpSpPr>
          <a:xfrm rot="0">
            <a:off x="1028700" y="4648474"/>
            <a:ext cx="17281360" cy="5088907"/>
            <a:chOff x="0" y="0"/>
            <a:chExt cx="4551469" cy="1340288"/>
          </a:xfrm>
        </p:grpSpPr>
        <p:sp>
          <p:nvSpPr>
            <p:cNvPr name="Freeform 4" id="4"/>
            <p:cNvSpPr/>
            <p:nvPr/>
          </p:nvSpPr>
          <p:spPr>
            <a:xfrm flipH="false" flipV="false" rot="0">
              <a:off x="0" y="0"/>
              <a:ext cx="4551469" cy="1340288"/>
            </a:xfrm>
            <a:custGeom>
              <a:avLst/>
              <a:gdLst/>
              <a:ahLst/>
              <a:cxnLst/>
              <a:rect r="r" b="b" t="t" l="l"/>
              <a:pathLst>
                <a:path h="1340288" w="4551469">
                  <a:moveTo>
                    <a:pt x="7616" y="0"/>
                  </a:moveTo>
                  <a:lnTo>
                    <a:pt x="4543854" y="0"/>
                  </a:lnTo>
                  <a:cubicBezTo>
                    <a:pt x="4548060" y="0"/>
                    <a:pt x="4551469" y="3410"/>
                    <a:pt x="4551469" y="7616"/>
                  </a:cubicBezTo>
                  <a:lnTo>
                    <a:pt x="4551469" y="1332672"/>
                  </a:lnTo>
                  <a:cubicBezTo>
                    <a:pt x="4551469" y="1336878"/>
                    <a:pt x="4548060" y="1340288"/>
                    <a:pt x="4543854" y="1340288"/>
                  </a:cubicBezTo>
                  <a:lnTo>
                    <a:pt x="7616" y="1340288"/>
                  </a:lnTo>
                  <a:cubicBezTo>
                    <a:pt x="3410" y="1340288"/>
                    <a:pt x="0" y="1336878"/>
                    <a:pt x="0" y="1332672"/>
                  </a:cubicBezTo>
                  <a:lnTo>
                    <a:pt x="0" y="7616"/>
                  </a:lnTo>
                  <a:cubicBezTo>
                    <a:pt x="0" y="3410"/>
                    <a:pt x="3410" y="0"/>
                    <a:pt x="7616" y="0"/>
                  </a:cubicBezTo>
                  <a:close/>
                </a:path>
              </a:pathLst>
            </a:custGeom>
            <a:solidFill>
              <a:srgbClr val="FDFDFD"/>
            </a:solidFill>
          </p:spPr>
        </p:sp>
        <p:sp>
          <p:nvSpPr>
            <p:cNvPr name="TextBox 5" id="5"/>
            <p:cNvSpPr txBox="true"/>
            <p:nvPr/>
          </p:nvSpPr>
          <p:spPr>
            <a:xfrm>
              <a:off x="0" y="-38100"/>
              <a:ext cx="4551469" cy="137838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5573718" y="7940477"/>
            <a:ext cx="4693046" cy="46930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5176890" y="4871377"/>
            <a:ext cx="0" cy="4410340"/>
          </a:xfrm>
          <a:prstGeom prst="line">
            <a:avLst/>
          </a:prstGeom>
          <a:ln cap="flat" w="38100">
            <a:solidFill>
              <a:srgbClr val="145DA0"/>
            </a:solidFill>
            <a:prstDash val="solid"/>
            <a:headEnd type="none" len="sm" w="sm"/>
            <a:tailEnd type="none" len="sm" w="sm"/>
          </a:ln>
        </p:spPr>
      </p:sp>
      <p:sp>
        <p:nvSpPr>
          <p:cNvPr name="AutoShape 10" id="10"/>
          <p:cNvSpPr/>
          <p:nvPr/>
        </p:nvSpPr>
        <p:spPr>
          <a:xfrm>
            <a:off x="9697101" y="4977143"/>
            <a:ext cx="0" cy="4410340"/>
          </a:xfrm>
          <a:prstGeom prst="line">
            <a:avLst/>
          </a:prstGeom>
          <a:ln cap="flat" w="38100">
            <a:solidFill>
              <a:srgbClr val="145DA0"/>
            </a:solidFill>
            <a:prstDash val="solid"/>
            <a:headEnd type="none" len="sm" w="sm"/>
            <a:tailEnd type="none" len="sm" w="sm"/>
          </a:ln>
        </p:spPr>
      </p:sp>
      <p:sp>
        <p:nvSpPr>
          <p:cNvPr name="AutoShape 11" id="11"/>
          <p:cNvSpPr/>
          <p:nvPr/>
        </p:nvSpPr>
        <p:spPr>
          <a:xfrm>
            <a:off x="14125585" y="4871377"/>
            <a:ext cx="0" cy="4410340"/>
          </a:xfrm>
          <a:prstGeom prst="line">
            <a:avLst/>
          </a:prstGeom>
          <a:ln cap="flat" w="38100">
            <a:solidFill>
              <a:srgbClr val="145DA0"/>
            </a:solidFill>
            <a:prstDash val="solid"/>
            <a:headEnd type="none" len="sm" w="sm"/>
            <a:tailEnd type="none" len="sm" w="sm"/>
          </a:ln>
        </p:spPr>
      </p:sp>
      <p:sp>
        <p:nvSpPr>
          <p:cNvPr name="Freeform 12" id="12"/>
          <p:cNvSpPr/>
          <p:nvPr/>
        </p:nvSpPr>
        <p:spPr>
          <a:xfrm flipH="false" flipV="false" rot="0">
            <a:off x="6841331" y="4991905"/>
            <a:ext cx="1244637" cy="1232553"/>
          </a:xfrm>
          <a:custGeom>
            <a:avLst/>
            <a:gdLst/>
            <a:ahLst/>
            <a:cxnLst/>
            <a:rect r="r" b="b" t="t" l="l"/>
            <a:pathLst>
              <a:path h="1232553" w="1244637">
                <a:moveTo>
                  <a:pt x="0" y="0"/>
                </a:moveTo>
                <a:lnTo>
                  <a:pt x="1244636" y="0"/>
                </a:lnTo>
                <a:lnTo>
                  <a:pt x="1244636" y="1232553"/>
                </a:lnTo>
                <a:lnTo>
                  <a:pt x="0" y="1232553"/>
                </a:lnTo>
                <a:lnTo>
                  <a:pt x="0" y="0"/>
                </a:lnTo>
                <a:close/>
              </a:path>
            </a:pathLst>
          </a:custGeom>
          <a:blipFill>
            <a:blip r:embed="rId3"/>
            <a:stretch>
              <a:fillRect l="0" t="0" r="0" b="0"/>
            </a:stretch>
          </a:blipFill>
        </p:spPr>
      </p:sp>
      <p:sp>
        <p:nvSpPr>
          <p:cNvPr name="Freeform 13" id="13"/>
          <p:cNvSpPr/>
          <p:nvPr/>
        </p:nvSpPr>
        <p:spPr>
          <a:xfrm flipH="false" flipV="false" rot="0">
            <a:off x="2512470" y="4991905"/>
            <a:ext cx="1149945" cy="1142404"/>
          </a:xfrm>
          <a:custGeom>
            <a:avLst/>
            <a:gdLst/>
            <a:ahLst/>
            <a:cxnLst/>
            <a:rect r="r" b="b" t="t" l="l"/>
            <a:pathLst>
              <a:path h="1142404" w="1149945">
                <a:moveTo>
                  <a:pt x="0" y="0"/>
                </a:moveTo>
                <a:lnTo>
                  <a:pt x="1149945" y="0"/>
                </a:lnTo>
                <a:lnTo>
                  <a:pt x="1149945" y="1142404"/>
                </a:lnTo>
                <a:lnTo>
                  <a:pt x="0" y="1142404"/>
                </a:lnTo>
                <a:lnTo>
                  <a:pt x="0" y="0"/>
                </a:lnTo>
                <a:close/>
              </a:path>
            </a:pathLst>
          </a:custGeom>
          <a:blipFill>
            <a:blip r:embed="rId4"/>
            <a:stretch>
              <a:fillRect l="0" t="0" r="0" b="0"/>
            </a:stretch>
          </a:blipFill>
        </p:spPr>
      </p:sp>
      <p:sp>
        <p:nvSpPr>
          <p:cNvPr name="Freeform 14" id="14"/>
          <p:cNvSpPr/>
          <p:nvPr/>
        </p:nvSpPr>
        <p:spPr>
          <a:xfrm flipH="false" flipV="false" rot="0">
            <a:off x="15533051" y="5082994"/>
            <a:ext cx="1232553" cy="1232553"/>
          </a:xfrm>
          <a:custGeom>
            <a:avLst/>
            <a:gdLst/>
            <a:ahLst/>
            <a:cxnLst/>
            <a:rect r="r" b="b" t="t" l="l"/>
            <a:pathLst>
              <a:path h="1232553" w="1232553">
                <a:moveTo>
                  <a:pt x="0" y="0"/>
                </a:moveTo>
                <a:lnTo>
                  <a:pt x="1232553" y="0"/>
                </a:lnTo>
                <a:lnTo>
                  <a:pt x="1232553" y="1232552"/>
                </a:lnTo>
                <a:lnTo>
                  <a:pt x="0" y="1232552"/>
                </a:lnTo>
                <a:lnTo>
                  <a:pt x="0" y="0"/>
                </a:lnTo>
                <a:close/>
              </a:path>
            </a:pathLst>
          </a:custGeom>
          <a:blipFill>
            <a:blip r:embed="rId5"/>
            <a:stretch>
              <a:fillRect l="0" t="0" r="0" b="0"/>
            </a:stretch>
          </a:blipFill>
        </p:spPr>
      </p:sp>
      <p:sp>
        <p:nvSpPr>
          <p:cNvPr name="Freeform 15" id="15"/>
          <p:cNvSpPr/>
          <p:nvPr/>
        </p:nvSpPr>
        <p:spPr>
          <a:xfrm flipH="false" flipV="false" rot="0">
            <a:off x="11363976" y="5082994"/>
            <a:ext cx="1232553" cy="1232553"/>
          </a:xfrm>
          <a:custGeom>
            <a:avLst/>
            <a:gdLst/>
            <a:ahLst/>
            <a:cxnLst/>
            <a:rect r="r" b="b" t="t" l="l"/>
            <a:pathLst>
              <a:path h="1232553" w="1232553">
                <a:moveTo>
                  <a:pt x="0" y="0"/>
                </a:moveTo>
                <a:lnTo>
                  <a:pt x="1232553" y="0"/>
                </a:lnTo>
                <a:lnTo>
                  <a:pt x="1232553" y="1232552"/>
                </a:lnTo>
                <a:lnTo>
                  <a:pt x="0" y="1232552"/>
                </a:lnTo>
                <a:lnTo>
                  <a:pt x="0" y="0"/>
                </a:lnTo>
                <a:close/>
              </a:path>
            </a:pathLst>
          </a:custGeom>
          <a:blipFill>
            <a:blip r:embed="rId6"/>
            <a:stretch>
              <a:fillRect l="0" t="0" r="0" b="0"/>
            </a:stretch>
          </a:blipFill>
        </p:spPr>
      </p:sp>
      <p:sp>
        <p:nvSpPr>
          <p:cNvPr name="TextBox 16" id="16"/>
          <p:cNvSpPr txBox="true"/>
          <p:nvPr/>
        </p:nvSpPr>
        <p:spPr>
          <a:xfrm rot="0">
            <a:off x="1270420" y="895350"/>
            <a:ext cx="8759104" cy="1137153"/>
          </a:xfrm>
          <a:prstGeom prst="rect">
            <a:avLst/>
          </a:prstGeom>
        </p:spPr>
        <p:txBody>
          <a:bodyPr anchor="t" rtlCol="false" tIns="0" lIns="0" bIns="0" rIns="0">
            <a:spAutoFit/>
          </a:bodyPr>
          <a:lstStyle/>
          <a:p>
            <a:pPr algn="l">
              <a:lnSpc>
                <a:spcPts val="9247"/>
              </a:lnSpc>
              <a:spcBef>
                <a:spcPct val="0"/>
              </a:spcBef>
            </a:pPr>
            <a:r>
              <a:rPr lang="en-US" b="true" sz="6605">
                <a:solidFill>
                  <a:srgbClr val="FDFDFD"/>
                </a:solidFill>
                <a:latin typeface="Montserrat Bold"/>
                <a:ea typeface="Montserrat Bold"/>
                <a:cs typeface="Montserrat Bold"/>
                <a:sym typeface="Montserrat Bold"/>
              </a:rPr>
              <a:t>Power BI Reporting</a:t>
            </a:r>
          </a:p>
        </p:txBody>
      </p:sp>
      <p:sp>
        <p:nvSpPr>
          <p:cNvPr name="TextBox 17" id="17"/>
          <p:cNvSpPr txBox="true"/>
          <p:nvPr/>
        </p:nvSpPr>
        <p:spPr>
          <a:xfrm rot="0">
            <a:off x="1270420" y="2245049"/>
            <a:ext cx="11745405" cy="1998308"/>
          </a:xfrm>
          <a:prstGeom prst="rect">
            <a:avLst/>
          </a:prstGeom>
        </p:spPr>
        <p:txBody>
          <a:bodyPr anchor="t" rtlCol="false" tIns="0" lIns="0" bIns="0" rIns="0">
            <a:spAutoFit/>
          </a:bodyPr>
          <a:lstStyle/>
          <a:p>
            <a:pPr algn="l">
              <a:lnSpc>
                <a:spcPts val="3238"/>
              </a:lnSpc>
            </a:pPr>
            <a:r>
              <a:rPr lang="en-US" sz="2313" spc="-46">
                <a:solidFill>
                  <a:srgbClr val="FDFDFD"/>
                </a:solidFill>
                <a:latin typeface="Poppins"/>
                <a:ea typeface="Poppins"/>
                <a:cs typeface="Poppins"/>
                <a:sym typeface="Poppins"/>
              </a:rPr>
              <a:t>The P</a:t>
            </a:r>
            <a:r>
              <a:rPr lang="en-US" sz="2313" spc="-46" strike="noStrike" u="none">
                <a:solidFill>
                  <a:srgbClr val="FDFDFD"/>
                </a:solidFill>
                <a:latin typeface="Poppins"/>
                <a:ea typeface="Poppins"/>
                <a:cs typeface="Poppins"/>
                <a:sym typeface="Poppins"/>
              </a:rPr>
              <a:t>ower BI solution comprises four dynamic dashboards designed to deliver actionable insights across key business areas. The reports enable interactive exploration, allowing users to drill down from summarized views into detailed customer, product, and order data. This comprehensive approach supports data-driven decision-making by providing both high-level trends and granular details.</a:t>
            </a:r>
          </a:p>
        </p:txBody>
      </p:sp>
      <p:sp>
        <p:nvSpPr>
          <p:cNvPr name="TextBox 18" id="18"/>
          <p:cNvSpPr txBox="true"/>
          <p:nvPr/>
        </p:nvSpPr>
        <p:spPr>
          <a:xfrm rot="0">
            <a:off x="996056" y="7694241"/>
            <a:ext cx="4161784" cy="1372291"/>
          </a:xfrm>
          <a:prstGeom prst="rect">
            <a:avLst/>
          </a:prstGeom>
        </p:spPr>
        <p:txBody>
          <a:bodyPr anchor="t" rtlCol="false" tIns="0" lIns="0" bIns="0" rIns="0">
            <a:spAutoFit/>
          </a:bodyPr>
          <a:lstStyle/>
          <a:p>
            <a:pPr algn="ctr">
              <a:lnSpc>
                <a:spcPts val="2763"/>
              </a:lnSpc>
            </a:pPr>
            <a:r>
              <a:rPr lang="en-US" sz="1973" spc="-39">
                <a:solidFill>
                  <a:srgbClr val="145DA0"/>
                </a:solidFill>
                <a:latin typeface="Poppins"/>
                <a:ea typeface="Poppins"/>
                <a:cs typeface="Poppins"/>
                <a:sym typeface="Poppins"/>
              </a:rPr>
              <a:t>P</a:t>
            </a:r>
            <a:r>
              <a:rPr lang="en-US" sz="1973" spc="-39" strike="noStrike" u="none">
                <a:solidFill>
                  <a:srgbClr val="145DA0"/>
                </a:solidFill>
                <a:latin typeface="Poppins"/>
                <a:ea typeface="Poppins"/>
                <a:cs typeface="Poppins"/>
                <a:sym typeface="Poppins"/>
              </a:rPr>
              <a:t>resents key performance indicators and trends to monitor overall sales health and identify growth opportunities.</a:t>
            </a:r>
          </a:p>
        </p:txBody>
      </p:sp>
      <p:sp>
        <p:nvSpPr>
          <p:cNvPr name="TextBox 19" id="19"/>
          <p:cNvSpPr txBox="true"/>
          <p:nvPr/>
        </p:nvSpPr>
        <p:spPr>
          <a:xfrm rot="0">
            <a:off x="1659078" y="6434008"/>
            <a:ext cx="2856730" cy="941653"/>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Montserrat"/>
                <a:ea typeface="Montserrat"/>
                <a:cs typeface="Montserrat"/>
                <a:sym typeface="Montserrat"/>
              </a:rPr>
              <a:t>Overall Sales Analysis</a:t>
            </a:r>
          </a:p>
        </p:txBody>
      </p:sp>
      <p:sp>
        <p:nvSpPr>
          <p:cNvPr name="TextBox 20" id="20"/>
          <p:cNvSpPr txBox="true"/>
          <p:nvPr/>
        </p:nvSpPr>
        <p:spPr>
          <a:xfrm rot="0">
            <a:off x="5287667" y="7694241"/>
            <a:ext cx="4161784" cy="1372291"/>
          </a:xfrm>
          <a:prstGeom prst="rect">
            <a:avLst/>
          </a:prstGeom>
        </p:spPr>
        <p:txBody>
          <a:bodyPr anchor="t" rtlCol="false" tIns="0" lIns="0" bIns="0" rIns="0">
            <a:spAutoFit/>
          </a:bodyPr>
          <a:lstStyle/>
          <a:p>
            <a:pPr algn="ctr">
              <a:lnSpc>
                <a:spcPts val="2763"/>
              </a:lnSpc>
            </a:pPr>
            <a:r>
              <a:rPr lang="en-US" sz="1973" spc="-39">
                <a:solidFill>
                  <a:srgbClr val="145DA0"/>
                </a:solidFill>
                <a:latin typeface="Poppins"/>
                <a:ea typeface="Poppins"/>
                <a:cs typeface="Poppins"/>
                <a:sym typeface="Poppins"/>
              </a:rPr>
              <a:t>Offe</a:t>
            </a:r>
            <a:r>
              <a:rPr lang="en-US" sz="1973" spc="-39" strike="noStrike" u="none">
                <a:solidFill>
                  <a:srgbClr val="145DA0"/>
                </a:solidFill>
                <a:latin typeface="Poppins"/>
                <a:ea typeface="Poppins"/>
                <a:cs typeface="Poppins"/>
                <a:sym typeface="Poppins"/>
              </a:rPr>
              <a:t>rs detailed customer profiles and segmentation, accessible by drilling through from summary reports for deeper insights.</a:t>
            </a:r>
          </a:p>
        </p:txBody>
      </p:sp>
      <p:sp>
        <p:nvSpPr>
          <p:cNvPr name="TextBox 21" id="21"/>
          <p:cNvSpPr txBox="true"/>
          <p:nvPr/>
        </p:nvSpPr>
        <p:spPr>
          <a:xfrm rot="0">
            <a:off x="5946895" y="6434008"/>
            <a:ext cx="3033509" cy="941653"/>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Montserrat"/>
                <a:ea typeface="Montserrat"/>
                <a:cs typeface="Montserrat"/>
                <a:sym typeface="Montserrat"/>
              </a:rPr>
              <a:t>Customer Details (Drill-Through)</a:t>
            </a:r>
          </a:p>
        </p:txBody>
      </p:sp>
      <p:sp>
        <p:nvSpPr>
          <p:cNvPr name="TextBox 22" id="22"/>
          <p:cNvSpPr txBox="true"/>
          <p:nvPr/>
        </p:nvSpPr>
        <p:spPr>
          <a:xfrm rot="0">
            <a:off x="9811401" y="7694241"/>
            <a:ext cx="4161784" cy="1372291"/>
          </a:xfrm>
          <a:prstGeom prst="rect">
            <a:avLst/>
          </a:prstGeom>
        </p:spPr>
        <p:txBody>
          <a:bodyPr anchor="t" rtlCol="false" tIns="0" lIns="0" bIns="0" rIns="0">
            <a:spAutoFit/>
          </a:bodyPr>
          <a:lstStyle/>
          <a:p>
            <a:pPr algn="ctr">
              <a:lnSpc>
                <a:spcPts val="2763"/>
              </a:lnSpc>
            </a:pPr>
            <a:r>
              <a:rPr lang="en-US" sz="1973" spc="-39">
                <a:solidFill>
                  <a:srgbClr val="145DA0"/>
                </a:solidFill>
                <a:latin typeface="Poppins"/>
                <a:ea typeface="Poppins"/>
                <a:cs typeface="Poppins"/>
                <a:sym typeface="Poppins"/>
              </a:rPr>
              <a:t>F</a:t>
            </a:r>
            <a:r>
              <a:rPr lang="en-US" sz="1973" spc="-39" strike="noStrike" u="none">
                <a:solidFill>
                  <a:srgbClr val="145DA0"/>
                </a:solidFill>
                <a:latin typeface="Poppins"/>
                <a:ea typeface="Poppins"/>
                <a:cs typeface="Poppins"/>
                <a:sym typeface="Poppins"/>
              </a:rPr>
              <a:t>ocuses on product-level metrics and category performance, enabling analysis of product sales and profitability.</a:t>
            </a:r>
          </a:p>
        </p:txBody>
      </p:sp>
      <p:sp>
        <p:nvSpPr>
          <p:cNvPr name="TextBox 23" id="23"/>
          <p:cNvSpPr txBox="true"/>
          <p:nvPr/>
        </p:nvSpPr>
        <p:spPr>
          <a:xfrm rot="0">
            <a:off x="10264725" y="6486996"/>
            <a:ext cx="3255137" cy="941653"/>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Montserrat"/>
                <a:ea typeface="Montserrat"/>
                <a:cs typeface="Montserrat"/>
                <a:sym typeface="Montserrat"/>
              </a:rPr>
              <a:t>Product Details (Drill-Through)</a:t>
            </a:r>
          </a:p>
        </p:txBody>
      </p:sp>
      <p:sp>
        <p:nvSpPr>
          <p:cNvPr name="TextBox 24" id="24"/>
          <p:cNvSpPr txBox="true"/>
          <p:nvPr/>
        </p:nvSpPr>
        <p:spPr>
          <a:xfrm rot="0">
            <a:off x="14068435" y="7604092"/>
            <a:ext cx="4161784" cy="1372291"/>
          </a:xfrm>
          <a:prstGeom prst="rect">
            <a:avLst/>
          </a:prstGeom>
        </p:spPr>
        <p:txBody>
          <a:bodyPr anchor="t" rtlCol="false" tIns="0" lIns="0" bIns="0" rIns="0">
            <a:spAutoFit/>
          </a:bodyPr>
          <a:lstStyle/>
          <a:p>
            <a:pPr algn="ctr">
              <a:lnSpc>
                <a:spcPts val="2763"/>
              </a:lnSpc>
            </a:pPr>
            <a:r>
              <a:rPr lang="en-US" sz="1973" spc="-39">
                <a:solidFill>
                  <a:srgbClr val="145DA0"/>
                </a:solidFill>
                <a:latin typeface="Poppins"/>
                <a:ea typeface="Poppins"/>
                <a:cs typeface="Poppins"/>
                <a:sym typeface="Poppins"/>
              </a:rPr>
              <a:t>Pr</a:t>
            </a:r>
            <a:r>
              <a:rPr lang="en-US" sz="1973" spc="-39" strike="noStrike" u="none">
                <a:solidFill>
                  <a:srgbClr val="145DA0"/>
                </a:solidFill>
                <a:latin typeface="Poppins"/>
                <a:ea typeface="Poppins"/>
                <a:cs typeface="Poppins"/>
                <a:sym typeface="Poppins"/>
              </a:rPr>
              <a:t>ovides transaction-level data for granular review of orders, helping identify patterns and exceptions in order processing.</a:t>
            </a:r>
          </a:p>
        </p:txBody>
      </p:sp>
      <p:sp>
        <p:nvSpPr>
          <p:cNvPr name="TextBox 25" id="25"/>
          <p:cNvSpPr txBox="true"/>
          <p:nvPr/>
        </p:nvSpPr>
        <p:spPr>
          <a:xfrm rot="0">
            <a:off x="14521759" y="6486996"/>
            <a:ext cx="3255137" cy="941653"/>
          </a:xfrm>
          <a:prstGeom prst="rect">
            <a:avLst/>
          </a:prstGeom>
        </p:spPr>
        <p:txBody>
          <a:bodyPr anchor="t" rtlCol="false" tIns="0" lIns="0" bIns="0" rIns="0">
            <a:spAutoFit/>
          </a:bodyPr>
          <a:lstStyle/>
          <a:p>
            <a:pPr algn="ctr">
              <a:lnSpc>
                <a:spcPts val="3759"/>
              </a:lnSpc>
              <a:spcBef>
                <a:spcPct val="0"/>
              </a:spcBef>
            </a:pPr>
            <a:r>
              <a:rPr lang="en-US" sz="2685">
                <a:solidFill>
                  <a:srgbClr val="145DA0"/>
                </a:solidFill>
                <a:latin typeface="Montserrat"/>
                <a:ea typeface="Montserrat"/>
                <a:cs typeface="Montserrat"/>
                <a:sym typeface="Montserrat"/>
              </a:rPr>
              <a:t>Order Details (Drill-Through)</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55819" y="2193745"/>
            <a:ext cx="13180296" cy="7370267"/>
          </a:xfrm>
          <a:custGeom>
            <a:avLst/>
            <a:gdLst/>
            <a:ahLst/>
            <a:cxnLst/>
            <a:rect r="r" b="b" t="t" l="l"/>
            <a:pathLst>
              <a:path h="7370267" w="13180296">
                <a:moveTo>
                  <a:pt x="0" y="0"/>
                </a:moveTo>
                <a:lnTo>
                  <a:pt x="13180296" y="0"/>
                </a:lnTo>
                <a:lnTo>
                  <a:pt x="13180296" y="7370267"/>
                </a:lnTo>
                <a:lnTo>
                  <a:pt x="0" y="7370267"/>
                </a:lnTo>
                <a:lnTo>
                  <a:pt x="0" y="0"/>
                </a:lnTo>
                <a:close/>
              </a:path>
            </a:pathLst>
          </a:custGeom>
          <a:blipFill>
            <a:blip r:embed="rId2"/>
            <a:stretch>
              <a:fillRect l="-584" t="0" r="-584" b="0"/>
            </a:stretch>
          </a:blipFill>
        </p:spPr>
      </p:sp>
      <p:sp>
        <p:nvSpPr>
          <p:cNvPr name="TextBox 9" id="9"/>
          <p:cNvSpPr txBox="true"/>
          <p:nvPr/>
        </p:nvSpPr>
        <p:spPr>
          <a:xfrm rot="0">
            <a:off x="5417025" y="745241"/>
            <a:ext cx="91857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Overal Sales(Customers)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55819" y="2193745"/>
            <a:ext cx="13180296" cy="7370267"/>
          </a:xfrm>
          <a:custGeom>
            <a:avLst/>
            <a:gdLst/>
            <a:ahLst/>
            <a:cxnLst/>
            <a:rect r="r" b="b" t="t" l="l"/>
            <a:pathLst>
              <a:path h="7370267" w="13180296">
                <a:moveTo>
                  <a:pt x="0" y="0"/>
                </a:moveTo>
                <a:lnTo>
                  <a:pt x="13180296" y="0"/>
                </a:lnTo>
                <a:lnTo>
                  <a:pt x="13180296" y="7370267"/>
                </a:lnTo>
                <a:lnTo>
                  <a:pt x="0" y="7370267"/>
                </a:lnTo>
                <a:lnTo>
                  <a:pt x="0" y="0"/>
                </a:lnTo>
                <a:close/>
              </a:path>
            </a:pathLst>
          </a:custGeom>
          <a:blipFill>
            <a:blip r:embed="rId2"/>
            <a:stretch>
              <a:fillRect l="-90" t="0" r="-90" b="0"/>
            </a:stretch>
          </a:blipFill>
        </p:spPr>
      </p:sp>
      <p:sp>
        <p:nvSpPr>
          <p:cNvPr name="TextBox 9" id="9"/>
          <p:cNvSpPr txBox="true"/>
          <p:nvPr/>
        </p:nvSpPr>
        <p:spPr>
          <a:xfrm rot="0">
            <a:off x="5417025" y="745241"/>
            <a:ext cx="91857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Overal Sales(Products)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62889" y="2096153"/>
            <a:ext cx="13252244" cy="7367349"/>
          </a:xfrm>
          <a:custGeom>
            <a:avLst/>
            <a:gdLst/>
            <a:ahLst/>
            <a:cxnLst/>
            <a:rect r="r" b="b" t="t" l="l"/>
            <a:pathLst>
              <a:path h="7367349" w="13252244">
                <a:moveTo>
                  <a:pt x="0" y="0"/>
                </a:moveTo>
                <a:lnTo>
                  <a:pt x="13252244" y="0"/>
                </a:lnTo>
                <a:lnTo>
                  <a:pt x="13252244" y="7367349"/>
                </a:lnTo>
                <a:lnTo>
                  <a:pt x="0" y="7367349"/>
                </a:lnTo>
                <a:lnTo>
                  <a:pt x="0" y="0"/>
                </a:lnTo>
                <a:close/>
              </a:path>
            </a:pathLst>
          </a:custGeom>
          <a:blipFill>
            <a:blip r:embed="rId2"/>
            <a:stretch>
              <a:fillRect l="0" t="0" r="0" b="0"/>
            </a:stretch>
          </a:blipFill>
        </p:spPr>
      </p:sp>
      <p:sp>
        <p:nvSpPr>
          <p:cNvPr name="TextBox 9" id="9"/>
          <p:cNvSpPr txBox="true"/>
          <p:nvPr/>
        </p:nvSpPr>
        <p:spPr>
          <a:xfrm rot="0">
            <a:off x="5417025" y="745241"/>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Customer Details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15115" y="2096153"/>
            <a:ext cx="13300019" cy="7465631"/>
          </a:xfrm>
          <a:custGeom>
            <a:avLst/>
            <a:gdLst/>
            <a:ahLst/>
            <a:cxnLst/>
            <a:rect r="r" b="b" t="t" l="l"/>
            <a:pathLst>
              <a:path h="7465631" w="13300019">
                <a:moveTo>
                  <a:pt x="0" y="0"/>
                </a:moveTo>
                <a:lnTo>
                  <a:pt x="13300018" y="0"/>
                </a:lnTo>
                <a:lnTo>
                  <a:pt x="13300018" y="7465630"/>
                </a:lnTo>
                <a:lnTo>
                  <a:pt x="0" y="7465630"/>
                </a:lnTo>
                <a:lnTo>
                  <a:pt x="0" y="0"/>
                </a:lnTo>
                <a:close/>
              </a:path>
            </a:pathLst>
          </a:custGeom>
          <a:blipFill>
            <a:blip r:embed="rId2"/>
            <a:stretch>
              <a:fillRect l="0" t="-180" r="0" b="-180"/>
            </a:stretch>
          </a:blipFill>
        </p:spPr>
      </p:sp>
      <p:sp>
        <p:nvSpPr>
          <p:cNvPr name="TextBox 9" id="9"/>
          <p:cNvSpPr txBox="true"/>
          <p:nvPr/>
        </p:nvSpPr>
        <p:spPr>
          <a:xfrm rot="0">
            <a:off x="5417025" y="745241"/>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Product Details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145DA0"/>
        </a:solidFill>
      </p:bgPr>
    </p:bg>
    <p:spTree>
      <p:nvGrpSpPr>
        <p:cNvPr id="1" name=""/>
        <p:cNvGrpSpPr/>
        <p:nvPr/>
      </p:nvGrpSpPr>
      <p:grpSpPr>
        <a:xfrm>
          <a:off x="0" y="0"/>
          <a:ext cx="0" cy="0"/>
          <a:chOff x="0" y="0"/>
          <a:chExt cx="0" cy="0"/>
        </a:xfrm>
      </p:grpSpPr>
      <p:grpSp>
        <p:nvGrpSpPr>
          <p:cNvPr name="Group 2" id="2"/>
          <p:cNvGrpSpPr/>
          <p:nvPr/>
        </p:nvGrpSpPr>
        <p:grpSpPr>
          <a:xfrm rot="0">
            <a:off x="-2123887" y="-2346523"/>
            <a:ext cx="4693046" cy="46930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573718" y="7940477"/>
            <a:ext cx="4693046" cy="469304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0">
            <a:off x="2815115" y="2096153"/>
            <a:ext cx="13300019" cy="7465631"/>
          </a:xfrm>
          <a:custGeom>
            <a:avLst/>
            <a:gdLst/>
            <a:ahLst/>
            <a:cxnLst/>
            <a:rect r="r" b="b" t="t" l="l"/>
            <a:pathLst>
              <a:path h="7465631" w="13300019">
                <a:moveTo>
                  <a:pt x="0" y="0"/>
                </a:moveTo>
                <a:lnTo>
                  <a:pt x="13300018" y="0"/>
                </a:lnTo>
                <a:lnTo>
                  <a:pt x="13300018" y="7465630"/>
                </a:lnTo>
                <a:lnTo>
                  <a:pt x="0" y="7465630"/>
                </a:lnTo>
                <a:lnTo>
                  <a:pt x="0" y="0"/>
                </a:lnTo>
                <a:close/>
              </a:path>
            </a:pathLst>
          </a:custGeom>
          <a:blipFill>
            <a:blip r:embed="rId2"/>
            <a:stretch>
              <a:fillRect l="-445" t="0" r="-445" b="0"/>
            </a:stretch>
          </a:blipFill>
        </p:spPr>
      </p:sp>
      <p:sp>
        <p:nvSpPr>
          <p:cNvPr name="TextBox 9" id="9"/>
          <p:cNvSpPr txBox="true"/>
          <p:nvPr/>
        </p:nvSpPr>
        <p:spPr>
          <a:xfrm rot="0">
            <a:off x="5417025" y="745241"/>
            <a:ext cx="7453950" cy="870376"/>
          </a:xfrm>
          <a:prstGeom prst="rect">
            <a:avLst/>
          </a:prstGeom>
        </p:spPr>
        <p:txBody>
          <a:bodyPr anchor="t" rtlCol="false" tIns="0" lIns="0" bIns="0" rIns="0">
            <a:spAutoFit/>
          </a:bodyPr>
          <a:lstStyle/>
          <a:p>
            <a:pPr algn="ctr" marL="0" indent="0" lvl="0">
              <a:lnSpc>
                <a:spcPts val="7151"/>
              </a:lnSpc>
              <a:spcBef>
                <a:spcPct val="0"/>
              </a:spcBef>
            </a:pPr>
            <a:r>
              <a:rPr lang="en-US" b="true" sz="5108">
                <a:solidFill>
                  <a:srgbClr val="FDFDFD"/>
                </a:solidFill>
                <a:latin typeface="Montserrat Bold"/>
                <a:ea typeface="Montserrat Bold"/>
                <a:cs typeface="Montserrat Bold"/>
                <a:sym typeface="Montserrat Bold"/>
              </a:rPr>
              <a:t>Order Details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7153402" y="3774508"/>
            <a:ext cx="4154377" cy="582587"/>
          </a:xfrm>
          <a:custGeom>
            <a:avLst/>
            <a:gdLst/>
            <a:ahLst/>
            <a:cxnLst/>
            <a:rect r="r" b="b" t="t" l="l"/>
            <a:pathLst>
              <a:path h="582587" w="4154377">
                <a:moveTo>
                  <a:pt x="0" y="0"/>
                </a:moveTo>
                <a:lnTo>
                  <a:pt x="4154377" y="0"/>
                </a:lnTo>
                <a:lnTo>
                  <a:pt x="4154377" y="582586"/>
                </a:lnTo>
                <a:lnTo>
                  <a:pt x="0" y="582586"/>
                </a:lnTo>
                <a:lnTo>
                  <a:pt x="0" y="0"/>
                </a:lnTo>
                <a:close/>
              </a:path>
            </a:pathLst>
          </a:custGeom>
          <a:blipFill>
            <a:blip r:embed="rId2"/>
            <a:stretch>
              <a:fillRect l="0" t="-40835" r="0" b="0"/>
            </a:stretch>
          </a:blipFill>
        </p:spPr>
      </p:sp>
      <p:sp>
        <p:nvSpPr>
          <p:cNvPr name="Freeform 3" id="3"/>
          <p:cNvSpPr/>
          <p:nvPr/>
        </p:nvSpPr>
        <p:spPr>
          <a:xfrm flipH="false" flipV="false" rot="0">
            <a:off x="2252937" y="3774508"/>
            <a:ext cx="4154377" cy="582587"/>
          </a:xfrm>
          <a:custGeom>
            <a:avLst/>
            <a:gdLst/>
            <a:ahLst/>
            <a:cxnLst/>
            <a:rect r="r" b="b" t="t" l="l"/>
            <a:pathLst>
              <a:path h="582587" w="4154377">
                <a:moveTo>
                  <a:pt x="0" y="0"/>
                </a:moveTo>
                <a:lnTo>
                  <a:pt x="4154377" y="0"/>
                </a:lnTo>
                <a:lnTo>
                  <a:pt x="4154377" y="582586"/>
                </a:lnTo>
                <a:lnTo>
                  <a:pt x="0" y="582586"/>
                </a:lnTo>
                <a:lnTo>
                  <a:pt x="0" y="0"/>
                </a:lnTo>
                <a:close/>
              </a:path>
            </a:pathLst>
          </a:custGeom>
          <a:blipFill>
            <a:blip r:embed="rId2"/>
            <a:stretch>
              <a:fillRect l="0" t="-40835" r="0" b="0"/>
            </a:stretch>
          </a:blipFill>
        </p:spPr>
      </p:sp>
      <p:grpSp>
        <p:nvGrpSpPr>
          <p:cNvPr name="Group 4" id="4"/>
          <p:cNvGrpSpPr/>
          <p:nvPr/>
        </p:nvGrpSpPr>
        <p:grpSpPr>
          <a:xfrm rot="0">
            <a:off x="333833" y="242294"/>
            <a:ext cx="17793515" cy="9802411"/>
            <a:chOff x="0" y="0"/>
            <a:chExt cx="4982580" cy="2744893"/>
          </a:xfrm>
        </p:grpSpPr>
        <p:sp>
          <p:nvSpPr>
            <p:cNvPr name="Freeform 5" id="5"/>
            <p:cNvSpPr/>
            <p:nvPr/>
          </p:nvSpPr>
          <p:spPr>
            <a:xfrm flipH="false" flipV="false" rot="0">
              <a:off x="0" y="0"/>
              <a:ext cx="4982580" cy="2744893"/>
            </a:xfrm>
            <a:custGeom>
              <a:avLst/>
              <a:gdLst/>
              <a:ahLst/>
              <a:cxnLst/>
              <a:rect r="r" b="b" t="t" l="l"/>
              <a:pathLst>
                <a:path h="2744893" w="4982580">
                  <a:moveTo>
                    <a:pt x="0" y="0"/>
                  </a:moveTo>
                  <a:lnTo>
                    <a:pt x="4982580" y="0"/>
                  </a:lnTo>
                  <a:lnTo>
                    <a:pt x="4982580" y="2744893"/>
                  </a:lnTo>
                  <a:lnTo>
                    <a:pt x="0" y="2744893"/>
                  </a:lnTo>
                  <a:close/>
                </a:path>
              </a:pathLst>
            </a:custGeom>
            <a:solidFill>
              <a:srgbClr val="000000">
                <a:alpha val="0"/>
              </a:srgbClr>
            </a:solidFill>
            <a:ln w="228600" cap="sq">
              <a:solidFill>
                <a:srgbClr val="145DA0"/>
              </a:solidFill>
              <a:prstDash val="solid"/>
              <a:miter/>
            </a:ln>
          </p:spPr>
        </p:sp>
        <p:sp>
          <p:nvSpPr>
            <p:cNvPr name="TextBox 6" id="6"/>
            <p:cNvSpPr txBox="true"/>
            <p:nvPr/>
          </p:nvSpPr>
          <p:spPr>
            <a:xfrm>
              <a:off x="0" y="-38100"/>
              <a:ext cx="4982580" cy="278299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7" id="7"/>
          <p:cNvSpPr/>
          <p:nvPr/>
        </p:nvSpPr>
        <p:spPr>
          <a:xfrm flipH="false" flipV="false" rot="0">
            <a:off x="11792475" y="3774508"/>
            <a:ext cx="4154377" cy="582587"/>
          </a:xfrm>
          <a:custGeom>
            <a:avLst/>
            <a:gdLst/>
            <a:ahLst/>
            <a:cxnLst/>
            <a:rect r="r" b="b" t="t" l="l"/>
            <a:pathLst>
              <a:path h="582587" w="4154377">
                <a:moveTo>
                  <a:pt x="0" y="0"/>
                </a:moveTo>
                <a:lnTo>
                  <a:pt x="4154377" y="0"/>
                </a:lnTo>
                <a:lnTo>
                  <a:pt x="4154377" y="582586"/>
                </a:lnTo>
                <a:lnTo>
                  <a:pt x="0" y="582586"/>
                </a:lnTo>
                <a:lnTo>
                  <a:pt x="0" y="0"/>
                </a:lnTo>
                <a:close/>
              </a:path>
            </a:pathLst>
          </a:custGeom>
          <a:blipFill>
            <a:blip r:embed="rId2"/>
            <a:stretch>
              <a:fillRect l="0" t="-40835" r="0" b="0"/>
            </a:stretch>
          </a:blipFill>
        </p:spPr>
      </p:sp>
      <p:grpSp>
        <p:nvGrpSpPr>
          <p:cNvPr name="Group 8" id="8"/>
          <p:cNvGrpSpPr/>
          <p:nvPr/>
        </p:nvGrpSpPr>
        <p:grpSpPr>
          <a:xfrm rot="0">
            <a:off x="2272544" y="1952745"/>
            <a:ext cx="4203375" cy="1943242"/>
            <a:chOff x="0" y="0"/>
            <a:chExt cx="1416547" cy="654877"/>
          </a:xfrm>
        </p:grpSpPr>
        <p:sp>
          <p:nvSpPr>
            <p:cNvPr name="Freeform 9" id="9"/>
            <p:cNvSpPr/>
            <p:nvPr/>
          </p:nvSpPr>
          <p:spPr>
            <a:xfrm flipH="false" flipV="false" rot="0">
              <a:off x="0" y="0"/>
              <a:ext cx="1416547" cy="654877"/>
            </a:xfrm>
            <a:custGeom>
              <a:avLst/>
              <a:gdLst/>
              <a:ahLst/>
              <a:cxnLst/>
              <a:rect r="r" b="b" t="t" l="l"/>
              <a:pathLst>
                <a:path h="654877" w="1416547">
                  <a:moveTo>
                    <a:pt x="46046" y="0"/>
                  </a:moveTo>
                  <a:lnTo>
                    <a:pt x="1370502" y="0"/>
                  </a:lnTo>
                  <a:cubicBezTo>
                    <a:pt x="1382714" y="0"/>
                    <a:pt x="1394426" y="4851"/>
                    <a:pt x="1403061" y="13487"/>
                  </a:cubicBezTo>
                  <a:cubicBezTo>
                    <a:pt x="1411696" y="22122"/>
                    <a:pt x="1416547" y="33834"/>
                    <a:pt x="1416547" y="46046"/>
                  </a:cubicBezTo>
                  <a:lnTo>
                    <a:pt x="1416547" y="608831"/>
                  </a:lnTo>
                  <a:cubicBezTo>
                    <a:pt x="1416547" y="621043"/>
                    <a:pt x="1411696" y="632755"/>
                    <a:pt x="1403061" y="641391"/>
                  </a:cubicBezTo>
                  <a:cubicBezTo>
                    <a:pt x="1394426" y="650026"/>
                    <a:pt x="1382714" y="654877"/>
                    <a:pt x="1370502" y="654877"/>
                  </a:cubicBezTo>
                  <a:lnTo>
                    <a:pt x="46046" y="654877"/>
                  </a:lnTo>
                  <a:cubicBezTo>
                    <a:pt x="33834" y="654877"/>
                    <a:pt x="22122" y="650026"/>
                    <a:pt x="13487" y="641391"/>
                  </a:cubicBezTo>
                  <a:cubicBezTo>
                    <a:pt x="4851" y="632755"/>
                    <a:pt x="0" y="621043"/>
                    <a:pt x="0" y="60883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0" id="10"/>
            <p:cNvSpPr txBox="true"/>
            <p:nvPr/>
          </p:nvSpPr>
          <p:spPr>
            <a:xfrm>
              <a:off x="0" y="-38100"/>
              <a:ext cx="1416547" cy="69297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7041715" y="1952745"/>
            <a:ext cx="4203375" cy="1943242"/>
            <a:chOff x="0" y="0"/>
            <a:chExt cx="1416547" cy="654877"/>
          </a:xfrm>
        </p:grpSpPr>
        <p:sp>
          <p:nvSpPr>
            <p:cNvPr name="Freeform 12" id="12"/>
            <p:cNvSpPr/>
            <p:nvPr/>
          </p:nvSpPr>
          <p:spPr>
            <a:xfrm flipH="false" flipV="false" rot="0">
              <a:off x="0" y="0"/>
              <a:ext cx="1416547" cy="654877"/>
            </a:xfrm>
            <a:custGeom>
              <a:avLst/>
              <a:gdLst/>
              <a:ahLst/>
              <a:cxnLst/>
              <a:rect r="r" b="b" t="t" l="l"/>
              <a:pathLst>
                <a:path h="654877" w="1416547">
                  <a:moveTo>
                    <a:pt x="46046" y="0"/>
                  </a:moveTo>
                  <a:lnTo>
                    <a:pt x="1370502" y="0"/>
                  </a:lnTo>
                  <a:cubicBezTo>
                    <a:pt x="1382714" y="0"/>
                    <a:pt x="1394426" y="4851"/>
                    <a:pt x="1403061" y="13487"/>
                  </a:cubicBezTo>
                  <a:cubicBezTo>
                    <a:pt x="1411696" y="22122"/>
                    <a:pt x="1416547" y="33834"/>
                    <a:pt x="1416547" y="46046"/>
                  </a:cubicBezTo>
                  <a:lnTo>
                    <a:pt x="1416547" y="608831"/>
                  </a:lnTo>
                  <a:cubicBezTo>
                    <a:pt x="1416547" y="621043"/>
                    <a:pt x="1411696" y="632755"/>
                    <a:pt x="1403061" y="641391"/>
                  </a:cubicBezTo>
                  <a:cubicBezTo>
                    <a:pt x="1394426" y="650026"/>
                    <a:pt x="1382714" y="654877"/>
                    <a:pt x="1370502" y="654877"/>
                  </a:cubicBezTo>
                  <a:lnTo>
                    <a:pt x="46046" y="654877"/>
                  </a:lnTo>
                  <a:cubicBezTo>
                    <a:pt x="33834" y="654877"/>
                    <a:pt x="22122" y="650026"/>
                    <a:pt x="13487" y="641391"/>
                  </a:cubicBezTo>
                  <a:cubicBezTo>
                    <a:pt x="4851" y="632755"/>
                    <a:pt x="0" y="621043"/>
                    <a:pt x="0" y="60883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3" id="13"/>
            <p:cNvSpPr txBox="true"/>
            <p:nvPr/>
          </p:nvSpPr>
          <p:spPr>
            <a:xfrm>
              <a:off x="0" y="-38100"/>
              <a:ext cx="1416547" cy="692977"/>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4" id="14"/>
          <p:cNvGrpSpPr/>
          <p:nvPr/>
        </p:nvGrpSpPr>
        <p:grpSpPr>
          <a:xfrm rot="0">
            <a:off x="11812082" y="1952745"/>
            <a:ext cx="4203375" cy="1943242"/>
            <a:chOff x="0" y="0"/>
            <a:chExt cx="1416547" cy="654877"/>
          </a:xfrm>
        </p:grpSpPr>
        <p:sp>
          <p:nvSpPr>
            <p:cNvPr name="Freeform 15" id="15"/>
            <p:cNvSpPr/>
            <p:nvPr/>
          </p:nvSpPr>
          <p:spPr>
            <a:xfrm flipH="false" flipV="false" rot="0">
              <a:off x="0" y="0"/>
              <a:ext cx="1416547" cy="654877"/>
            </a:xfrm>
            <a:custGeom>
              <a:avLst/>
              <a:gdLst/>
              <a:ahLst/>
              <a:cxnLst/>
              <a:rect r="r" b="b" t="t" l="l"/>
              <a:pathLst>
                <a:path h="654877" w="1416547">
                  <a:moveTo>
                    <a:pt x="46046" y="0"/>
                  </a:moveTo>
                  <a:lnTo>
                    <a:pt x="1370502" y="0"/>
                  </a:lnTo>
                  <a:cubicBezTo>
                    <a:pt x="1382714" y="0"/>
                    <a:pt x="1394426" y="4851"/>
                    <a:pt x="1403061" y="13487"/>
                  </a:cubicBezTo>
                  <a:cubicBezTo>
                    <a:pt x="1411696" y="22122"/>
                    <a:pt x="1416547" y="33834"/>
                    <a:pt x="1416547" y="46046"/>
                  </a:cubicBezTo>
                  <a:lnTo>
                    <a:pt x="1416547" y="608831"/>
                  </a:lnTo>
                  <a:cubicBezTo>
                    <a:pt x="1416547" y="621043"/>
                    <a:pt x="1411696" y="632755"/>
                    <a:pt x="1403061" y="641391"/>
                  </a:cubicBezTo>
                  <a:cubicBezTo>
                    <a:pt x="1394426" y="650026"/>
                    <a:pt x="1382714" y="654877"/>
                    <a:pt x="1370502" y="654877"/>
                  </a:cubicBezTo>
                  <a:lnTo>
                    <a:pt x="46046" y="654877"/>
                  </a:lnTo>
                  <a:cubicBezTo>
                    <a:pt x="33834" y="654877"/>
                    <a:pt x="22122" y="650026"/>
                    <a:pt x="13487" y="641391"/>
                  </a:cubicBezTo>
                  <a:cubicBezTo>
                    <a:pt x="4851" y="632755"/>
                    <a:pt x="0" y="621043"/>
                    <a:pt x="0" y="608831"/>
                  </a:cubicBezTo>
                  <a:lnTo>
                    <a:pt x="0" y="46046"/>
                  </a:lnTo>
                  <a:cubicBezTo>
                    <a:pt x="0" y="33834"/>
                    <a:pt x="4851" y="22122"/>
                    <a:pt x="13487" y="13487"/>
                  </a:cubicBezTo>
                  <a:cubicBezTo>
                    <a:pt x="22122" y="4851"/>
                    <a:pt x="33834" y="0"/>
                    <a:pt x="46046" y="0"/>
                  </a:cubicBezTo>
                  <a:close/>
                </a:path>
              </a:pathLst>
            </a:custGeom>
            <a:solidFill>
              <a:srgbClr val="FDFDFD"/>
            </a:solidFill>
            <a:ln w="38100" cap="rnd">
              <a:solidFill>
                <a:srgbClr val="145DA0"/>
              </a:solidFill>
              <a:prstDash val="solid"/>
              <a:round/>
            </a:ln>
          </p:spPr>
        </p:sp>
        <p:sp>
          <p:nvSpPr>
            <p:cNvPr name="TextBox 16" id="16"/>
            <p:cNvSpPr txBox="true"/>
            <p:nvPr/>
          </p:nvSpPr>
          <p:spPr>
            <a:xfrm>
              <a:off x="0" y="-38100"/>
              <a:ext cx="1416547" cy="69297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5201579" y="790697"/>
            <a:ext cx="7884841" cy="771523"/>
          </a:xfrm>
          <a:prstGeom prst="rect">
            <a:avLst/>
          </a:prstGeom>
        </p:spPr>
        <p:txBody>
          <a:bodyPr anchor="t" rtlCol="false" tIns="0" lIns="0" bIns="0" rIns="0">
            <a:spAutoFit/>
          </a:bodyPr>
          <a:lstStyle/>
          <a:p>
            <a:pPr algn="ctr" marL="0" indent="0" lvl="0">
              <a:lnSpc>
                <a:spcPts val="6300"/>
              </a:lnSpc>
              <a:spcBef>
                <a:spcPct val="0"/>
              </a:spcBef>
            </a:pPr>
            <a:r>
              <a:rPr lang="en-US" b="true" sz="4500">
                <a:solidFill>
                  <a:srgbClr val="051D40"/>
                </a:solidFill>
                <a:latin typeface="Montserrat Bold"/>
                <a:ea typeface="Montserrat Bold"/>
                <a:cs typeface="Montserrat Bold"/>
                <a:sym typeface="Montserrat Bold"/>
              </a:rPr>
              <a:t>Insights</a:t>
            </a:r>
          </a:p>
        </p:txBody>
      </p:sp>
      <p:sp>
        <p:nvSpPr>
          <p:cNvPr name="TextBox 18" id="18"/>
          <p:cNvSpPr txBox="true"/>
          <p:nvPr/>
        </p:nvSpPr>
        <p:spPr>
          <a:xfrm rot="0">
            <a:off x="2252937" y="4499969"/>
            <a:ext cx="15290006" cy="4843116"/>
          </a:xfrm>
          <a:prstGeom prst="rect">
            <a:avLst/>
          </a:prstGeom>
        </p:spPr>
        <p:txBody>
          <a:bodyPr anchor="t" rtlCol="false" tIns="0" lIns="0" bIns="0" rIns="0">
            <a:spAutoFit/>
          </a:bodyPr>
          <a:lstStyle/>
          <a:p>
            <a:pPr algn="l">
              <a:lnSpc>
                <a:spcPts val="2770"/>
              </a:lnSpc>
            </a:pPr>
            <a:r>
              <a:rPr lang="en-US" b="true" sz="1979" spc="-39">
                <a:solidFill>
                  <a:srgbClr val="145DA0"/>
                </a:solidFill>
                <a:latin typeface="Poppins Bold"/>
                <a:ea typeface="Poppins Bold"/>
                <a:cs typeface="Poppins Bold"/>
                <a:sym typeface="Poppins Bold"/>
              </a:rPr>
              <a:t>Y</a:t>
            </a:r>
            <a:r>
              <a:rPr lang="en-US" b="true" sz="1979" spc="-39" strike="noStrike" u="none">
                <a:solidFill>
                  <a:srgbClr val="145DA0"/>
                </a:solidFill>
                <a:latin typeface="Poppins Bold"/>
                <a:ea typeface="Poppins Bold"/>
                <a:cs typeface="Poppins Bold"/>
                <a:sym typeface="Poppins Bold"/>
              </a:rPr>
              <a:t>early Performance</a:t>
            </a:r>
            <a:r>
              <a:rPr lang="en-US" sz="1979" spc="-39" strike="noStrike" u="none">
                <a:solidFill>
                  <a:srgbClr val="145DA0"/>
                </a:solidFill>
                <a:latin typeface="Poppins"/>
                <a:ea typeface="Poppins"/>
                <a:cs typeface="Poppins"/>
                <a:sym typeface="Poppins"/>
              </a:rPr>
              <a:t>: 2022 was the most profitable year with $282 million profit, while 2020 had the lowest at $147 million.</a:t>
            </a:r>
          </a:p>
          <a:p>
            <a:pPr algn="l">
              <a:lnSpc>
                <a:spcPts val="2770"/>
              </a:lnSpc>
            </a:pPr>
          </a:p>
          <a:p>
            <a:pPr algn="l">
              <a:lnSpc>
                <a:spcPts val="2770"/>
              </a:lnSpc>
            </a:pPr>
            <a:r>
              <a:rPr lang="en-US" b="true" sz="1979" spc="-39" strike="noStrike" u="none">
                <a:solidFill>
                  <a:srgbClr val="145DA0"/>
                </a:solidFill>
                <a:latin typeface="Poppins Bold"/>
                <a:ea typeface="Poppins Bold"/>
                <a:cs typeface="Poppins Bold"/>
                <a:sym typeface="Poppins Bold"/>
              </a:rPr>
              <a:t>Top Market:</a:t>
            </a:r>
            <a:r>
              <a:rPr lang="en-US" sz="1979" spc="-39" strike="noStrike" u="none">
                <a:solidFill>
                  <a:srgbClr val="145DA0"/>
                </a:solidFill>
                <a:latin typeface="Poppins"/>
                <a:ea typeface="Poppins"/>
                <a:cs typeface="Poppins"/>
                <a:sym typeface="Poppins"/>
              </a:rPr>
              <a:t> United States leads in total orders and has the highest number of active customers.</a:t>
            </a:r>
          </a:p>
          <a:p>
            <a:pPr algn="l">
              <a:lnSpc>
                <a:spcPts val="2770"/>
              </a:lnSpc>
            </a:pPr>
          </a:p>
          <a:p>
            <a:pPr algn="l">
              <a:lnSpc>
                <a:spcPts val="2770"/>
              </a:lnSpc>
            </a:pPr>
            <a:r>
              <a:rPr lang="en-US" b="true" sz="1979" spc="-39" strike="noStrike" u="none">
                <a:solidFill>
                  <a:srgbClr val="145DA0"/>
                </a:solidFill>
                <a:latin typeface="Poppins Bold"/>
                <a:ea typeface="Poppins Bold"/>
                <a:cs typeface="Poppins Bold"/>
                <a:sym typeface="Poppins Bold"/>
              </a:rPr>
              <a:t>Category Performance:</a:t>
            </a:r>
          </a:p>
          <a:p>
            <a:pPr algn="l" marL="427323" indent="-213662" lvl="1">
              <a:lnSpc>
                <a:spcPts val="2770"/>
              </a:lnSpc>
              <a:buFont typeface="Arial"/>
              <a:buChar char="•"/>
            </a:pPr>
            <a:r>
              <a:rPr lang="en-US" sz="1979" spc="-39" strike="noStrike" u="none">
                <a:solidFill>
                  <a:srgbClr val="145DA0"/>
                </a:solidFill>
                <a:latin typeface="Poppins"/>
                <a:ea typeface="Poppins"/>
                <a:cs typeface="Poppins"/>
                <a:sym typeface="Poppins"/>
              </a:rPr>
              <a:t>Bikes generated the highest quantity sold and revenue.</a:t>
            </a:r>
          </a:p>
          <a:p>
            <a:pPr algn="l" marL="427323" indent="-213662" lvl="1">
              <a:lnSpc>
                <a:spcPts val="2770"/>
              </a:lnSpc>
              <a:buFont typeface="Arial"/>
              <a:buChar char="•"/>
            </a:pPr>
            <a:r>
              <a:rPr lang="en-US" sz="1979" spc="-39" strike="noStrike" u="none">
                <a:solidFill>
                  <a:srgbClr val="145DA0"/>
                </a:solidFill>
                <a:latin typeface="Poppins"/>
                <a:ea typeface="Poppins"/>
                <a:cs typeface="Poppins"/>
                <a:sym typeface="Poppins"/>
              </a:rPr>
              <a:t>Clothing was the most profitable product category.</a:t>
            </a:r>
          </a:p>
          <a:p>
            <a:pPr algn="l">
              <a:lnSpc>
                <a:spcPts val="2770"/>
              </a:lnSpc>
            </a:pPr>
          </a:p>
          <a:p>
            <a:pPr algn="l">
              <a:lnSpc>
                <a:spcPts val="2770"/>
              </a:lnSpc>
            </a:pPr>
            <a:r>
              <a:rPr lang="en-US" b="true" sz="1979" spc="-39" strike="noStrike" u="none">
                <a:solidFill>
                  <a:srgbClr val="145DA0"/>
                </a:solidFill>
                <a:latin typeface="Poppins Bold"/>
                <a:ea typeface="Poppins Bold"/>
                <a:cs typeface="Poppins Bold"/>
                <a:sym typeface="Poppins Bold"/>
              </a:rPr>
              <a:t>Top Product:</a:t>
            </a:r>
            <a:r>
              <a:rPr lang="en-US" sz="1979" spc="-39" strike="noStrike" u="none">
                <a:solidFill>
                  <a:srgbClr val="145DA0"/>
                </a:solidFill>
                <a:latin typeface="Poppins"/>
                <a:ea typeface="Poppins"/>
                <a:cs typeface="Poppins"/>
                <a:sym typeface="Poppins"/>
              </a:rPr>
              <a:t> Long Sleeve Logo Jersey yielded the highest profit among product models.</a:t>
            </a:r>
          </a:p>
          <a:p>
            <a:pPr algn="l">
              <a:lnSpc>
                <a:spcPts val="2770"/>
              </a:lnSpc>
            </a:pPr>
          </a:p>
          <a:p>
            <a:pPr algn="l">
              <a:lnSpc>
                <a:spcPts val="2770"/>
              </a:lnSpc>
            </a:pPr>
            <a:r>
              <a:rPr lang="en-US" b="true" sz="1979" spc="-39" strike="noStrike" u="none">
                <a:solidFill>
                  <a:srgbClr val="145DA0"/>
                </a:solidFill>
                <a:latin typeface="Poppins Bold"/>
                <a:ea typeface="Poppins Bold"/>
                <a:cs typeface="Poppins Bold"/>
                <a:sym typeface="Poppins Bold"/>
              </a:rPr>
              <a:t>Order Patterns</a:t>
            </a:r>
            <a:r>
              <a:rPr lang="en-US" sz="1979" spc="-39" strike="noStrike" u="none">
                <a:solidFill>
                  <a:srgbClr val="145DA0"/>
                </a:solidFill>
                <a:latin typeface="Poppins"/>
                <a:ea typeface="Poppins"/>
                <a:cs typeface="Poppins"/>
                <a:sym typeface="Poppins"/>
              </a:rPr>
              <a:t>: Friday is the peak day for orders.</a:t>
            </a:r>
          </a:p>
          <a:p>
            <a:pPr algn="l">
              <a:lnSpc>
                <a:spcPts val="2770"/>
              </a:lnSpc>
            </a:pPr>
          </a:p>
          <a:p>
            <a:pPr algn="l">
              <a:lnSpc>
                <a:spcPts val="2770"/>
              </a:lnSpc>
            </a:pPr>
            <a:r>
              <a:rPr lang="en-US" b="true" sz="1979" spc="-39" strike="noStrike" u="none">
                <a:solidFill>
                  <a:srgbClr val="145DA0"/>
                </a:solidFill>
                <a:latin typeface="Poppins Bold"/>
                <a:ea typeface="Poppins Bold"/>
                <a:cs typeface="Poppins Bold"/>
                <a:sym typeface="Poppins Bold"/>
              </a:rPr>
              <a:t>Logistics:</a:t>
            </a:r>
            <a:r>
              <a:rPr lang="en-US" sz="1979" spc="-39" strike="noStrike" u="none">
                <a:solidFill>
                  <a:srgbClr val="145DA0"/>
                </a:solidFill>
                <a:latin typeface="Poppins"/>
                <a:ea typeface="Poppins"/>
                <a:cs typeface="Poppins"/>
                <a:sym typeface="Poppins"/>
              </a:rPr>
              <a:t> Medford city recorded the longest average shipping time at 7.3 days.</a:t>
            </a:r>
          </a:p>
          <a:p>
            <a:pPr algn="ctr">
              <a:lnSpc>
                <a:spcPts val="2770"/>
              </a:lnSpc>
            </a:pPr>
          </a:p>
        </p:txBody>
      </p:sp>
      <p:sp>
        <p:nvSpPr>
          <p:cNvPr name="TextBox 19" id="19"/>
          <p:cNvSpPr txBox="true"/>
          <p:nvPr/>
        </p:nvSpPr>
        <p:spPr>
          <a:xfrm rot="0">
            <a:off x="2584630" y="2145671"/>
            <a:ext cx="3490991" cy="443014"/>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Total Revenue</a:t>
            </a:r>
          </a:p>
        </p:txBody>
      </p:sp>
      <p:sp>
        <p:nvSpPr>
          <p:cNvPr name="TextBox 20" id="20"/>
          <p:cNvSpPr txBox="true"/>
          <p:nvPr/>
        </p:nvSpPr>
        <p:spPr>
          <a:xfrm rot="0">
            <a:off x="3497783" y="2510519"/>
            <a:ext cx="2577839" cy="1208803"/>
          </a:xfrm>
          <a:prstGeom prst="rect">
            <a:avLst/>
          </a:prstGeom>
        </p:spPr>
        <p:txBody>
          <a:bodyPr anchor="t" rtlCol="false" tIns="0" lIns="0" bIns="0" rIns="0">
            <a:spAutoFit/>
          </a:bodyPr>
          <a:lstStyle/>
          <a:p>
            <a:pPr algn="ctr" marL="0" indent="0" lvl="0">
              <a:lnSpc>
                <a:spcPts val="9879"/>
              </a:lnSpc>
              <a:spcBef>
                <a:spcPct val="0"/>
              </a:spcBef>
            </a:pPr>
            <a:r>
              <a:rPr lang="en-US" sz="7056">
                <a:solidFill>
                  <a:srgbClr val="145DA0"/>
                </a:solidFill>
                <a:latin typeface="Montserrat"/>
                <a:ea typeface="Montserrat"/>
                <a:cs typeface="Montserrat"/>
                <a:sym typeface="Montserrat"/>
              </a:rPr>
              <a:t>1.1 bn</a:t>
            </a:r>
          </a:p>
        </p:txBody>
      </p:sp>
      <p:sp>
        <p:nvSpPr>
          <p:cNvPr name="TextBox 21" id="21"/>
          <p:cNvSpPr txBox="true"/>
          <p:nvPr/>
        </p:nvSpPr>
        <p:spPr>
          <a:xfrm rot="0">
            <a:off x="2820207" y="2608698"/>
            <a:ext cx="677576" cy="1031495"/>
          </a:xfrm>
          <a:prstGeom prst="rect">
            <a:avLst/>
          </a:prstGeom>
        </p:spPr>
        <p:txBody>
          <a:bodyPr anchor="t" rtlCol="false" tIns="0" lIns="0" bIns="0" rIns="0">
            <a:spAutoFit/>
          </a:bodyPr>
          <a:lstStyle/>
          <a:p>
            <a:pPr algn="ctr" marL="0" indent="0" lvl="0">
              <a:lnSpc>
                <a:spcPts val="8425"/>
              </a:lnSpc>
              <a:spcBef>
                <a:spcPct val="0"/>
              </a:spcBef>
            </a:pPr>
            <a:r>
              <a:rPr lang="en-US" sz="6018">
                <a:solidFill>
                  <a:srgbClr val="145DA0"/>
                </a:solidFill>
                <a:latin typeface="Montserrat"/>
                <a:ea typeface="Montserrat"/>
                <a:cs typeface="Montserrat"/>
                <a:sym typeface="Montserrat"/>
              </a:rPr>
              <a:t>$</a:t>
            </a:r>
          </a:p>
        </p:txBody>
      </p:sp>
      <p:sp>
        <p:nvSpPr>
          <p:cNvPr name="TextBox 22" id="22"/>
          <p:cNvSpPr txBox="true"/>
          <p:nvPr/>
        </p:nvSpPr>
        <p:spPr>
          <a:xfrm rot="0">
            <a:off x="7398504" y="2139109"/>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Profit Margin</a:t>
            </a:r>
          </a:p>
        </p:txBody>
      </p:sp>
      <p:sp>
        <p:nvSpPr>
          <p:cNvPr name="TextBox 23" id="23"/>
          <p:cNvSpPr txBox="true"/>
          <p:nvPr/>
        </p:nvSpPr>
        <p:spPr>
          <a:xfrm rot="0">
            <a:off x="8022829" y="2572646"/>
            <a:ext cx="1842045" cy="1208803"/>
          </a:xfrm>
          <a:prstGeom prst="rect">
            <a:avLst/>
          </a:prstGeom>
        </p:spPr>
        <p:txBody>
          <a:bodyPr anchor="t" rtlCol="false" tIns="0" lIns="0" bIns="0" rIns="0">
            <a:spAutoFit/>
          </a:bodyPr>
          <a:lstStyle/>
          <a:p>
            <a:pPr algn="ctr" marL="0" indent="0" lvl="0">
              <a:lnSpc>
                <a:spcPts val="9879"/>
              </a:lnSpc>
              <a:spcBef>
                <a:spcPct val="0"/>
              </a:spcBef>
            </a:pPr>
            <a:r>
              <a:rPr lang="en-US" sz="7056">
                <a:solidFill>
                  <a:srgbClr val="145DA0"/>
                </a:solidFill>
                <a:latin typeface="Montserrat"/>
                <a:ea typeface="Montserrat"/>
                <a:cs typeface="Montserrat"/>
                <a:sym typeface="Montserrat"/>
              </a:rPr>
              <a:t>40</a:t>
            </a:r>
          </a:p>
        </p:txBody>
      </p:sp>
      <p:sp>
        <p:nvSpPr>
          <p:cNvPr name="TextBox 24" id="24"/>
          <p:cNvSpPr txBox="true"/>
          <p:nvPr/>
        </p:nvSpPr>
        <p:spPr>
          <a:xfrm rot="0">
            <a:off x="12124168" y="2145671"/>
            <a:ext cx="3490991" cy="439633"/>
          </a:xfrm>
          <a:prstGeom prst="rect">
            <a:avLst/>
          </a:prstGeom>
        </p:spPr>
        <p:txBody>
          <a:bodyPr anchor="t" rtlCol="false" tIns="0" lIns="0" bIns="0" rIns="0">
            <a:spAutoFit/>
          </a:bodyPr>
          <a:lstStyle/>
          <a:p>
            <a:pPr algn="ctr">
              <a:lnSpc>
                <a:spcPts val="3406"/>
              </a:lnSpc>
              <a:spcBef>
                <a:spcPct val="0"/>
              </a:spcBef>
            </a:pPr>
            <a:r>
              <a:rPr lang="en-US" b="true" sz="2433">
                <a:solidFill>
                  <a:srgbClr val="145DA0"/>
                </a:solidFill>
                <a:latin typeface="Poppins Bold"/>
                <a:ea typeface="Poppins Bold"/>
                <a:cs typeface="Poppins Bold"/>
                <a:sym typeface="Poppins Bold"/>
              </a:rPr>
              <a:t>Total Cost</a:t>
            </a:r>
          </a:p>
        </p:txBody>
      </p:sp>
      <p:sp>
        <p:nvSpPr>
          <p:cNvPr name="TextBox 25" id="25"/>
          <p:cNvSpPr txBox="true"/>
          <p:nvPr/>
        </p:nvSpPr>
        <p:spPr>
          <a:xfrm rot="0">
            <a:off x="12618454" y="2608698"/>
            <a:ext cx="3328398" cy="1031495"/>
          </a:xfrm>
          <a:prstGeom prst="rect">
            <a:avLst/>
          </a:prstGeom>
        </p:spPr>
        <p:txBody>
          <a:bodyPr anchor="t" rtlCol="false" tIns="0" lIns="0" bIns="0" rIns="0">
            <a:spAutoFit/>
          </a:bodyPr>
          <a:lstStyle/>
          <a:p>
            <a:pPr algn="ctr" marL="0" indent="0" lvl="0">
              <a:lnSpc>
                <a:spcPts val="8425"/>
              </a:lnSpc>
              <a:spcBef>
                <a:spcPct val="0"/>
              </a:spcBef>
            </a:pPr>
            <a:r>
              <a:rPr lang="en-US" sz="6018">
                <a:solidFill>
                  <a:srgbClr val="145DA0"/>
                </a:solidFill>
                <a:latin typeface="Montserrat"/>
                <a:ea typeface="Montserrat"/>
                <a:cs typeface="Montserrat"/>
                <a:sym typeface="Montserrat"/>
              </a:rPr>
              <a:t>606.3 M</a:t>
            </a:r>
          </a:p>
        </p:txBody>
      </p:sp>
      <p:sp>
        <p:nvSpPr>
          <p:cNvPr name="TextBox 26" id="26"/>
          <p:cNvSpPr txBox="true"/>
          <p:nvPr/>
        </p:nvSpPr>
        <p:spPr>
          <a:xfrm rot="0">
            <a:off x="9663638" y="2670825"/>
            <a:ext cx="677576" cy="1031495"/>
          </a:xfrm>
          <a:prstGeom prst="rect">
            <a:avLst/>
          </a:prstGeom>
        </p:spPr>
        <p:txBody>
          <a:bodyPr anchor="t" rtlCol="false" tIns="0" lIns="0" bIns="0" rIns="0">
            <a:spAutoFit/>
          </a:bodyPr>
          <a:lstStyle/>
          <a:p>
            <a:pPr algn="ctr" marL="0" indent="0" lvl="0">
              <a:lnSpc>
                <a:spcPts val="8425"/>
              </a:lnSpc>
              <a:spcBef>
                <a:spcPct val="0"/>
              </a:spcBef>
            </a:pPr>
            <a:r>
              <a:rPr lang="en-US" sz="6018">
                <a:solidFill>
                  <a:srgbClr val="145DA0"/>
                </a:solidFill>
                <a:latin typeface="Montserrat"/>
                <a:ea typeface="Montserrat"/>
                <a:cs typeface="Montserrat"/>
                <a:sym typeface="Montserrat"/>
              </a:rPr>
              <a:t>%</a:t>
            </a:r>
          </a:p>
        </p:txBody>
      </p:sp>
      <p:sp>
        <p:nvSpPr>
          <p:cNvPr name="TextBox 27" id="27"/>
          <p:cNvSpPr txBox="true"/>
          <p:nvPr/>
        </p:nvSpPr>
        <p:spPr>
          <a:xfrm rot="0">
            <a:off x="11985263" y="2687827"/>
            <a:ext cx="677576" cy="1031495"/>
          </a:xfrm>
          <a:prstGeom prst="rect">
            <a:avLst/>
          </a:prstGeom>
        </p:spPr>
        <p:txBody>
          <a:bodyPr anchor="t" rtlCol="false" tIns="0" lIns="0" bIns="0" rIns="0">
            <a:spAutoFit/>
          </a:bodyPr>
          <a:lstStyle/>
          <a:p>
            <a:pPr algn="ctr" marL="0" indent="0" lvl="0">
              <a:lnSpc>
                <a:spcPts val="8425"/>
              </a:lnSpc>
              <a:spcBef>
                <a:spcPct val="0"/>
              </a:spcBef>
            </a:pPr>
            <a:r>
              <a:rPr lang="en-US" sz="6018">
                <a:solidFill>
                  <a:srgbClr val="145DA0"/>
                </a:solidFill>
                <a:latin typeface="Montserrat"/>
                <a:ea typeface="Montserrat"/>
                <a:cs typeface="Montserrat"/>
                <a:sym typeface="Montserrat"/>
              </a:rPr>
              <a:t>$</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grpSp>
        <p:nvGrpSpPr>
          <p:cNvPr name="Group 2" id="2"/>
          <p:cNvGrpSpPr/>
          <p:nvPr/>
        </p:nvGrpSpPr>
        <p:grpSpPr>
          <a:xfrm rot="0">
            <a:off x="0" y="1828060"/>
            <a:ext cx="18288000" cy="8243886"/>
            <a:chOff x="0" y="0"/>
            <a:chExt cx="5121047" cy="2308471"/>
          </a:xfrm>
        </p:grpSpPr>
        <p:sp>
          <p:nvSpPr>
            <p:cNvPr name="Freeform 3" id="3"/>
            <p:cNvSpPr/>
            <p:nvPr/>
          </p:nvSpPr>
          <p:spPr>
            <a:xfrm flipH="false" flipV="false" rot="0">
              <a:off x="0" y="0"/>
              <a:ext cx="5121047" cy="2308471"/>
            </a:xfrm>
            <a:custGeom>
              <a:avLst/>
              <a:gdLst/>
              <a:ahLst/>
              <a:cxnLst/>
              <a:rect r="r" b="b" t="t" l="l"/>
              <a:pathLst>
                <a:path h="2308471" w="5121047">
                  <a:moveTo>
                    <a:pt x="0" y="0"/>
                  </a:moveTo>
                  <a:lnTo>
                    <a:pt x="5121047" y="0"/>
                  </a:lnTo>
                  <a:lnTo>
                    <a:pt x="5121047" y="2308471"/>
                  </a:lnTo>
                  <a:lnTo>
                    <a:pt x="0" y="2308471"/>
                  </a:lnTo>
                  <a:close/>
                </a:path>
              </a:pathLst>
            </a:custGeom>
            <a:solidFill>
              <a:srgbClr val="145DA0">
                <a:alpha val="95686"/>
              </a:srgbClr>
            </a:solidFill>
            <a:ln cap="sq">
              <a:noFill/>
              <a:prstDash val="solid"/>
              <a:miter/>
            </a:ln>
          </p:spPr>
        </p:sp>
        <p:sp>
          <p:nvSpPr>
            <p:cNvPr name="TextBox 4" id="4"/>
            <p:cNvSpPr txBox="true"/>
            <p:nvPr/>
          </p:nvSpPr>
          <p:spPr>
            <a:xfrm>
              <a:off x="0" y="-38100"/>
              <a:ext cx="5121047" cy="2346571"/>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5729608" y="445743"/>
            <a:ext cx="6828784" cy="971059"/>
          </a:xfrm>
          <a:prstGeom prst="rect">
            <a:avLst/>
          </a:prstGeom>
        </p:spPr>
        <p:txBody>
          <a:bodyPr anchor="t" rtlCol="false" tIns="0" lIns="0" bIns="0" rIns="0">
            <a:spAutoFit/>
          </a:bodyPr>
          <a:lstStyle/>
          <a:p>
            <a:pPr algn="l" marL="0" indent="0" lvl="0">
              <a:lnSpc>
                <a:spcPts val="7902"/>
              </a:lnSpc>
              <a:spcBef>
                <a:spcPct val="0"/>
              </a:spcBef>
            </a:pPr>
            <a:r>
              <a:rPr lang="en-US" b="true" sz="5644">
                <a:solidFill>
                  <a:srgbClr val="00569E"/>
                </a:solidFill>
                <a:latin typeface="Montserrat Bold"/>
                <a:ea typeface="Montserrat Bold"/>
                <a:cs typeface="Montserrat Bold"/>
                <a:sym typeface="Montserrat Bold"/>
              </a:rPr>
              <a:t>Recommendation </a:t>
            </a:r>
          </a:p>
        </p:txBody>
      </p:sp>
      <p:grpSp>
        <p:nvGrpSpPr>
          <p:cNvPr name="Group 6" id="6"/>
          <p:cNvGrpSpPr/>
          <p:nvPr/>
        </p:nvGrpSpPr>
        <p:grpSpPr>
          <a:xfrm rot="0">
            <a:off x="0" y="9856893"/>
            <a:ext cx="18288000" cy="430107"/>
            <a:chOff x="0" y="0"/>
            <a:chExt cx="5121047" cy="120440"/>
          </a:xfrm>
        </p:grpSpPr>
        <p:sp>
          <p:nvSpPr>
            <p:cNvPr name="Freeform 7" id="7"/>
            <p:cNvSpPr/>
            <p:nvPr/>
          </p:nvSpPr>
          <p:spPr>
            <a:xfrm flipH="false" flipV="false" rot="0">
              <a:off x="0" y="0"/>
              <a:ext cx="5121047" cy="120440"/>
            </a:xfrm>
            <a:custGeom>
              <a:avLst/>
              <a:gdLst/>
              <a:ahLst/>
              <a:cxnLst/>
              <a:rect r="r" b="b" t="t" l="l"/>
              <a:pathLst>
                <a:path h="120440" w="5121047">
                  <a:moveTo>
                    <a:pt x="0" y="0"/>
                  </a:moveTo>
                  <a:lnTo>
                    <a:pt x="5121047" y="0"/>
                  </a:lnTo>
                  <a:lnTo>
                    <a:pt x="5121047" y="120440"/>
                  </a:lnTo>
                  <a:lnTo>
                    <a:pt x="0" y="120440"/>
                  </a:lnTo>
                  <a:close/>
                </a:path>
              </a:pathLst>
            </a:custGeom>
            <a:solidFill>
              <a:srgbClr val="145DA0">
                <a:alpha val="48627"/>
              </a:srgbClr>
            </a:solidFill>
            <a:ln cap="sq">
              <a:noFill/>
              <a:prstDash val="solid"/>
              <a:miter/>
            </a:ln>
          </p:spPr>
        </p:sp>
        <p:sp>
          <p:nvSpPr>
            <p:cNvPr name="TextBox 8" id="8"/>
            <p:cNvSpPr txBox="true"/>
            <p:nvPr/>
          </p:nvSpPr>
          <p:spPr>
            <a:xfrm>
              <a:off x="0" y="-38100"/>
              <a:ext cx="5121047" cy="15854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5238003" y="8290589"/>
            <a:ext cx="7523780" cy="752378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2" id="12"/>
          <p:cNvSpPr txBox="true"/>
          <p:nvPr/>
        </p:nvSpPr>
        <p:spPr>
          <a:xfrm rot="0">
            <a:off x="543897" y="2694666"/>
            <a:ext cx="17293522" cy="7300484"/>
          </a:xfrm>
          <a:prstGeom prst="rect">
            <a:avLst/>
          </a:prstGeom>
        </p:spPr>
        <p:txBody>
          <a:bodyPr anchor="t" rtlCol="false" tIns="0" lIns="0" bIns="0" rIns="0">
            <a:spAutoFit/>
          </a:bodyPr>
          <a:lstStyle/>
          <a:p>
            <a:pPr algn="l" marL="529900" indent="-264950" lvl="1">
              <a:lnSpc>
                <a:spcPts val="3436"/>
              </a:lnSpc>
              <a:spcBef>
                <a:spcPct val="0"/>
              </a:spcBef>
              <a:buFont typeface="Arial"/>
              <a:buChar char="•"/>
            </a:pPr>
            <a:r>
              <a:rPr lang="en-US" sz="2454" spc="-49">
                <a:solidFill>
                  <a:srgbClr val="FDFDFD"/>
                </a:solidFill>
                <a:latin typeface="Poppins"/>
                <a:ea typeface="Poppins"/>
                <a:cs typeface="Poppins"/>
                <a:sym typeface="Poppins"/>
              </a:rPr>
              <a:t>Focus Marketing Efforts </a:t>
            </a:r>
            <a:r>
              <a:rPr lang="en-US" sz="2454" spc="-49" strike="noStrike" u="none">
                <a:solidFill>
                  <a:srgbClr val="FDFDFD"/>
                </a:solidFill>
                <a:latin typeface="Poppins"/>
                <a:ea typeface="Poppins"/>
                <a:cs typeface="Poppins"/>
                <a:sym typeface="Poppins"/>
              </a:rPr>
              <a:t>on the U.S. Market: Leverage its high order volume and active customer base to increase sales further.</a:t>
            </a:r>
          </a:p>
          <a:p>
            <a:pPr algn="l">
              <a:lnSpc>
                <a:spcPts val="3436"/>
              </a:lnSpc>
              <a:spcBef>
                <a:spcPct val="0"/>
              </a:spcBef>
            </a:pPr>
          </a:p>
          <a:p>
            <a:pPr algn="l" marL="529900" indent="-264950" lvl="1">
              <a:lnSpc>
                <a:spcPts val="3436"/>
              </a:lnSpc>
              <a:spcBef>
                <a:spcPct val="0"/>
              </a:spcBef>
              <a:buFont typeface="Arial"/>
              <a:buChar char="•"/>
            </a:pPr>
            <a:r>
              <a:rPr lang="en-US" sz="2454" spc="-49" strike="noStrike" u="none">
                <a:solidFill>
                  <a:srgbClr val="FDFDFD"/>
                </a:solidFill>
                <a:latin typeface="Poppins"/>
                <a:ea typeface="Poppins"/>
                <a:cs typeface="Poppins"/>
                <a:sym typeface="Poppins"/>
              </a:rPr>
              <a:t>Promote High-Performing Product Categories: Prioritize bikes and clothing in promotions and inventory planning to maximize revenue and profit.</a:t>
            </a:r>
          </a:p>
          <a:p>
            <a:pPr algn="l">
              <a:lnSpc>
                <a:spcPts val="3436"/>
              </a:lnSpc>
              <a:spcBef>
                <a:spcPct val="0"/>
              </a:spcBef>
            </a:pPr>
          </a:p>
          <a:p>
            <a:pPr algn="l" marL="529900" indent="-264950" lvl="1">
              <a:lnSpc>
                <a:spcPts val="3436"/>
              </a:lnSpc>
              <a:spcBef>
                <a:spcPct val="0"/>
              </a:spcBef>
              <a:buFont typeface="Arial"/>
              <a:buChar char="•"/>
            </a:pPr>
            <a:r>
              <a:rPr lang="en-US" sz="2454" spc="-49" strike="noStrike" u="none">
                <a:solidFill>
                  <a:srgbClr val="FDFDFD"/>
                </a:solidFill>
                <a:latin typeface="Poppins"/>
                <a:ea typeface="Poppins"/>
                <a:cs typeface="Poppins"/>
                <a:sym typeface="Poppins"/>
              </a:rPr>
              <a:t>Enhance Inventory Management: Stock more of the Long Sleeve Logo Jersey and other top-selling products to meet demand efficiently.</a:t>
            </a:r>
          </a:p>
          <a:p>
            <a:pPr algn="l">
              <a:lnSpc>
                <a:spcPts val="3436"/>
              </a:lnSpc>
              <a:spcBef>
                <a:spcPct val="0"/>
              </a:spcBef>
            </a:pPr>
          </a:p>
          <a:p>
            <a:pPr algn="l" marL="529900" indent="-264950" lvl="1">
              <a:lnSpc>
                <a:spcPts val="3436"/>
              </a:lnSpc>
              <a:spcBef>
                <a:spcPct val="0"/>
              </a:spcBef>
              <a:buFont typeface="Arial"/>
              <a:buChar char="•"/>
            </a:pPr>
            <a:r>
              <a:rPr lang="en-US" sz="2454" spc="-49" strike="noStrike" u="none">
                <a:solidFill>
                  <a:srgbClr val="FDFDFD"/>
                </a:solidFill>
                <a:latin typeface="Poppins"/>
                <a:ea typeface="Poppins"/>
                <a:cs typeface="Poppins"/>
                <a:sym typeface="Poppins"/>
              </a:rPr>
              <a:t>Optimize Shipping in Key Regions: Investigate delays in Medford city to reduce shipping time and improve customer satisfaction.</a:t>
            </a:r>
          </a:p>
          <a:p>
            <a:pPr algn="l">
              <a:lnSpc>
                <a:spcPts val="3436"/>
              </a:lnSpc>
              <a:spcBef>
                <a:spcPct val="0"/>
              </a:spcBef>
            </a:pPr>
          </a:p>
          <a:p>
            <a:pPr algn="l" marL="529900" indent="-264950" lvl="1">
              <a:lnSpc>
                <a:spcPts val="3436"/>
              </a:lnSpc>
              <a:spcBef>
                <a:spcPct val="0"/>
              </a:spcBef>
              <a:buFont typeface="Arial"/>
              <a:buChar char="•"/>
            </a:pPr>
            <a:r>
              <a:rPr lang="en-US" sz="2454" spc="-49" strike="noStrike" u="none">
                <a:solidFill>
                  <a:srgbClr val="FDFDFD"/>
                </a:solidFill>
                <a:latin typeface="Poppins"/>
                <a:ea typeface="Poppins"/>
                <a:cs typeface="Poppins"/>
                <a:sym typeface="Poppins"/>
              </a:rPr>
              <a:t>Boost Sales on Peak Days: Develop targeted campaigns for Fridays to capitalize on the highest order volume.</a:t>
            </a:r>
          </a:p>
          <a:p>
            <a:pPr algn="l">
              <a:lnSpc>
                <a:spcPts val="3436"/>
              </a:lnSpc>
              <a:spcBef>
                <a:spcPct val="0"/>
              </a:spcBef>
            </a:pPr>
          </a:p>
          <a:p>
            <a:pPr algn="l" marL="529900" indent="-264950" lvl="1">
              <a:lnSpc>
                <a:spcPts val="3436"/>
              </a:lnSpc>
              <a:spcBef>
                <a:spcPct val="0"/>
              </a:spcBef>
              <a:buFont typeface="Arial"/>
              <a:buChar char="•"/>
            </a:pPr>
            <a:r>
              <a:rPr lang="en-US" sz="2454" spc="-49" strike="noStrike" u="none">
                <a:solidFill>
                  <a:srgbClr val="FDFDFD"/>
                </a:solidFill>
                <a:latin typeface="Poppins"/>
                <a:ea typeface="Poppins"/>
                <a:cs typeface="Poppins"/>
                <a:sym typeface="Poppins"/>
              </a:rPr>
              <a:t>Monitor Profit Margins Yearly: Analyze factors contributing to the dip in 2020 to mitigate future risks and sustain growth.</a:t>
            </a:r>
          </a:p>
          <a:p>
            <a:pPr algn="l" marL="0" indent="0" lvl="0">
              <a:lnSpc>
                <a:spcPts val="3436"/>
              </a:lnSpc>
              <a:spcBef>
                <a:spcPct val="0"/>
              </a:spcBef>
            </a:pPr>
          </a:p>
        </p:txBody>
      </p:sp>
      <p:grpSp>
        <p:nvGrpSpPr>
          <p:cNvPr name="Group 13" id="13"/>
          <p:cNvGrpSpPr/>
          <p:nvPr/>
        </p:nvGrpSpPr>
        <p:grpSpPr>
          <a:xfrm rot="0">
            <a:off x="-3724222" y="-4507687"/>
            <a:ext cx="5924489" cy="592448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45DA0">
                <a:alpha val="95686"/>
              </a:srgbClr>
            </a:solidFill>
            <a:ln cap="sq">
              <a:noFill/>
              <a:prstDash val="solid"/>
              <a:miter/>
            </a:ln>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28.xml><?xml version="1.0" encoding="utf-8"?>
<p:sld xmlns:p="http://schemas.openxmlformats.org/presentationml/2006/main" xmlns:a="http://schemas.openxmlformats.org/drawingml/2006/main">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5506781" y="2267663"/>
            <a:ext cx="7274437" cy="771523"/>
          </a:xfrm>
          <a:prstGeom prst="rect">
            <a:avLst/>
          </a:prstGeom>
        </p:spPr>
        <p:txBody>
          <a:bodyPr anchor="t" rtlCol="false" tIns="0" lIns="0" bIns="0" rIns="0">
            <a:spAutoFit/>
          </a:bodyPr>
          <a:lstStyle/>
          <a:p>
            <a:pPr algn="ctr" marL="0" indent="0" lvl="0">
              <a:lnSpc>
                <a:spcPts val="6300"/>
              </a:lnSpc>
              <a:spcBef>
                <a:spcPct val="0"/>
              </a:spcBef>
            </a:pPr>
            <a:r>
              <a:rPr lang="en-US" b="true" sz="4500">
                <a:solidFill>
                  <a:srgbClr val="051D40"/>
                </a:solidFill>
                <a:latin typeface="Montserrat Bold"/>
                <a:ea typeface="Montserrat Bold"/>
                <a:cs typeface="Montserrat Bold"/>
                <a:sym typeface="Montserrat Bold"/>
              </a:rPr>
              <a:t>Conclusion</a:t>
            </a:r>
          </a:p>
        </p:txBody>
      </p:sp>
      <p:sp>
        <p:nvSpPr>
          <p:cNvPr name="TextBox 3" id="3"/>
          <p:cNvSpPr txBox="true"/>
          <p:nvPr/>
        </p:nvSpPr>
        <p:spPr>
          <a:xfrm rot="0">
            <a:off x="226364" y="3556231"/>
            <a:ext cx="17415792" cy="4285893"/>
          </a:xfrm>
          <a:prstGeom prst="rect">
            <a:avLst/>
          </a:prstGeom>
        </p:spPr>
        <p:txBody>
          <a:bodyPr anchor="t" rtlCol="false" tIns="0" lIns="0" bIns="0" rIns="0">
            <a:spAutoFit/>
          </a:bodyPr>
          <a:lstStyle/>
          <a:p>
            <a:pPr algn="ctr">
              <a:lnSpc>
                <a:spcPts val="4219"/>
              </a:lnSpc>
            </a:pPr>
          </a:p>
          <a:p>
            <a:pPr algn="ctr">
              <a:lnSpc>
                <a:spcPts val="4219"/>
              </a:lnSpc>
            </a:pPr>
            <a:r>
              <a:rPr lang="en-US" sz="3014" spc="-60">
                <a:solidFill>
                  <a:srgbClr val="00569E"/>
                </a:solidFill>
                <a:latin typeface="Poppins"/>
                <a:ea typeface="Poppins"/>
                <a:cs typeface="Poppins"/>
                <a:sym typeface="Poppins"/>
              </a:rPr>
              <a:t>This project successfully transformed raw sales data into a robust, scalable Data Warehouse, enabling detailed analysis through Power BI dashboards. The insights gained reveal key trends in sales, customer behavior, product performance, and operational efficiency. Implementing the recommended actions can drive targeted growth, optimize resource allocation, and enhance overall business performance. This end-to-end solution empowers stakeholders to make informed, data-driven decisions with confidence.</a:t>
            </a:r>
          </a:p>
          <a:p>
            <a:pPr algn="ctr">
              <a:lnSpc>
                <a:spcPts val="4219"/>
              </a:lnSpc>
            </a:pPr>
          </a:p>
        </p:txBody>
      </p:sp>
      <p:grpSp>
        <p:nvGrpSpPr>
          <p:cNvPr name="Group 4" id="4"/>
          <p:cNvGrpSpPr/>
          <p:nvPr/>
        </p:nvGrpSpPr>
        <p:grpSpPr>
          <a:xfrm rot="0">
            <a:off x="-1766494" y="9340175"/>
            <a:ext cx="21820987" cy="946825"/>
            <a:chOff x="0" y="0"/>
            <a:chExt cx="6110362" cy="265132"/>
          </a:xfrm>
        </p:grpSpPr>
        <p:sp>
          <p:nvSpPr>
            <p:cNvPr name="Freeform 5" id="5"/>
            <p:cNvSpPr/>
            <p:nvPr/>
          </p:nvSpPr>
          <p:spPr>
            <a:xfrm flipH="false" flipV="false" rot="0">
              <a:off x="0" y="0"/>
              <a:ext cx="6110362" cy="265132"/>
            </a:xfrm>
            <a:custGeom>
              <a:avLst/>
              <a:gdLst/>
              <a:ahLst/>
              <a:cxnLst/>
              <a:rect r="r" b="b" t="t" l="l"/>
              <a:pathLst>
                <a:path h="265132" w="6110362">
                  <a:moveTo>
                    <a:pt x="0" y="0"/>
                  </a:moveTo>
                  <a:lnTo>
                    <a:pt x="6110362" y="0"/>
                  </a:lnTo>
                  <a:lnTo>
                    <a:pt x="6110362" y="265132"/>
                  </a:lnTo>
                  <a:lnTo>
                    <a:pt x="0" y="265132"/>
                  </a:lnTo>
                  <a:close/>
                </a:path>
              </a:pathLst>
            </a:custGeom>
            <a:solidFill>
              <a:srgbClr val="145DA0"/>
            </a:solidFill>
            <a:ln cap="sq">
              <a:noFill/>
              <a:prstDash val="solid"/>
              <a:miter/>
            </a:ln>
          </p:spPr>
        </p:sp>
        <p:sp>
          <p:nvSpPr>
            <p:cNvPr name="TextBox 6" id="6"/>
            <p:cNvSpPr txBox="true"/>
            <p:nvPr/>
          </p:nvSpPr>
          <p:spPr>
            <a:xfrm>
              <a:off x="0" y="-38100"/>
              <a:ext cx="6110362" cy="30323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7" id="7"/>
          <p:cNvGrpSpPr/>
          <p:nvPr/>
        </p:nvGrpSpPr>
        <p:grpSpPr>
          <a:xfrm rot="0">
            <a:off x="-1766494" y="-816076"/>
            <a:ext cx="21820987" cy="1762900"/>
            <a:chOff x="0" y="0"/>
            <a:chExt cx="6110362" cy="493651"/>
          </a:xfrm>
        </p:grpSpPr>
        <p:sp>
          <p:nvSpPr>
            <p:cNvPr name="Freeform 8" id="8"/>
            <p:cNvSpPr/>
            <p:nvPr/>
          </p:nvSpPr>
          <p:spPr>
            <a:xfrm flipH="false" flipV="false" rot="0">
              <a:off x="0" y="0"/>
              <a:ext cx="6110362" cy="493651"/>
            </a:xfrm>
            <a:custGeom>
              <a:avLst/>
              <a:gdLst/>
              <a:ahLst/>
              <a:cxnLst/>
              <a:rect r="r" b="b" t="t" l="l"/>
              <a:pathLst>
                <a:path h="493651" w="6110362">
                  <a:moveTo>
                    <a:pt x="0" y="0"/>
                  </a:moveTo>
                  <a:lnTo>
                    <a:pt x="6110362" y="0"/>
                  </a:lnTo>
                  <a:lnTo>
                    <a:pt x="6110362" y="493651"/>
                  </a:lnTo>
                  <a:lnTo>
                    <a:pt x="0" y="493651"/>
                  </a:lnTo>
                  <a:close/>
                </a:path>
              </a:pathLst>
            </a:custGeom>
            <a:solidFill>
              <a:srgbClr val="145DA0"/>
            </a:solidFill>
            <a:ln cap="sq">
              <a:noFill/>
              <a:prstDash val="solid"/>
              <a:miter/>
            </a:ln>
          </p:spPr>
        </p:sp>
        <p:sp>
          <p:nvSpPr>
            <p:cNvPr name="TextBox 9" id="9"/>
            <p:cNvSpPr txBox="true"/>
            <p:nvPr/>
          </p:nvSpPr>
          <p:spPr>
            <a:xfrm>
              <a:off x="0" y="-38100"/>
              <a:ext cx="6110362" cy="531751"/>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false" rot="0">
            <a:off x="4467202" y="6161845"/>
            <a:ext cx="399176" cy="399176"/>
          </a:xfrm>
          <a:custGeom>
            <a:avLst/>
            <a:gdLst/>
            <a:ahLst/>
            <a:cxnLst/>
            <a:rect r="r" b="b" t="t" l="l"/>
            <a:pathLst>
              <a:path h="399176" w="399176">
                <a:moveTo>
                  <a:pt x="0" y="0"/>
                </a:moveTo>
                <a:lnTo>
                  <a:pt x="399175" y="0"/>
                </a:lnTo>
                <a:lnTo>
                  <a:pt x="399175" y="399175"/>
                </a:lnTo>
                <a:lnTo>
                  <a:pt x="0" y="3991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67202" y="5450713"/>
            <a:ext cx="3747646" cy="515647"/>
          </a:xfrm>
          <a:prstGeom prst="rect">
            <a:avLst/>
          </a:prstGeom>
        </p:spPr>
        <p:txBody>
          <a:bodyPr anchor="t" rtlCol="false" tIns="0" lIns="0" bIns="0" rIns="0">
            <a:spAutoFit/>
          </a:bodyPr>
          <a:lstStyle/>
          <a:p>
            <a:pPr algn="l" marL="0" indent="0" lvl="1">
              <a:lnSpc>
                <a:spcPts val="4050"/>
              </a:lnSpc>
              <a:spcBef>
                <a:spcPct val="0"/>
              </a:spcBef>
            </a:pPr>
            <a:r>
              <a:rPr lang="en-US" b="true" sz="2893" spc="-57">
                <a:solidFill>
                  <a:srgbClr val="145DA0"/>
                </a:solidFill>
                <a:latin typeface="Poppins Bold"/>
                <a:ea typeface="Poppins Bold"/>
                <a:cs typeface="Poppins Bold"/>
                <a:sym typeface="Poppins Bold"/>
              </a:rPr>
              <a:t>Rama Ehab</a:t>
            </a:r>
          </a:p>
        </p:txBody>
      </p:sp>
      <p:sp>
        <p:nvSpPr>
          <p:cNvPr name="TextBox 4" id="4"/>
          <p:cNvSpPr txBox="true"/>
          <p:nvPr/>
        </p:nvSpPr>
        <p:spPr>
          <a:xfrm rot="0">
            <a:off x="5003724" y="6144875"/>
            <a:ext cx="3559508" cy="325492"/>
          </a:xfrm>
          <a:prstGeom prst="rect">
            <a:avLst/>
          </a:prstGeom>
        </p:spPr>
        <p:txBody>
          <a:bodyPr anchor="t" rtlCol="false" tIns="0" lIns="0" bIns="0" rIns="0">
            <a:spAutoFit/>
          </a:bodyPr>
          <a:lstStyle/>
          <a:p>
            <a:pPr algn="l" marL="0" indent="0" lvl="1">
              <a:lnSpc>
                <a:spcPts val="2534"/>
              </a:lnSpc>
              <a:spcBef>
                <a:spcPct val="0"/>
              </a:spcBef>
            </a:pPr>
            <a:r>
              <a:rPr lang="en-US" sz="1810" spc="-36">
                <a:solidFill>
                  <a:srgbClr val="145DA0"/>
                </a:solidFill>
                <a:latin typeface="Poppins"/>
                <a:ea typeface="Poppins"/>
                <a:cs typeface="Poppins"/>
                <a:sym typeface="Poppins"/>
              </a:rPr>
              <a:t>ramaehab023@gmail.com</a:t>
            </a:r>
          </a:p>
        </p:txBody>
      </p:sp>
      <p:grpSp>
        <p:nvGrpSpPr>
          <p:cNvPr name="Group 5" id="5"/>
          <p:cNvGrpSpPr/>
          <p:nvPr/>
        </p:nvGrpSpPr>
        <p:grpSpPr>
          <a:xfrm rot="0">
            <a:off x="12398912" y="0"/>
            <a:ext cx="5889088" cy="756959"/>
            <a:chOff x="0" y="0"/>
            <a:chExt cx="1551036" cy="199364"/>
          </a:xfrm>
        </p:grpSpPr>
        <p:sp>
          <p:nvSpPr>
            <p:cNvPr name="Freeform 6" id="6"/>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7" id="7"/>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398912" y="9530041"/>
            <a:ext cx="5889088" cy="756959"/>
            <a:chOff x="0" y="0"/>
            <a:chExt cx="1551036" cy="199364"/>
          </a:xfrm>
        </p:grpSpPr>
        <p:sp>
          <p:nvSpPr>
            <p:cNvPr name="Freeform 9" id="9"/>
            <p:cNvSpPr/>
            <p:nvPr/>
          </p:nvSpPr>
          <p:spPr>
            <a:xfrm flipH="false" flipV="false" rot="0">
              <a:off x="0" y="0"/>
              <a:ext cx="1551036" cy="199364"/>
            </a:xfrm>
            <a:custGeom>
              <a:avLst/>
              <a:gdLst/>
              <a:ahLst/>
              <a:cxnLst/>
              <a:rect r="r" b="b" t="t" l="l"/>
              <a:pathLst>
                <a:path h="199364" w="1551036">
                  <a:moveTo>
                    <a:pt x="0" y="0"/>
                  </a:moveTo>
                  <a:lnTo>
                    <a:pt x="1551036" y="0"/>
                  </a:lnTo>
                  <a:lnTo>
                    <a:pt x="1551036" y="199364"/>
                  </a:lnTo>
                  <a:lnTo>
                    <a:pt x="0" y="199364"/>
                  </a:lnTo>
                  <a:close/>
                </a:path>
              </a:pathLst>
            </a:custGeom>
            <a:solidFill>
              <a:srgbClr val="5B98BA"/>
            </a:solidFill>
            <a:ln cap="sq">
              <a:noFill/>
              <a:prstDash val="solid"/>
              <a:miter/>
            </a:ln>
          </p:spPr>
        </p:sp>
        <p:sp>
          <p:nvSpPr>
            <p:cNvPr name="TextBox 10" id="10"/>
            <p:cNvSpPr txBox="true"/>
            <p:nvPr/>
          </p:nvSpPr>
          <p:spPr>
            <a:xfrm>
              <a:off x="0" y="-38100"/>
              <a:ext cx="1551036" cy="237464"/>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4925441" y="3609788"/>
            <a:ext cx="9392643" cy="9529477"/>
          </a:xfrm>
          <a:custGeom>
            <a:avLst/>
            <a:gdLst/>
            <a:ahLst/>
            <a:cxnLst/>
            <a:rect r="r" b="b" t="t" l="l"/>
            <a:pathLst>
              <a:path h="9529477" w="9392643">
                <a:moveTo>
                  <a:pt x="0" y="0"/>
                </a:moveTo>
                <a:lnTo>
                  <a:pt x="9392643" y="0"/>
                </a:lnTo>
                <a:lnTo>
                  <a:pt x="9392643" y="9529476"/>
                </a:lnTo>
                <a:lnTo>
                  <a:pt x="0" y="9529476"/>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grpSp>
        <p:nvGrpSpPr>
          <p:cNvPr name="Group 12" id="12"/>
          <p:cNvGrpSpPr>
            <a:grpSpLocks noChangeAspect="true"/>
          </p:cNvGrpSpPr>
          <p:nvPr/>
        </p:nvGrpSpPr>
        <p:grpSpPr>
          <a:xfrm rot="0">
            <a:off x="9966307" y="300249"/>
            <a:ext cx="8027935" cy="9598729"/>
            <a:chOff x="0" y="0"/>
            <a:chExt cx="8603361" cy="10286746"/>
          </a:xfrm>
        </p:grpSpPr>
        <p:sp>
          <p:nvSpPr>
            <p:cNvPr name="Freeform 13" id="13"/>
            <p:cNvSpPr/>
            <p:nvPr/>
          </p:nvSpPr>
          <p:spPr>
            <a:xfrm flipH="false" flipV="false" rot="0">
              <a:off x="-2794" y="-128"/>
              <a:ext cx="8606155" cy="10286874"/>
            </a:xfrm>
            <a:custGeom>
              <a:avLst/>
              <a:gdLst/>
              <a:ahLst/>
              <a:cxnLst/>
              <a:rect r="r" b="b" t="t" l="l"/>
              <a:pathLst>
                <a:path h="10286874" w="8606155">
                  <a:moveTo>
                    <a:pt x="8606155" y="10251441"/>
                  </a:moveTo>
                  <a:cubicBezTo>
                    <a:pt x="8606155" y="10284588"/>
                    <a:pt x="8595487" y="10286874"/>
                    <a:pt x="8567674" y="10286874"/>
                  </a:cubicBezTo>
                  <a:cubicBezTo>
                    <a:pt x="5713094" y="10286239"/>
                    <a:pt x="2858643" y="10286239"/>
                    <a:pt x="4064" y="10286239"/>
                  </a:cubicBezTo>
                  <a:cubicBezTo>
                    <a:pt x="0" y="10272396"/>
                    <a:pt x="6350" y="10259823"/>
                    <a:pt x="9271" y="10246996"/>
                  </a:cubicBezTo>
                  <a:cubicBezTo>
                    <a:pt x="134747" y="9685402"/>
                    <a:pt x="260350" y="9123935"/>
                    <a:pt x="386207" y="8562467"/>
                  </a:cubicBezTo>
                  <a:cubicBezTo>
                    <a:pt x="565658" y="7761986"/>
                    <a:pt x="745490" y="6961633"/>
                    <a:pt x="924814" y="6161151"/>
                  </a:cubicBezTo>
                  <a:cubicBezTo>
                    <a:pt x="1146302" y="5172583"/>
                    <a:pt x="1367282" y="4184015"/>
                    <a:pt x="1588643" y="3195574"/>
                  </a:cubicBezTo>
                  <a:cubicBezTo>
                    <a:pt x="1813560" y="2191385"/>
                    <a:pt x="2038604" y="1187323"/>
                    <a:pt x="2264156" y="183261"/>
                  </a:cubicBezTo>
                  <a:cubicBezTo>
                    <a:pt x="2277872" y="122174"/>
                    <a:pt x="2286635" y="59690"/>
                    <a:pt x="2308860" y="635"/>
                  </a:cubicBezTo>
                  <a:cubicBezTo>
                    <a:pt x="4395216" y="635"/>
                    <a:pt x="6481572" y="635"/>
                    <a:pt x="8567928" y="0"/>
                  </a:cubicBezTo>
                  <a:cubicBezTo>
                    <a:pt x="8596249" y="0"/>
                    <a:pt x="8605901" y="3429"/>
                    <a:pt x="8605901" y="35814"/>
                  </a:cubicBezTo>
                  <a:cubicBezTo>
                    <a:pt x="8605139" y="3441066"/>
                    <a:pt x="8605139" y="6846317"/>
                    <a:pt x="8606155" y="10251441"/>
                  </a:cubicBezTo>
                  <a:close/>
                </a:path>
              </a:pathLst>
            </a:custGeom>
            <a:solidFill>
              <a:srgbClr val="00569E"/>
            </a:solidFill>
            <a:ln w="12700">
              <a:solidFill>
                <a:srgbClr val="000000"/>
              </a:solidFill>
            </a:ln>
          </p:spPr>
        </p:sp>
      </p:grpSp>
      <p:sp>
        <p:nvSpPr>
          <p:cNvPr name="TextBox 14" id="14"/>
          <p:cNvSpPr txBox="true"/>
          <p:nvPr/>
        </p:nvSpPr>
        <p:spPr>
          <a:xfrm rot="0">
            <a:off x="2128401" y="3419288"/>
            <a:ext cx="8819592" cy="1765560"/>
          </a:xfrm>
          <a:prstGeom prst="rect">
            <a:avLst/>
          </a:prstGeom>
        </p:spPr>
        <p:txBody>
          <a:bodyPr anchor="t" rtlCol="false" tIns="0" lIns="0" bIns="0" rIns="0">
            <a:spAutoFit/>
          </a:bodyPr>
          <a:lstStyle/>
          <a:p>
            <a:pPr algn="l" marL="0" indent="0" lvl="0">
              <a:lnSpc>
                <a:spcPts val="14510"/>
              </a:lnSpc>
              <a:spcBef>
                <a:spcPct val="0"/>
              </a:spcBef>
            </a:pPr>
            <a:r>
              <a:rPr lang="en-US" b="true" sz="10364">
                <a:solidFill>
                  <a:srgbClr val="051D40"/>
                </a:solidFill>
                <a:latin typeface="Montserrat Bold"/>
                <a:ea typeface="Montserrat Bold"/>
                <a:cs typeface="Montserrat Bold"/>
                <a:sym typeface="Montserrat Bold"/>
              </a:rPr>
              <a:t>THANK YOU!</a:t>
            </a:r>
          </a:p>
        </p:txBody>
      </p:sp>
      <p:grpSp>
        <p:nvGrpSpPr>
          <p:cNvPr name="Group 15" id="15"/>
          <p:cNvGrpSpPr/>
          <p:nvPr/>
        </p:nvGrpSpPr>
        <p:grpSpPr>
          <a:xfrm rot="0">
            <a:off x="14700679" y="7074186"/>
            <a:ext cx="5946973" cy="594697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952500" cap="sq">
              <a:solidFill>
                <a:srgbClr val="FFFFFF">
                  <a:alpha val="15686"/>
                </a:srgbClr>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8" id="18"/>
          <p:cNvSpPr/>
          <p:nvPr/>
        </p:nvSpPr>
        <p:spPr>
          <a:xfrm flipH="false" flipV="false" rot="0">
            <a:off x="2128401" y="1028700"/>
            <a:ext cx="2352580" cy="1471296"/>
          </a:xfrm>
          <a:custGeom>
            <a:avLst/>
            <a:gdLst/>
            <a:ahLst/>
            <a:cxnLst/>
            <a:rect r="r" b="b" t="t" l="l"/>
            <a:pathLst>
              <a:path h="1471296" w="2352580">
                <a:moveTo>
                  <a:pt x="0" y="0"/>
                </a:moveTo>
                <a:lnTo>
                  <a:pt x="2352580" y="0"/>
                </a:lnTo>
                <a:lnTo>
                  <a:pt x="2352580" y="1471296"/>
                </a:lnTo>
                <a:lnTo>
                  <a:pt x="0" y="1471296"/>
                </a:lnTo>
                <a:lnTo>
                  <a:pt x="0"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DAGv3l03H1A</dc:identifier>
  <dcterms:modified xsi:type="dcterms:W3CDTF">2011-08-01T06:04:30Z</dcterms:modified>
  <cp:revision>1</cp:revision>
  <dc:title>White and Blue Professional Modern Technology Pitch Deck Presentation</dc:title>
</cp:coreProperties>
</file>